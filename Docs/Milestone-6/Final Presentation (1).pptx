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2" r:id="rId6"/>
    <p:sldId id="260" r:id="rId7"/>
    <p:sldId id="261" r:id="rId8"/>
    <p:sldId id="262" r:id="rId9"/>
    <p:sldId id="263" r:id="rId10"/>
    <p:sldId id="273" r:id="rId11"/>
    <p:sldId id="264" r:id="rId12"/>
    <p:sldId id="265" r:id="rId13"/>
    <p:sldId id="266" r:id="rId14"/>
    <p:sldId id="267" r:id="rId15"/>
    <p:sldId id="274" r:id="rId16"/>
    <p:sldId id="275" r:id="rId17"/>
    <p:sldId id="276" r:id="rId18"/>
    <p:sldId id="278" r:id="rId19"/>
    <p:sldId id="277" r:id="rId20"/>
    <p:sldId id="279" r:id="rId21"/>
    <p:sldId id="268" r:id="rId22"/>
    <p:sldId id="269" r:id="rId23"/>
    <p:sldId id="270" r:id="rId24"/>
    <p:sldId id="271" r:id="rId25"/>
  </p:sldIdLst>
  <p:sldSz cx="18288000" cy="10287000"/>
  <p:notesSz cx="6858000" cy="9144000"/>
  <p:embeddedFontLst>
    <p:embeddedFont>
      <p:font typeface="HK Grotesk" panose="020B0604020202020204" charset="0"/>
      <p:regular r:id="rId26"/>
    </p:embeddedFont>
    <p:embeddedFont>
      <p:font typeface="HK Grotesk Bold" panose="020B0604020202020204" charset="0"/>
      <p:regular r:id="rId27"/>
    </p:embeddedFont>
    <p:embeddedFont>
      <p:font typeface="HK Grotesk Semi-Bold" panose="020B0604020202020204" charset="0"/>
      <p:regular r:id="rId28"/>
    </p:embeddedFont>
    <p:embeddedFont>
      <p:font typeface="Noto Serif Display ExtraCondensed Bold" panose="020B0604020202020204"/>
      <p:regular r:id="rId29"/>
    </p:embeddedFont>
    <p:embeddedFont>
      <p:font typeface="Noto Serif Display ExtraCondensed Light" panose="020B0604020202020204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9" d="100"/>
          <a:sy n="59" d="100"/>
        </p:scale>
        <p:origin x="466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1638300"/>
            <a:ext cx="6886575" cy="1480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99"/>
              </a:lnSpc>
            </a:pPr>
            <a:r>
              <a:rPr lang="en-US" sz="3899" b="1" u="none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ORCA: Automated Brain Tumor Segmentation Using Deep Learning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536430" y="2070735"/>
            <a:ext cx="6886575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3499" b="1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Group-8</a:t>
            </a:r>
          </a:p>
          <a:p>
            <a:pPr marL="0" lvl="0" indent="0" algn="l">
              <a:lnSpc>
                <a:spcPts val="4199"/>
              </a:lnSpc>
              <a:spcBef>
                <a:spcPct val="0"/>
              </a:spcBef>
            </a:pPr>
            <a:r>
              <a:rPr lang="en-US" sz="3499" b="1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DSAI Lab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6750" y="5749290"/>
            <a:ext cx="6886575" cy="2324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000"/>
              </a:lnSpc>
            </a:pPr>
            <a:r>
              <a:rPr lang="en-US" sz="6000" spc="-120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3D Attention U-Net with MRI-based Semantic Segmentation</a:t>
            </a:r>
          </a:p>
        </p:txBody>
      </p:sp>
      <p:sp>
        <p:nvSpPr>
          <p:cNvPr id="5" name="AutoShape 5"/>
          <p:cNvSpPr/>
          <p:nvPr/>
        </p:nvSpPr>
        <p:spPr>
          <a:xfrm>
            <a:off x="0" y="676275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6"/>
          <p:cNvSpPr txBox="1"/>
          <p:nvPr/>
        </p:nvSpPr>
        <p:spPr>
          <a:xfrm>
            <a:off x="9296400" y="3733011"/>
            <a:ext cx="8178712" cy="2451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99"/>
              </a:lnSpc>
            </a:pPr>
            <a:r>
              <a:rPr lang="en-US" sz="3899" dirty="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Siddhant Bapna               23F2004494</a:t>
            </a:r>
          </a:p>
          <a:p>
            <a:pPr algn="l">
              <a:lnSpc>
                <a:spcPts val="3899"/>
              </a:lnSpc>
            </a:pPr>
            <a:r>
              <a:rPr lang="en-US" sz="3899" dirty="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Saurabh Yadav                23F1003171</a:t>
            </a:r>
          </a:p>
          <a:p>
            <a:pPr algn="l">
              <a:lnSpc>
                <a:spcPts val="3899"/>
              </a:lnSpc>
            </a:pPr>
            <a:r>
              <a:rPr lang="en-US" sz="3899" dirty="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Hardik                              23F1002590</a:t>
            </a:r>
          </a:p>
          <a:p>
            <a:pPr algn="l">
              <a:lnSpc>
                <a:spcPts val="3899"/>
              </a:lnSpc>
            </a:pPr>
            <a:r>
              <a:rPr lang="en-US" sz="3899" dirty="0" err="1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Ravineel</a:t>
            </a:r>
            <a:r>
              <a:rPr lang="en-US" sz="3899" dirty="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 Singhi                21F1003185</a:t>
            </a:r>
          </a:p>
          <a:p>
            <a:pPr marL="0" lvl="0" indent="0" algn="l">
              <a:lnSpc>
                <a:spcPts val="3899"/>
              </a:lnSpc>
            </a:pPr>
            <a:r>
              <a:rPr lang="en-US" sz="3899" dirty="0" err="1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Ajsal</a:t>
            </a:r>
            <a:r>
              <a:rPr lang="en-US" sz="3899" dirty="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                                 21F3002985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913768"/>
            <a:ext cx="13658850" cy="3068315"/>
            <a:chOff x="0" y="-864443"/>
            <a:chExt cx="18211800" cy="4091086"/>
          </a:xfrm>
        </p:grpSpPr>
        <p:sp>
          <p:nvSpPr>
            <p:cNvPr id="3" name="TextBox 3"/>
            <p:cNvSpPr txBox="1"/>
            <p:nvPr/>
          </p:nvSpPr>
          <p:spPr>
            <a:xfrm>
              <a:off x="1143000" y="-864443"/>
              <a:ext cx="17068800" cy="343273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9999"/>
                </a:lnSpc>
              </a:pPr>
              <a:r>
                <a:rPr lang="en-IN" sz="9600" b="1" dirty="0">
                  <a:solidFill>
                    <a:schemeClr val="bg1"/>
                  </a:solidFill>
                </a:rPr>
                <a:t>Problem Statement</a:t>
              </a:r>
            </a:p>
            <a:p>
              <a:pPr marL="0" lvl="0" indent="0" algn="l">
                <a:lnSpc>
                  <a:spcPts val="9999"/>
                </a:lnSpc>
              </a:pPr>
              <a:endParaRPr lang="en-US" sz="9999" spc="-199" dirty="0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667843"/>
              <a:ext cx="91821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>
            <a:off x="0" y="9620250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TextBox 7"/>
          <p:cNvSpPr txBox="1"/>
          <p:nvPr/>
        </p:nvSpPr>
        <p:spPr>
          <a:xfrm>
            <a:off x="1498600" y="2628900"/>
            <a:ext cx="14630400" cy="54827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Current Clinical Challenges:</a:t>
            </a:r>
            <a:endParaRPr lang="en-IN" sz="24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Manual segmentation of brain </a:t>
            </a:r>
            <a:r>
              <a:rPr lang="en-IN" sz="2400" dirty="0" err="1">
                <a:solidFill>
                  <a:schemeClr val="bg1"/>
                </a:solidFill>
              </a:rPr>
              <a:t>tumors</a:t>
            </a:r>
            <a:r>
              <a:rPr lang="en-IN" sz="2400" dirty="0">
                <a:solidFill>
                  <a:schemeClr val="bg1"/>
                </a:solidFill>
              </a:rPr>
              <a:t> from </a:t>
            </a:r>
            <a:r>
              <a:rPr lang="en-IN" sz="2400" dirty="0" err="1">
                <a:solidFill>
                  <a:schemeClr val="bg1"/>
                </a:solidFill>
              </a:rPr>
              <a:t>mpMRI</a:t>
            </a:r>
            <a:r>
              <a:rPr lang="en-IN" sz="2400" dirty="0">
                <a:solidFill>
                  <a:schemeClr val="bg1"/>
                </a:solidFill>
              </a:rPr>
              <a:t> scans is extremely time-consuming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Process takes hours per patient for expert radiologists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Significant inter-observer variability leads to inconsistencies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Impacts diagnosis, surgical planning, and treatment monitoring</a:t>
            </a:r>
          </a:p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Our Solution:</a:t>
            </a:r>
            <a:endParaRPr lang="en-IN" sz="24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Automated deep learning system for precise brain </a:t>
            </a:r>
            <a:r>
              <a:rPr lang="en-IN" sz="2400" dirty="0" err="1">
                <a:solidFill>
                  <a:schemeClr val="bg1"/>
                </a:solidFill>
              </a:rPr>
              <a:t>tumor</a:t>
            </a:r>
            <a:r>
              <a:rPr lang="en-IN" sz="2400" dirty="0">
                <a:solidFill>
                  <a:schemeClr val="bg1"/>
                </a:solidFill>
              </a:rPr>
              <a:t> segmentation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Takes multi-modal MRI scans as input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Outputs multi-class segmentation masks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Provides quantitative, objective, and reproducible </a:t>
            </a:r>
            <a:r>
              <a:rPr lang="en-IN" sz="2400" dirty="0" err="1">
                <a:solidFill>
                  <a:schemeClr val="bg1"/>
                </a:solidFill>
              </a:rPr>
              <a:t>tumor</a:t>
            </a:r>
            <a:r>
              <a:rPr lang="en-IN" sz="2400" dirty="0">
                <a:solidFill>
                  <a:schemeClr val="bg1"/>
                </a:solidFill>
              </a:rPr>
              <a:t> assessment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1712119"/>
            <a:ext cx="16592550" cy="2269963"/>
            <a:chOff x="0" y="200025"/>
            <a:chExt cx="22123400" cy="3026618"/>
          </a:xfrm>
        </p:grpSpPr>
        <p:sp>
          <p:nvSpPr>
            <p:cNvPr id="3" name="TextBox 3"/>
            <p:cNvSpPr txBox="1"/>
            <p:nvPr/>
          </p:nvSpPr>
          <p:spPr>
            <a:xfrm>
              <a:off x="0" y="200025"/>
              <a:ext cx="22123400" cy="13542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r>
                <a:rPr lang="en-IN" sz="6600" b="1" dirty="0">
                  <a:solidFill>
                    <a:schemeClr val="bg1"/>
                  </a:solidFill>
                </a:rPr>
                <a:t>Project Objectives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667843"/>
              <a:ext cx="221234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>
            <a:off x="0" y="9620250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TextBox 7"/>
          <p:cNvSpPr txBox="1"/>
          <p:nvPr/>
        </p:nvSpPr>
        <p:spPr>
          <a:xfrm>
            <a:off x="838200" y="3070222"/>
            <a:ext cx="13121154" cy="5103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800" b="1" dirty="0">
                <a:solidFill>
                  <a:schemeClr val="bg1"/>
                </a:solidFill>
              </a:rPr>
              <a:t>Primary Objective:</a:t>
            </a:r>
            <a:endParaRPr lang="en-IN" sz="28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2800" dirty="0">
                <a:solidFill>
                  <a:schemeClr val="bg1"/>
                </a:solidFill>
              </a:rPr>
              <a:t>Design, build, and train a deep learning model for automated brain </a:t>
            </a:r>
            <a:r>
              <a:rPr lang="en-IN" sz="2800" dirty="0" err="1">
                <a:solidFill>
                  <a:schemeClr val="bg1"/>
                </a:solidFill>
              </a:rPr>
              <a:t>tumor</a:t>
            </a:r>
            <a:r>
              <a:rPr lang="en-IN" sz="2800" dirty="0">
                <a:solidFill>
                  <a:schemeClr val="bg1"/>
                </a:solidFill>
              </a:rPr>
              <a:t> segmentation</a:t>
            </a:r>
          </a:p>
          <a:p>
            <a:pPr>
              <a:lnSpc>
                <a:spcPct val="150000"/>
              </a:lnSpc>
            </a:pPr>
            <a:r>
              <a:rPr lang="en-IN" sz="2800" dirty="0">
                <a:solidFill>
                  <a:schemeClr val="bg1"/>
                </a:solidFill>
              </a:rPr>
              <a:t>Segment </a:t>
            </a:r>
            <a:r>
              <a:rPr lang="en-IN" sz="2800" dirty="0" err="1">
                <a:solidFill>
                  <a:schemeClr val="bg1"/>
                </a:solidFill>
              </a:rPr>
              <a:t>tumors</a:t>
            </a:r>
            <a:r>
              <a:rPr lang="en-IN" sz="2800" dirty="0">
                <a:solidFill>
                  <a:schemeClr val="bg1"/>
                </a:solidFill>
              </a:rPr>
              <a:t> into three sub-regions: Enhancing </a:t>
            </a:r>
            <a:r>
              <a:rPr lang="en-IN" sz="2800" dirty="0" err="1">
                <a:solidFill>
                  <a:schemeClr val="bg1"/>
                </a:solidFill>
              </a:rPr>
              <a:t>Tumor</a:t>
            </a:r>
            <a:r>
              <a:rPr lang="en-IN" sz="2800" dirty="0">
                <a:solidFill>
                  <a:schemeClr val="bg1"/>
                </a:solidFill>
              </a:rPr>
              <a:t>, </a:t>
            </a:r>
            <a:r>
              <a:rPr lang="en-IN" sz="2800" dirty="0" err="1">
                <a:solidFill>
                  <a:schemeClr val="bg1"/>
                </a:solidFill>
              </a:rPr>
              <a:t>Tumor</a:t>
            </a:r>
            <a:r>
              <a:rPr lang="en-IN" sz="2800" dirty="0">
                <a:solidFill>
                  <a:schemeClr val="bg1"/>
                </a:solidFill>
              </a:rPr>
              <a:t> Core, </a:t>
            </a:r>
            <a:r>
              <a:rPr lang="en-IN" sz="2800" dirty="0" err="1">
                <a:solidFill>
                  <a:schemeClr val="bg1"/>
                </a:solidFill>
              </a:rPr>
              <a:t>Edema</a:t>
            </a:r>
            <a:endParaRPr lang="en-IN" sz="28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2800" b="1" dirty="0">
                <a:solidFill>
                  <a:schemeClr val="bg1"/>
                </a:solidFill>
              </a:rPr>
              <a:t>Secondary Objectives:</a:t>
            </a:r>
            <a:endParaRPr lang="en-IN" sz="28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2800" dirty="0">
                <a:solidFill>
                  <a:schemeClr val="bg1"/>
                </a:solidFill>
              </a:rPr>
              <a:t>Achieve human-expert comparable accuracy (DSC, </a:t>
            </a:r>
            <a:r>
              <a:rPr lang="en-IN" sz="2800" dirty="0" err="1">
                <a:solidFill>
                  <a:schemeClr val="bg1"/>
                </a:solidFill>
              </a:rPr>
              <a:t>IoU</a:t>
            </a:r>
            <a:r>
              <a:rPr lang="en-IN" sz="2800" dirty="0">
                <a:solidFill>
                  <a:schemeClr val="bg1"/>
                </a:solidFill>
              </a:rPr>
              <a:t> metrics)</a:t>
            </a:r>
          </a:p>
          <a:p>
            <a:pPr>
              <a:lnSpc>
                <a:spcPct val="150000"/>
              </a:lnSpc>
            </a:pPr>
            <a:r>
              <a:rPr lang="en-IN" sz="2800" dirty="0">
                <a:solidFill>
                  <a:schemeClr val="bg1"/>
                </a:solidFill>
              </a:rPr>
              <a:t>Develop multi-modal system processing T1, T1ce, T2, FLAIR MRI</a:t>
            </a:r>
          </a:p>
          <a:p>
            <a:pPr>
              <a:lnSpc>
                <a:spcPct val="150000"/>
              </a:lnSpc>
            </a:pPr>
            <a:r>
              <a:rPr lang="en-IN" sz="2800" dirty="0">
                <a:solidFill>
                  <a:schemeClr val="bg1"/>
                </a:solidFill>
              </a:rPr>
              <a:t>Generate quantitative outputs (volume, composition percentages)</a:t>
            </a:r>
          </a:p>
          <a:p>
            <a:pPr>
              <a:lnSpc>
                <a:spcPct val="150000"/>
              </a:lnSpc>
            </a:pPr>
            <a:r>
              <a:rPr lang="en-IN" sz="2800" dirty="0">
                <a:solidFill>
                  <a:schemeClr val="bg1"/>
                </a:solidFill>
              </a:rPr>
              <a:t>Create end-to-end solution with preliminary AI-generated reports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5800" y="800100"/>
            <a:ext cx="15516225" cy="1320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999"/>
              </a:lnSpc>
            </a:pPr>
            <a:r>
              <a:rPr lang="en-US" sz="8800" b="1" spc="-199" dirty="0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Literature Review &amp; Existing Work</a:t>
            </a:r>
          </a:p>
        </p:txBody>
      </p:sp>
      <p:sp>
        <p:nvSpPr>
          <p:cNvPr id="3" name="AutoShape 3"/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0" y="9620250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/>
          <p:cNvSpPr txBox="1"/>
          <p:nvPr/>
        </p:nvSpPr>
        <p:spPr>
          <a:xfrm>
            <a:off x="698500" y="1951513"/>
            <a:ext cx="14706600" cy="71447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Academic Baselines:</a:t>
            </a:r>
            <a:endParaRPr lang="en-IN" sz="2400" dirty="0">
              <a:solidFill>
                <a:schemeClr val="bg1"/>
              </a:solidFill>
            </a:endParaRPr>
          </a:p>
          <a:p>
            <a:pPr lvl="1">
              <a:lnSpc>
                <a:spcPct val="150000"/>
              </a:lnSpc>
            </a:pPr>
            <a:r>
              <a:rPr lang="en-IN" sz="2400" b="1" dirty="0" err="1">
                <a:solidFill>
                  <a:schemeClr val="bg1"/>
                </a:solidFill>
              </a:rPr>
              <a:t>DeepMedic</a:t>
            </a:r>
            <a:r>
              <a:rPr lang="en-IN" sz="2400" b="1" dirty="0">
                <a:solidFill>
                  <a:schemeClr val="bg1"/>
                </a:solidFill>
              </a:rPr>
              <a:t>:</a:t>
            </a:r>
            <a:r>
              <a:rPr lang="en-IN" sz="2400" dirty="0">
                <a:solidFill>
                  <a:schemeClr val="bg1"/>
                </a:solidFill>
              </a:rPr>
              <a:t> 3D CNN with multi-scale processing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U-Net:</a:t>
            </a:r>
            <a:r>
              <a:rPr lang="en-IN" sz="2400" dirty="0">
                <a:solidFill>
                  <a:schemeClr val="bg1"/>
                </a:solidFill>
              </a:rPr>
              <a:t> De-facto standard for biomedical segmentation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3D U-Net/V-Net:</a:t>
            </a:r>
            <a:r>
              <a:rPr lang="en-IN" sz="2400" dirty="0">
                <a:solidFill>
                  <a:schemeClr val="bg1"/>
                </a:solidFill>
              </a:rPr>
              <a:t> Processes entire 3D volumes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Attention U-Net:</a:t>
            </a:r>
            <a:r>
              <a:rPr lang="en-IN" sz="2400" dirty="0">
                <a:solidFill>
                  <a:schemeClr val="bg1"/>
                </a:solidFill>
              </a:rPr>
              <a:t> Incorporates attention mechanisms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Transformer-based Models:</a:t>
            </a:r>
            <a:r>
              <a:rPr lang="en-IN" sz="2400" dirty="0">
                <a:solidFill>
                  <a:schemeClr val="bg1"/>
                </a:solidFill>
              </a:rPr>
              <a:t> Swin-</a:t>
            </a:r>
            <a:r>
              <a:rPr lang="en-IN" sz="2400" dirty="0" err="1">
                <a:solidFill>
                  <a:schemeClr val="bg1"/>
                </a:solidFill>
              </a:rPr>
              <a:t>Unet</a:t>
            </a:r>
            <a:r>
              <a:rPr lang="en-IN" sz="2400" dirty="0">
                <a:solidFill>
                  <a:schemeClr val="bg1"/>
                </a:solidFill>
              </a:rPr>
              <a:t> for long-range dependencies</a:t>
            </a:r>
          </a:p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Commercial Solutions:</a:t>
            </a:r>
            <a:endParaRPr lang="en-IN" sz="2400" dirty="0">
              <a:solidFill>
                <a:schemeClr val="bg1"/>
              </a:solidFill>
            </a:endParaRPr>
          </a:p>
          <a:p>
            <a:pPr lvl="1">
              <a:lnSpc>
                <a:spcPct val="150000"/>
              </a:lnSpc>
            </a:pPr>
            <a:r>
              <a:rPr lang="en-IN" sz="2400" b="1" dirty="0" err="1">
                <a:solidFill>
                  <a:schemeClr val="bg1"/>
                </a:solidFill>
              </a:rPr>
              <a:t>Brainlab</a:t>
            </a:r>
            <a:r>
              <a:rPr lang="en-IN" sz="2400" b="1" dirty="0">
                <a:solidFill>
                  <a:schemeClr val="bg1"/>
                </a:solidFill>
              </a:rPr>
              <a:t>:</a:t>
            </a:r>
            <a:r>
              <a:rPr lang="en-IN" sz="2400" dirty="0">
                <a:solidFill>
                  <a:schemeClr val="bg1"/>
                </a:solidFill>
              </a:rPr>
              <a:t> Surgical planning integration (&lt;1 minute processing)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Quibim:</a:t>
            </a:r>
            <a:r>
              <a:rPr lang="en-IN" sz="2400" dirty="0">
                <a:solidFill>
                  <a:schemeClr val="bg1"/>
                </a:solidFill>
              </a:rPr>
              <a:t> FDA-cleared volumetry &amp; longitudinal reporting</a:t>
            </a:r>
          </a:p>
          <a:p>
            <a:pPr lvl="1">
              <a:lnSpc>
                <a:spcPct val="150000"/>
              </a:lnSpc>
            </a:pPr>
            <a:r>
              <a:rPr lang="en-IN" sz="2400" b="1" dirty="0" err="1">
                <a:solidFill>
                  <a:schemeClr val="bg1"/>
                </a:solidFill>
              </a:rPr>
              <a:t>Brainomix</a:t>
            </a:r>
            <a:r>
              <a:rPr lang="en-IN" sz="2400" b="1" dirty="0">
                <a:solidFill>
                  <a:schemeClr val="bg1"/>
                </a:solidFill>
              </a:rPr>
              <a:t>:</a:t>
            </a:r>
            <a:r>
              <a:rPr lang="en-IN" sz="2400" dirty="0">
                <a:solidFill>
                  <a:schemeClr val="bg1"/>
                </a:solidFill>
              </a:rPr>
              <a:t> Validated biomarker extraction</a:t>
            </a:r>
          </a:p>
          <a:p>
            <a:pPr lvl="1">
              <a:lnSpc>
                <a:spcPct val="150000"/>
              </a:lnSpc>
            </a:pPr>
            <a:r>
              <a:rPr lang="en-IN" sz="2400" b="1" dirty="0" err="1">
                <a:solidFill>
                  <a:schemeClr val="bg1"/>
                </a:solidFill>
              </a:rPr>
              <a:t>icometrix</a:t>
            </a:r>
            <a:r>
              <a:rPr lang="en-IN" sz="2400" b="1" dirty="0">
                <a:solidFill>
                  <a:schemeClr val="bg1"/>
                </a:solidFill>
              </a:rPr>
              <a:t>:</a:t>
            </a:r>
            <a:r>
              <a:rPr lang="en-IN" sz="2400" dirty="0">
                <a:solidFill>
                  <a:schemeClr val="bg1"/>
                </a:solidFill>
              </a:rPr>
              <a:t> Longitudinal monitoring and volumetry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Siemens </a:t>
            </a:r>
            <a:r>
              <a:rPr lang="en-IN" sz="2400" b="1" dirty="0" err="1">
                <a:solidFill>
                  <a:schemeClr val="bg1"/>
                </a:solidFill>
              </a:rPr>
              <a:t>Healthineers</a:t>
            </a:r>
            <a:r>
              <a:rPr lang="en-IN" sz="2400" b="1" dirty="0">
                <a:solidFill>
                  <a:schemeClr val="bg1"/>
                </a:solidFill>
              </a:rPr>
              <a:t>:</a:t>
            </a:r>
            <a:r>
              <a:rPr lang="en-IN" sz="2400" dirty="0">
                <a:solidFill>
                  <a:schemeClr val="bg1"/>
                </a:solidFill>
              </a:rPr>
              <a:t> Enterprise imaging suite integration</a:t>
            </a:r>
          </a:p>
          <a:p>
            <a:pPr lvl="1">
              <a:lnSpc>
                <a:spcPct val="150000"/>
              </a:lnSpc>
            </a:pPr>
            <a:r>
              <a:rPr lang="en-IN" sz="2400" b="1" dirty="0" err="1">
                <a:solidFill>
                  <a:schemeClr val="bg1"/>
                </a:solidFill>
              </a:rPr>
              <a:t>Aidoc</a:t>
            </a:r>
            <a:r>
              <a:rPr lang="en-IN" sz="2400" b="1" dirty="0">
                <a:solidFill>
                  <a:schemeClr val="bg1"/>
                </a:solidFill>
              </a:rPr>
              <a:t>:</a:t>
            </a:r>
            <a:r>
              <a:rPr lang="en-IN" sz="2400" dirty="0">
                <a:solidFill>
                  <a:schemeClr val="bg1"/>
                </a:solidFill>
              </a:rPr>
              <a:t> Real-time triage and alerts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B247C6-2BC8-282B-E307-C6068248B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4FF4D30C-BF76-F5DA-AA6B-438B658B81A1}"/>
              </a:ext>
            </a:extLst>
          </p:cNvPr>
          <p:cNvSpPr txBox="1"/>
          <p:nvPr/>
        </p:nvSpPr>
        <p:spPr>
          <a:xfrm>
            <a:off x="685800" y="800100"/>
            <a:ext cx="15516225" cy="1015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IN" sz="6600" b="1" dirty="0">
                <a:solidFill>
                  <a:schemeClr val="bg1"/>
                </a:solidFill>
              </a:rPr>
              <a:t>Literature Review - Gaps &amp; Opportunities</a:t>
            </a: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DB3A86CD-0E8B-E21B-9EB9-65192E79D6D6}"/>
              </a:ext>
            </a:extLst>
          </p:cNvPr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C41EF421-F2D4-ADFA-611E-1D7329526A2B}"/>
              </a:ext>
            </a:extLst>
          </p:cNvPr>
          <p:cNvSpPr/>
          <p:nvPr/>
        </p:nvSpPr>
        <p:spPr>
          <a:xfrm>
            <a:off x="0" y="9620250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309143E-01E7-4D44-23D4-3D368E38C0BA}"/>
              </a:ext>
            </a:extLst>
          </p:cNvPr>
          <p:cNvSpPr txBox="1"/>
          <p:nvPr/>
        </p:nvSpPr>
        <p:spPr>
          <a:xfrm>
            <a:off x="698500" y="1951513"/>
            <a:ext cx="15989300" cy="71447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Identified Research Gaps:</a:t>
            </a:r>
            <a:endParaRPr lang="en-IN" sz="2400" dirty="0">
              <a:solidFill>
                <a:schemeClr val="bg1"/>
              </a:solidFill>
            </a:endParaRP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Generalization Issues:</a:t>
            </a:r>
            <a:r>
              <a:rPr lang="en-IN" sz="2400" dirty="0">
                <a:solidFill>
                  <a:schemeClr val="bg1"/>
                </a:solidFill>
              </a:rPr>
              <a:t> Performance drops outside </a:t>
            </a:r>
            <a:r>
              <a:rPr lang="en-IN" sz="2400" dirty="0" err="1">
                <a:solidFill>
                  <a:schemeClr val="bg1"/>
                </a:solidFill>
              </a:rPr>
              <a:t>BraTS</a:t>
            </a:r>
            <a:r>
              <a:rPr lang="en-IN" sz="2400" dirty="0">
                <a:solidFill>
                  <a:schemeClr val="bg1"/>
                </a:solidFill>
              </a:rPr>
              <a:t> dataset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Multi-Modal Fusion Limitations:</a:t>
            </a:r>
            <a:r>
              <a:rPr lang="en-IN" sz="2400" dirty="0">
                <a:solidFill>
                  <a:schemeClr val="bg1"/>
                </a:solidFill>
              </a:rPr>
              <a:t> Simple concatenation not optimal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Sub-Region Delineation Challenges:</a:t>
            </a:r>
            <a:r>
              <a:rPr lang="en-IN" sz="2400" dirty="0">
                <a:solidFill>
                  <a:schemeClr val="bg1"/>
                </a:solidFill>
              </a:rPr>
              <a:t> Small/irregular boundaries difficult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Explainability Limitations:</a:t>
            </a:r>
            <a:r>
              <a:rPr lang="en-IN" sz="2400" dirty="0">
                <a:solidFill>
                  <a:schemeClr val="bg1"/>
                </a:solidFill>
              </a:rPr>
              <a:t> Black-box predictions in CNN models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Clinical Integration Gap:</a:t>
            </a:r>
            <a:r>
              <a:rPr lang="en-IN" sz="2400" dirty="0">
                <a:solidFill>
                  <a:schemeClr val="bg1"/>
                </a:solidFill>
              </a:rPr>
              <a:t> Manual quantitative data extraction needed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Limited Evaluation Metrics:</a:t>
            </a:r>
            <a:r>
              <a:rPr lang="en-IN" sz="2400" dirty="0">
                <a:solidFill>
                  <a:schemeClr val="bg1"/>
                </a:solidFill>
              </a:rPr>
              <a:t> Over-reliance on Dice scores</a:t>
            </a:r>
          </a:p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Our Opportunities:</a:t>
            </a:r>
            <a:endParaRPr lang="en-IN" sz="2400" dirty="0">
              <a:solidFill>
                <a:schemeClr val="bg1"/>
              </a:solidFill>
            </a:endParaRPr>
          </a:p>
          <a:p>
            <a:pPr lvl="1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Enhanced fusion strategies with attention mechanisms</a:t>
            </a:r>
          </a:p>
          <a:p>
            <a:pPr lvl="1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Boundary-aware loss functions for fine details</a:t>
            </a:r>
          </a:p>
          <a:p>
            <a:pPr lvl="1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Explainability through attention maps</a:t>
            </a:r>
          </a:p>
          <a:p>
            <a:pPr lvl="1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Automated quantitative outputs and AI reports</a:t>
            </a:r>
          </a:p>
          <a:p>
            <a:pPr lvl="1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Comprehensive clinical evaluation metrics</a:t>
            </a:r>
          </a:p>
        </p:txBody>
      </p:sp>
    </p:spTree>
    <p:extLst>
      <p:ext uri="{BB962C8B-B14F-4D97-AF65-F5344CB8AC3E}">
        <p14:creationId xmlns:p14="http://schemas.microsoft.com/office/powerpoint/2010/main" val="1042823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6750" y="5619750"/>
            <a:ext cx="4010025" cy="434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endParaRPr lang="en-US" sz="2799" b="1" u="none" strike="noStrike" dirty="0">
              <a:solidFill>
                <a:srgbClr val="FFFFFF"/>
              </a:solidFill>
              <a:latin typeface="HK Grotesk Semi-Bold"/>
              <a:ea typeface="HK Grotesk Semi-Bold"/>
              <a:cs typeface="HK Grotesk Semi-Bold"/>
              <a:sym typeface="HK Grotesk Semi-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666750" y="2541695"/>
            <a:ext cx="11582400" cy="65907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Dataset Specifications:</a:t>
            </a:r>
            <a:endParaRPr lang="en-IN" sz="2400" dirty="0">
              <a:solidFill>
                <a:schemeClr val="bg1"/>
              </a:solidFill>
            </a:endParaRP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Source:</a:t>
            </a:r>
            <a:r>
              <a:rPr lang="en-IN" sz="2400" dirty="0">
                <a:solidFill>
                  <a:schemeClr val="bg1"/>
                </a:solidFill>
              </a:rPr>
              <a:t> </a:t>
            </a:r>
            <a:r>
              <a:rPr lang="en-IN" sz="2400" dirty="0" err="1">
                <a:solidFill>
                  <a:schemeClr val="bg1"/>
                </a:solidFill>
              </a:rPr>
              <a:t>BraTS</a:t>
            </a:r>
            <a:r>
              <a:rPr lang="en-IN" sz="2400" dirty="0">
                <a:solidFill>
                  <a:schemeClr val="bg1"/>
                </a:solidFill>
              </a:rPr>
              <a:t> Challenge 2023 (Synapse ID: syn51156910)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License:</a:t>
            </a:r>
            <a:r>
              <a:rPr lang="en-IN" sz="2400" dirty="0">
                <a:solidFill>
                  <a:schemeClr val="bg1"/>
                </a:solidFill>
              </a:rPr>
              <a:t> CC BY-NC 4.0 (Non-commercial use)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Patients:</a:t>
            </a:r>
            <a:r>
              <a:rPr lang="en-IN" sz="2400" dirty="0">
                <a:solidFill>
                  <a:schemeClr val="bg1"/>
                </a:solidFill>
              </a:rPr>
              <a:t> 1,251 with multi-modal MRI scans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Modalities:</a:t>
            </a:r>
            <a:r>
              <a:rPr lang="en-IN" sz="2400" dirty="0">
                <a:solidFill>
                  <a:schemeClr val="bg1"/>
                </a:solidFill>
              </a:rPr>
              <a:t> T1, T1ce, T2, FLAIR + segmentation masks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Annotations:</a:t>
            </a:r>
            <a:r>
              <a:rPr lang="en-IN" sz="2400" dirty="0">
                <a:solidFill>
                  <a:schemeClr val="bg1"/>
                </a:solidFill>
              </a:rPr>
              <a:t> Expert manual segmentations</a:t>
            </a:r>
          </a:p>
          <a:p>
            <a:pPr lvl="1">
              <a:lnSpc>
                <a:spcPct val="150000"/>
              </a:lnSpc>
            </a:pPr>
            <a:r>
              <a:rPr lang="en-IN" sz="2400" b="1" dirty="0" err="1">
                <a:solidFill>
                  <a:schemeClr val="bg1"/>
                </a:solidFill>
              </a:rPr>
              <a:t>Tumor</a:t>
            </a:r>
            <a:r>
              <a:rPr lang="en-IN" sz="2400" b="1" dirty="0">
                <a:solidFill>
                  <a:schemeClr val="bg1"/>
                </a:solidFill>
              </a:rPr>
              <a:t> Regions:</a:t>
            </a:r>
            <a:r>
              <a:rPr lang="en-IN" sz="2400" dirty="0">
                <a:solidFill>
                  <a:schemeClr val="bg1"/>
                </a:solidFill>
              </a:rPr>
              <a:t> Enhancing </a:t>
            </a:r>
            <a:r>
              <a:rPr lang="en-IN" sz="2400" dirty="0" err="1">
                <a:solidFill>
                  <a:schemeClr val="bg1"/>
                </a:solidFill>
              </a:rPr>
              <a:t>Tumor</a:t>
            </a:r>
            <a:r>
              <a:rPr lang="en-IN" sz="2400" dirty="0">
                <a:solidFill>
                  <a:schemeClr val="bg1"/>
                </a:solidFill>
              </a:rPr>
              <a:t>, </a:t>
            </a:r>
            <a:r>
              <a:rPr lang="en-IN" sz="2400" dirty="0" err="1">
                <a:solidFill>
                  <a:schemeClr val="bg1"/>
                </a:solidFill>
              </a:rPr>
              <a:t>Tumor</a:t>
            </a:r>
            <a:r>
              <a:rPr lang="en-IN" sz="2400" dirty="0">
                <a:solidFill>
                  <a:schemeClr val="bg1"/>
                </a:solidFill>
              </a:rPr>
              <a:t> Core, Whole </a:t>
            </a:r>
            <a:r>
              <a:rPr lang="en-IN" sz="2400" dirty="0" err="1">
                <a:solidFill>
                  <a:schemeClr val="bg1"/>
                </a:solidFill>
              </a:rPr>
              <a:t>Tumor</a:t>
            </a:r>
            <a:endParaRPr lang="en-IN" sz="24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Key Features:</a:t>
            </a:r>
            <a:endParaRPr lang="en-IN" sz="2400" dirty="0">
              <a:solidFill>
                <a:schemeClr val="bg1"/>
              </a:solidFill>
            </a:endParaRPr>
          </a:p>
          <a:p>
            <a:pPr lvl="1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Multi-institutional data from 70+ </a:t>
            </a:r>
            <a:r>
              <a:rPr lang="en-IN" sz="2400" dirty="0" err="1">
                <a:solidFill>
                  <a:schemeClr val="bg1"/>
                </a:solidFill>
              </a:rPr>
              <a:t>centers</a:t>
            </a:r>
            <a:endParaRPr lang="en-IN" sz="2400" dirty="0">
              <a:solidFill>
                <a:schemeClr val="bg1"/>
              </a:solidFill>
            </a:endParaRPr>
          </a:p>
          <a:p>
            <a:pPr lvl="1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Consistent dimensions: 240×240×155 voxels</a:t>
            </a:r>
          </a:p>
          <a:p>
            <a:pPr lvl="1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Uniform voxel spacing: (1.0, 1.0, 1.0) mm</a:t>
            </a:r>
          </a:p>
          <a:p>
            <a:pPr lvl="1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De-identified for research compliance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1350" y="1110461"/>
            <a:ext cx="16954500" cy="1327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</a:pPr>
            <a:r>
              <a:rPr lang="en-US" sz="9600" spc="-192" dirty="0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Dataset — </a:t>
            </a:r>
            <a:r>
              <a:rPr lang="en-US" sz="9600" spc="-192" dirty="0" err="1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BraTS</a:t>
            </a:r>
            <a:r>
              <a:rPr lang="en-US" sz="9600" spc="-192" dirty="0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 2023</a:t>
            </a:r>
          </a:p>
        </p:txBody>
      </p:sp>
      <p:sp>
        <p:nvSpPr>
          <p:cNvPr id="14" name="AutoShape 14"/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>
            <a:off x="0" y="96297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/>
          <p:cNvSpPr txBox="1"/>
          <p:nvPr/>
        </p:nvSpPr>
        <p:spPr>
          <a:xfrm>
            <a:off x="1066800" y="2147374"/>
            <a:ext cx="13887450" cy="71557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MONAI-based Processing Steps:</a:t>
            </a:r>
            <a:endParaRPr lang="en-IN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Load Images:</a:t>
            </a:r>
            <a:r>
              <a:rPr lang="en-IN" sz="2400" dirty="0">
                <a:solidFill>
                  <a:schemeClr val="bg1"/>
                </a:solidFill>
              </a:rPr>
              <a:t> Load 4 MRI modalities + segmentation mask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Label Conversion:</a:t>
            </a:r>
            <a:r>
              <a:rPr lang="en-IN" sz="2400" dirty="0">
                <a:solidFill>
                  <a:schemeClr val="bg1"/>
                </a:solidFill>
              </a:rPr>
              <a:t> Convert to multi-channel mask (WT, TC, ET)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Resampling:</a:t>
            </a:r>
            <a:r>
              <a:rPr lang="en-IN" sz="2400" dirty="0">
                <a:solidFill>
                  <a:schemeClr val="bg1"/>
                </a:solidFill>
              </a:rPr>
              <a:t> Uniform spacing (1.0, 1.0, 1.0) mm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Intensity Normalization:</a:t>
            </a:r>
            <a:r>
              <a:rPr lang="en-IN" sz="2400" dirty="0">
                <a:solidFill>
                  <a:schemeClr val="bg1"/>
                </a:solidFill>
              </a:rPr>
              <a:t> Scale to [0.0, 1.0] range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Foreground Cropping:</a:t>
            </a:r>
            <a:r>
              <a:rPr lang="en-IN" sz="2400" dirty="0">
                <a:solidFill>
                  <a:schemeClr val="bg1"/>
                </a:solidFill>
              </a:rPr>
              <a:t> Remove empty background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Resizing:</a:t>
            </a:r>
            <a:r>
              <a:rPr lang="en-IN" sz="2400" dirty="0">
                <a:solidFill>
                  <a:schemeClr val="bg1"/>
                </a:solidFill>
              </a:rPr>
              <a:t> Fixed dimensions (128, 128, 128)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Data Type Conversion:</a:t>
            </a:r>
            <a:r>
              <a:rPr lang="en-IN" sz="2400" dirty="0">
                <a:solidFill>
                  <a:schemeClr val="bg1"/>
                </a:solidFill>
              </a:rPr>
              <a:t> float16 for efficiency</a:t>
            </a:r>
          </a:p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Multi-Modal Fusion:</a:t>
            </a:r>
            <a:endParaRPr lang="en-IN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Early fusion strategy</a:t>
            </a: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4 modalities stacked as channels: (4, 128, 128, 128)</a:t>
            </a: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Single tensor input to model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Output: (4,128,128,128) image + (3,128,128,128) mask.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" y="864772"/>
            <a:ext cx="16954500" cy="128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</a:pPr>
            <a:r>
              <a:rPr lang="en-US" sz="9600" spc="-192" dirty="0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Preprocessing Pipeline</a:t>
            </a:r>
          </a:p>
        </p:txBody>
      </p:sp>
      <p:sp>
        <p:nvSpPr>
          <p:cNvPr id="13" name="AutoShape 13"/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>
            <a:off x="0" y="96297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4870133"/>
            <a:ext cx="4177879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72"/>
              </a:lnSpc>
              <a:spcBef>
                <a:spcPct val="0"/>
              </a:spcBef>
            </a:pPr>
            <a:r>
              <a:rPr lang="en-US" sz="231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Ext</a:t>
            </a: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racted 3D patches of size 64 × 64 × 64 centered around tumor regions.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491787" y="4870133"/>
            <a:ext cx="4010025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72"/>
              </a:lnSpc>
              <a:spcBef>
                <a:spcPct val="0"/>
              </a:spcBef>
            </a:pPr>
            <a:r>
              <a:rPr lang="en-US" sz="231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Only patches with ≥ 1 % tumor voxels kept → r</a:t>
            </a: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educes class imbalance.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700491" y="4870133"/>
            <a:ext cx="4010025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72"/>
              </a:lnSpc>
              <a:spcBef>
                <a:spcPct val="0"/>
              </a:spcBef>
            </a:pPr>
            <a:r>
              <a:rPr lang="en-US" sz="231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V</a:t>
            </a: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erified patches using 3D visualizations and statistical analysis.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6750" y="1743075"/>
            <a:ext cx="16954500" cy="128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</a:pPr>
            <a:r>
              <a:rPr lang="en-US" sz="9600" spc="-192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Tumor-Focused 3D Patch Extraction</a:t>
            </a:r>
          </a:p>
        </p:txBody>
      </p:sp>
      <p:sp>
        <p:nvSpPr>
          <p:cNvPr id="6" name="AutoShape 6"/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AutoShape 7"/>
          <p:cNvSpPr/>
          <p:nvPr/>
        </p:nvSpPr>
        <p:spPr>
          <a:xfrm>
            <a:off x="0" y="96297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TextBox 8"/>
          <p:cNvSpPr txBox="1"/>
          <p:nvPr/>
        </p:nvSpPr>
        <p:spPr>
          <a:xfrm>
            <a:off x="3430981" y="7240429"/>
            <a:ext cx="4010025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72"/>
              </a:lnSpc>
              <a:spcBef>
                <a:spcPct val="0"/>
              </a:spcBef>
            </a:pPr>
            <a:r>
              <a:rPr lang="en-US" sz="231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Compared full volume vs patches → pat</a:t>
            </a: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ches focus on important tumor zones.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83270" y="7240429"/>
            <a:ext cx="4010025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72"/>
              </a:lnSpc>
              <a:spcBef>
                <a:spcPct val="0"/>
              </a:spcBef>
            </a:pPr>
            <a:r>
              <a:rPr lang="en-US" sz="231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Output dataset used for training lighter 3D U-Net and V-N</a:t>
            </a: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et models.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5619750"/>
            <a:ext cx="4010025" cy="2819400"/>
            <a:chOff x="0" y="0"/>
            <a:chExt cx="5346700" cy="3759200"/>
          </a:xfrm>
        </p:grpSpPr>
        <p:sp>
          <p:nvSpPr>
            <p:cNvPr id="3" name="TextBox 3"/>
            <p:cNvSpPr txBox="1"/>
            <p:nvPr/>
          </p:nvSpPr>
          <p:spPr>
            <a:xfrm>
              <a:off x="0" y="0"/>
              <a:ext cx="53467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799" b="1" u="none" strike="noStrike">
                  <a:solidFill>
                    <a:srgbClr val="FFFFFF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Encoder-Decoder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235075"/>
              <a:ext cx="5346700" cy="2524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531"/>
                </a:lnSpc>
                <a:spcBef>
                  <a:spcPct val="0"/>
                </a:spcBef>
              </a:pPr>
              <a:r>
                <a:rPr lang="en-US" sz="2109" u="none" strike="noStrike">
                  <a:solidFill>
                    <a:srgbClr val="FFFFFF"/>
                  </a:solidFill>
                  <a:latin typeface="HK Grotesk"/>
                  <a:ea typeface="HK Grotesk"/>
                  <a:cs typeface="HK Grotesk"/>
                  <a:sym typeface="HK Grotesk"/>
                </a:rPr>
                <a:t>The 3D Attention U-Net utilizes an </a:t>
              </a:r>
              <a:r>
                <a:rPr lang="en-US" sz="2109" b="1" u="none" strike="noStrike">
                  <a:solidFill>
                    <a:srgbClr val="FFFFFF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encoder-decoder</a:t>
              </a:r>
              <a:r>
                <a:rPr lang="en-US" sz="2109" u="none" strike="noStrike">
                  <a:solidFill>
                    <a:srgbClr val="FFFFFF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architecture that efficiently captures features at various scales, enhancing the model's ability to segment brain tumors accurately.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419850" y="5619750"/>
            <a:ext cx="4010025" cy="2847975"/>
            <a:chOff x="0" y="0"/>
            <a:chExt cx="5346700" cy="3797300"/>
          </a:xfrm>
        </p:grpSpPr>
        <p:sp>
          <p:nvSpPr>
            <p:cNvPr id="6" name="TextBox 6"/>
            <p:cNvSpPr txBox="1"/>
            <p:nvPr/>
          </p:nvSpPr>
          <p:spPr>
            <a:xfrm>
              <a:off x="0" y="0"/>
              <a:ext cx="53467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799" b="1" u="none" strike="noStrike">
                  <a:solidFill>
                    <a:srgbClr val="FFFFFF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Attention Gates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273175"/>
              <a:ext cx="5346700" cy="2524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531"/>
                </a:lnSpc>
                <a:spcBef>
                  <a:spcPct val="0"/>
                </a:spcBef>
              </a:pPr>
              <a:r>
                <a:rPr lang="en-US" sz="2109" u="none" strike="noStrike">
                  <a:solidFill>
                    <a:srgbClr val="FFFFFF"/>
                  </a:solidFill>
                  <a:latin typeface="HK Grotesk"/>
                  <a:ea typeface="HK Grotesk"/>
                  <a:cs typeface="HK Grotesk"/>
                  <a:sym typeface="HK Grotesk"/>
                </a:rPr>
                <a:t>Attention gates are incorporated to </a:t>
              </a:r>
              <a:r>
                <a:rPr lang="en-US" sz="2109" b="1" u="none" strike="noStrike">
                  <a:solidFill>
                    <a:srgbClr val="FFFFFF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emphasize</a:t>
              </a:r>
              <a:r>
                <a:rPr lang="en-US" sz="2109" u="none" strike="noStrike">
                  <a:solidFill>
                    <a:srgbClr val="FFFFFF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relevant features while suppressing noise, allowing the model to focus on critical areas of the MRI scans for better segmentation results.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172950" y="5619750"/>
            <a:ext cx="4010025" cy="3448050"/>
            <a:chOff x="0" y="0"/>
            <a:chExt cx="5346700" cy="4597400"/>
          </a:xfrm>
        </p:grpSpPr>
        <p:sp>
          <p:nvSpPr>
            <p:cNvPr id="9" name="TextBox 9"/>
            <p:cNvSpPr txBox="1"/>
            <p:nvPr/>
          </p:nvSpPr>
          <p:spPr>
            <a:xfrm>
              <a:off x="0" y="0"/>
              <a:ext cx="53467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799" b="1" u="none" strike="noStrike">
                  <a:solidFill>
                    <a:srgbClr val="FFFFFF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Input/Output Channels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1235075"/>
              <a:ext cx="5346700" cy="33623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531"/>
                </a:lnSpc>
                <a:spcBef>
                  <a:spcPct val="0"/>
                </a:spcBef>
              </a:pPr>
              <a:r>
                <a:rPr lang="en-US" sz="2109" u="none" strike="noStrike">
                  <a:solidFill>
                    <a:srgbClr val="FFFFFF"/>
                  </a:solidFill>
                  <a:latin typeface="HK Grotesk"/>
                  <a:ea typeface="HK Grotesk"/>
                  <a:cs typeface="HK Grotesk"/>
                  <a:sym typeface="HK Grotesk"/>
                </a:rPr>
                <a:t>The architecture comprises multiple input and output channels, facilitating the integration of various MRI modalities, which enhances the model's performance in identifying different tumor characteristics.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66750" y="1209675"/>
            <a:ext cx="16954500" cy="128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</a:pPr>
            <a:r>
              <a:rPr lang="en-US" sz="9600" spc="-192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Model Architecture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6750" y="3041071"/>
            <a:ext cx="16954500" cy="167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</a:pPr>
            <a:r>
              <a:rPr lang="en-US" sz="2799" b="1" u="none" strike="noStrike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Overview of 3D Attention U-Net:</a:t>
            </a:r>
          </a:p>
          <a:p>
            <a:pPr algn="l">
              <a:lnSpc>
                <a:spcPts val="3359"/>
              </a:lnSpc>
            </a:pPr>
            <a:r>
              <a:rPr lang="en-US" sz="2799" b="1" u="none" strike="noStrike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- 4 input channels → 3 output masks.</a:t>
            </a:r>
          </a:p>
          <a:p>
            <a:pPr marL="0" lvl="0" indent="0" algn="l">
              <a:lnSpc>
                <a:spcPts val="3359"/>
              </a:lnSpc>
            </a:pPr>
            <a:r>
              <a:rPr lang="en-US" sz="2799" b="1" u="none" strike="noStrike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- Channels: (16,32,64,128,256).</a:t>
            </a:r>
          </a:p>
          <a:p>
            <a:pPr marL="0" lvl="0" indent="0" algn="l">
              <a:lnSpc>
                <a:spcPts val="3359"/>
              </a:lnSpc>
            </a:pPr>
            <a:r>
              <a:rPr lang="en-US" sz="2799" b="1" u="none" strike="noStrike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- Skip connections + Attention Gates.</a:t>
            </a:r>
          </a:p>
        </p:txBody>
      </p:sp>
      <p:sp>
        <p:nvSpPr>
          <p:cNvPr id="13" name="AutoShape 13"/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>
            <a:off x="0" y="96297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53BA69-FA54-4E75-7DD2-B78CCCCB0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>
            <a:extLst>
              <a:ext uri="{FF2B5EF4-FFF2-40B4-BE49-F238E27FC236}">
                <a16:creationId xmlns:a16="http://schemas.microsoft.com/office/drawing/2014/main" id="{7CDBBB29-FBEE-A0D5-7F62-A49879D01A7E}"/>
              </a:ext>
            </a:extLst>
          </p:cNvPr>
          <p:cNvSpPr txBox="1"/>
          <p:nvPr/>
        </p:nvSpPr>
        <p:spPr>
          <a:xfrm>
            <a:off x="666750" y="1209675"/>
            <a:ext cx="16954500" cy="24715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9600"/>
              </a:lnSpc>
            </a:pPr>
            <a:r>
              <a:rPr lang="en-US" sz="9600" spc="-192" dirty="0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Model Architecture</a:t>
            </a:r>
            <a:r>
              <a:rPr lang="en-IN" sz="9600" b="1" dirty="0">
                <a:solidFill>
                  <a:schemeClr val="bg1"/>
                </a:solidFill>
                <a:latin typeface="Noto Serif Display ExtraCondensed Light" panose="020B0604020202020204"/>
                <a:ea typeface="Noto Serif Display ExtraCondensed Light" panose="020B0604020202020204"/>
                <a:cs typeface="Noto Serif Display ExtraCondensed Light" panose="020B0604020202020204"/>
              </a:rPr>
              <a:t>- Layer Details</a:t>
            </a:r>
          </a:p>
          <a:p>
            <a:pPr marL="0" lvl="0" indent="0" algn="l">
              <a:lnSpc>
                <a:spcPts val="9600"/>
              </a:lnSpc>
            </a:pPr>
            <a:endParaRPr lang="en-US" sz="9600" spc="-192" dirty="0">
              <a:solidFill>
                <a:srgbClr val="FFFFFF"/>
              </a:solidFill>
              <a:latin typeface="Noto Serif Display ExtraCondensed Light"/>
              <a:ea typeface="Noto Serif Display ExtraCondensed Light"/>
              <a:cs typeface="Noto Serif Display ExtraCondensed Light"/>
              <a:sym typeface="Noto Serif Display ExtraCondensed Light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301BF170-B1AB-2EFF-4DB8-B70FC756343A}"/>
              </a:ext>
            </a:extLst>
          </p:cNvPr>
          <p:cNvSpPr txBox="1"/>
          <p:nvPr/>
        </p:nvSpPr>
        <p:spPr>
          <a:xfrm>
            <a:off x="666750" y="2432762"/>
            <a:ext cx="16954500" cy="6590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Encoder Path (</a:t>
            </a:r>
            <a:r>
              <a:rPr lang="en-IN" sz="2400" b="1" dirty="0" err="1">
                <a:solidFill>
                  <a:schemeClr val="bg1"/>
                </a:solidFill>
              </a:rPr>
              <a:t>Downsampling</a:t>
            </a:r>
            <a:r>
              <a:rPr lang="en-IN" sz="2400" b="1" dirty="0">
                <a:solidFill>
                  <a:schemeClr val="bg1"/>
                </a:solidFill>
              </a:rPr>
              <a:t>):</a:t>
            </a:r>
            <a:endParaRPr lang="en-IN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Conv1: 4→16 channels, stride 2</a:t>
            </a: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Conv2: 16→32 channels, stride 2</a:t>
            </a: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Conv3: 32→64 channels, stride 2</a:t>
            </a: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Conv4: 64→128 channels, stride 2</a:t>
            </a: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Bottleneck: 128→256 channels</a:t>
            </a:r>
          </a:p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Decoder Path (</a:t>
            </a:r>
            <a:r>
              <a:rPr lang="en-IN" sz="2400" b="1" dirty="0" err="1">
                <a:solidFill>
                  <a:schemeClr val="bg1"/>
                </a:solidFill>
              </a:rPr>
              <a:t>Upsampling</a:t>
            </a:r>
            <a:r>
              <a:rPr lang="en-IN" sz="2400" b="1" dirty="0">
                <a:solidFill>
                  <a:schemeClr val="bg1"/>
                </a:solidFill>
              </a:rPr>
              <a:t>):</a:t>
            </a:r>
            <a:endParaRPr lang="en-IN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Up-sample1: 256→128 + Attention Gate 128</a:t>
            </a: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Up-sample2: 128→64 + Attention Gate 64</a:t>
            </a: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Up-sample3: 64→32 + Attention Gate 32</a:t>
            </a: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Up-sample4: 32→16 + Attention Gate 16</a:t>
            </a: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Output: 16→3 channels (1×1×1 conv)</a:t>
            </a:r>
          </a:p>
        </p:txBody>
      </p:sp>
      <p:sp>
        <p:nvSpPr>
          <p:cNvPr id="13" name="AutoShape 13">
            <a:extLst>
              <a:ext uri="{FF2B5EF4-FFF2-40B4-BE49-F238E27FC236}">
                <a16:creationId xmlns:a16="http://schemas.microsoft.com/office/drawing/2014/main" id="{ADDD775D-A8CA-E8D1-B8E6-501A0108AE8C}"/>
              </a:ext>
            </a:extLst>
          </p:cNvPr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>
            <a:extLst>
              <a:ext uri="{FF2B5EF4-FFF2-40B4-BE49-F238E27FC236}">
                <a16:creationId xmlns:a16="http://schemas.microsoft.com/office/drawing/2014/main" id="{2627E492-4C17-3907-858D-4176E9D20122}"/>
              </a:ext>
            </a:extLst>
          </p:cNvPr>
          <p:cNvSpPr/>
          <p:nvPr/>
        </p:nvSpPr>
        <p:spPr>
          <a:xfrm>
            <a:off x="0" y="96297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09965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41728" y="3112605"/>
            <a:ext cx="4177879" cy="125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Patch-level 3D Attention U-Net — lighter version for 128³ patches.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458062" y="4703280"/>
            <a:ext cx="7350230" cy="2752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8729" lvl="1" indent="-249365" algn="l">
              <a:lnSpc>
                <a:spcPts val="2772"/>
              </a:lnSpc>
              <a:spcBef>
                <a:spcPct val="0"/>
              </a:spcBef>
              <a:buFont typeface="Arial"/>
              <a:buChar char="•"/>
            </a:pPr>
            <a:r>
              <a:rPr lang="en-US" sz="231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A compact version of t</a:t>
            </a: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he main 3D Attention U-Net trained on 128 × 128 × 128 tumor-focused patches.</a:t>
            </a:r>
          </a:p>
          <a:p>
            <a:pPr marL="498729" lvl="1" indent="-249365" algn="l">
              <a:lnSpc>
                <a:spcPts val="2772"/>
              </a:lnSpc>
              <a:spcBef>
                <a:spcPct val="0"/>
              </a:spcBef>
              <a:buFont typeface="Arial"/>
              <a:buChar char="•"/>
            </a:pP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Retains encoder–decoder design and attention gates to highlight tumor voxels inside each patch.</a:t>
            </a:r>
          </a:p>
          <a:p>
            <a:pPr marL="498729" lvl="1" indent="-249365" algn="l">
              <a:lnSpc>
                <a:spcPts val="2772"/>
              </a:lnSpc>
              <a:spcBef>
                <a:spcPct val="0"/>
              </a:spcBef>
              <a:buFont typeface="Arial"/>
              <a:buChar char="•"/>
            </a:pP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Smaller channel set → lower GPU memory need, faster convergence, better focus on local tumor regions.</a:t>
            </a:r>
          </a:p>
          <a:p>
            <a:pPr marL="0" lvl="0" indent="0" algn="l">
              <a:lnSpc>
                <a:spcPts val="2772"/>
              </a:lnSpc>
              <a:spcBef>
                <a:spcPct val="0"/>
              </a:spcBef>
            </a:pPr>
            <a:endParaRPr lang="en-US" sz="2310" u="none" strike="noStrike">
              <a:solidFill>
                <a:srgbClr val="FFFFFF"/>
              </a:solidFill>
              <a:latin typeface="HK Grotesk"/>
              <a:ea typeface="HK Grotesk"/>
              <a:cs typeface="HK Grotesk"/>
              <a:sym typeface="HK Grotesk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9728973" y="3322155"/>
            <a:ext cx="4010025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3D V-Net (Residual Variant)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393265" y="4703280"/>
            <a:ext cx="7151294" cy="2409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8729" lvl="1" indent="-249365" algn="l">
              <a:lnSpc>
                <a:spcPts val="2772"/>
              </a:lnSpc>
              <a:spcBef>
                <a:spcPct val="0"/>
              </a:spcBef>
              <a:buFont typeface="Arial"/>
              <a:buChar char="•"/>
            </a:pPr>
            <a:r>
              <a:rPr lang="en-US" sz="231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Employs</a:t>
            </a: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 residual blocks for stable gradient flow and smoother tumor boundaries.</a:t>
            </a:r>
          </a:p>
          <a:p>
            <a:pPr marL="498729" lvl="1" indent="-249365" algn="l">
              <a:lnSpc>
                <a:spcPts val="2772"/>
              </a:lnSpc>
              <a:spcBef>
                <a:spcPct val="0"/>
              </a:spcBef>
              <a:buFont typeface="Arial"/>
              <a:buChar char="•"/>
            </a:pP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Excels at learning 3D context and volumetric continuity within limited patch size.</a:t>
            </a:r>
          </a:p>
          <a:p>
            <a:pPr marL="498729" lvl="1" indent="-249365" algn="l">
              <a:lnSpc>
                <a:spcPts val="2772"/>
              </a:lnSpc>
              <a:spcBef>
                <a:spcPct val="0"/>
              </a:spcBef>
              <a:buFont typeface="Arial"/>
              <a:buChar char="•"/>
            </a:pP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Works well for capturing intensity variations and fine details near edges.</a:t>
            </a:r>
          </a:p>
          <a:p>
            <a:pPr marL="0" lvl="0" indent="0" algn="l">
              <a:lnSpc>
                <a:spcPts val="2772"/>
              </a:lnSpc>
              <a:spcBef>
                <a:spcPct val="0"/>
              </a:spcBef>
            </a:pPr>
            <a:endParaRPr lang="en-US" sz="2310" u="none" strike="noStrike">
              <a:solidFill>
                <a:srgbClr val="FFFFFF"/>
              </a:solidFill>
              <a:latin typeface="HK Grotesk"/>
              <a:ea typeface="HK Grotesk"/>
              <a:cs typeface="HK Grotesk"/>
              <a:sym typeface="HK Grotesk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616401" y="7905750"/>
            <a:ext cx="14225143" cy="1724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8729" lvl="1" indent="-249365" algn="l">
              <a:lnSpc>
                <a:spcPts val="2772"/>
              </a:lnSpc>
              <a:spcBef>
                <a:spcPct val="0"/>
              </a:spcBef>
              <a:buFont typeface="Arial"/>
              <a:buChar char="•"/>
            </a:pPr>
            <a:r>
              <a:rPr lang="en-US" sz="231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Computationally Efficient: Trainabl</a:t>
            </a: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e on mid-range GPUs while preserving 3D context.</a:t>
            </a:r>
          </a:p>
          <a:p>
            <a:pPr marL="498729" lvl="1" indent="-249365" algn="l">
              <a:lnSpc>
                <a:spcPts val="2772"/>
              </a:lnSpc>
              <a:spcBef>
                <a:spcPct val="0"/>
              </a:spcBef>
              <a:buFont typeface="Arial"/>
              <a:buChar char="•"/>
            </a:pP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Balanced Learning: Patches rich in tumor voxels → less class imbalance.</a:t>
            </a:r>
          </a:p>
          <a:p>
            <a:pPr marL="498729" lvl="1" indent="-249365" algn="l">
              <a:lnSpc>
                <a:spcPts val="2772"/>
              </a:lnSpc>
              <a:spcBef>
                <a:spcPct val="0"/>
              </a:spcBef>
              <a:buFont typeface="Arial"/>
              <a:buChar char="•"/>
            </a:pP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Enhanced Localization: Zooms in on tumor cores → more accurate boundaries.</a:t>
            </a:r>
          </a:p>
          <a:p>
            <a:pPr marL="498729" lvl="1" indent="-249365" algn="l">
              <a:lnSpc>
                <a:spcPts val="2772"/>
              </a:lnSpc>
              <a:spcBef>
                <a:spcPct val="0"/>
              </a:spcBef>
              <a:buFont typeface="Arial"/>
              <a:buChar char="•"/>
            </a:pPr>
            <a:r>
              <a:rPr lang="en-US" sz="231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Modular Pipeline: Same preprocessing and augmentation can feed either model easily.</a:t>
            </a:r>
          </a:p>
          <a:p>
            <a:pPr marL="0" lvl="0" indent="0" algn="l">
              <a:lnSpc>
                <a:spcPts val="2772"/>
              </a:lnSpc>
              <a:spcBef>
                <a:spcPct val="0"/>
              </a:spcBef>
            </a:pPr>
            <a:endParaRPr lang="en-US" sz="2310" u="none" strike="noStrike">
              <a:solidFill>
                <a:srgbClr val="FFFFFF"/>
              </a:solidFill>
              <a:latin typeface="HK Grotesk"/>
              <a:ea typeface="HK Grotesk"/>
              <a:cs typeface="HK Grotesk"/>
              <a:sym typeface="HK Grotesk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666750" y="1209675"/>
            <a:ext cx="16954500" cy="128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</a:pPr>
            <a:r>
              <a:rPr lang="en-US" sz="9600" spc="-192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Our Proposed Models (Patch-based)</a:t>
            </a:r>
          </a:p>
        </p:txBody>
      </p:sp>
      <p:sp>
        <p:nvSpPr>
          <p:cNvPr id="8" name="AutoShape 8"/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AutoShape 9"/>
          <p:cNvSpPr/>
          <p:nvPr/>
        </p:nvSpPr>
        <p:spPr>
          <a:xfrm>
            <a:off x="0" y="96297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6667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0" y="96202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2590800" y="955511"/>
            <a:ext cx="10963031" cy="128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</a:pPr>
            <a:r>
              <a:rPr lang="en-US" sz="9600" spc="-192" dirty="0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Model Training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95400" y="2237576"/>
            <a:ext cx="11203296" cy="7144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Training Configuration:</a:t>
            </a:r>
            <a:endParaRPr lang="en-IN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Framework:</a:t>
            </a:r>
            <a:r>
              <a:rPr lang="en-IN" sz="2400" dirty="0">
                <a:solidFill>
                  <a:schemeClr val="bg1"/>
                </a:solidFill>
              </a:rPr>
              <a:t> </a:t>
            </a:r>
            <a:r>
              <a:rPr lang="en-IN" sz="2400" dirty="0" err="1">
                <a:solidFill>
                  <a:schemeClr val="bg1"/>
                </a:solidFill>
              </a:rPr>
              <a:t>PyTorch</a:t>
            </a:r>
            <a:r>
              <a:rPr lang="en-IN" sz="2400" dirty="0">
                <a:solidFill>
                  <a:schemeClr val="bg1"/>
                </a:solidFill>
              </a:rPr>
              <a:t> with MONAI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Hardware:</a:t>
            </a:r>
            <a:r>
              <a:rPr lang="en-IN" sz="2400" dirty="0">
                <a:solidFill>
                  <a:schemeClr val="bg1"/>
                </a:solidFill>
              </a:rPr>
              <a:t> NVIDIA Tesla P100 (Kaggle)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Batch Size:</a:t>
            </a:r>
            <a:r>
              <a:rPr lang="en-IN" sz="2400" dirty="0">
                <a:solidFill>
                  <a:schemeClr val="bg1"/>
                </a:solidFill>
              </a:rPr>
              <a:t> 2 (memory constraints)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Epochs:</a:t>
            </a:r>
            <a:r>
              <a:rPr lang="en-IN" sz="2400" dirty="0">
                <a:solidFill>
                  <a:schemeClr val="bg1"/>
                </a:solidFill>
              </a:rPr>
              <a:t> 93 total with early stopping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Optimizer:</a:t>
            </a:r>
            <a:r>
              <a:rPr lang="en-IN" sz="2400" dirty="0">
                <a:solidFill>
                  <a:schemeClr val="bg1"/>
                </a:solidFill>
              </a:rPr>
              <a:t> </a:t>
            </a:r>
            <a:r>
              <a:rPr lang="en-IN" sz="2400" dirty="0" err="1">
                <a:solidFill>
                  <a:schemeClr val="bg1"/>
                </a:solidFill>
              </a:rPr>
              <a:t>AdamW</a:t>
            </a:r>
            <a:r>
              <a:rPr lang="en-IN" sz="2400" dirty="0">
                <a:solidFill>
                  <a:schemeClr val="bg1"/>
                </a:solidFill>
              </a:rPr>
              <a:t> (</a:t>
            </a:r>
            <a:r>
              <a:rPr lang="en-IN" sz="2400" dirty="0" err="1">
                <a:solidFill>
                  <a:schemeClr val="bg1"/>
                </a:solidFill>
              </a:rPr>
              <a:t>lr</a:t>
            </a:r>
            <a:r>
              <a:rPr lang="en-IN" sz="2400" dirty="0">
                <a:solidFill>
                  <a:schemeClr val="bg1"/>
                </a:solidFill>
              </a:rPr>
              <a:t>=1e-4, </a:t>
            </a:r>
            <a:r>
              <a:rPr lang="en-IN" sz="2400" dirty="0" err="1">
                <a:solidFill>
                  <a:schemeClr val="bg1"/>
                </a:solidFill>
              </a:rPr>
              <a:t>weight_decay</a:t>
            </a:r>
            <a:r>
              <a:rPr lang="en-IN" sz="2400" dirty="0">
                <a:solidFill>
                  <a:schemeClr val="bg1"/>
                </a:solidFill>
              </a:rPr>
              <a:t>=1e-5)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Loss Function:</a:t>
            </a:r>
            <a:r>
              <a:rPr lang="en-IN" sz="2400" dirty="0">
                <a:solidFill>
                  <a:schemeClr val="bg1"/>
                </a:solidFill>
              </a:rPr>
              <a:t> </a:t>
            </a:r>
            <a:r>
              <a:rPr lang="en-IN" sz="2400" dirty="0" err="1">
                <a:solidFill>
                  <a:schemeClr val="bg1"/>
                </a:solidFill>
              </a:rPr>
              <a:t>DiceBCELoss</a:t>
            </a:r>
            <a:r>
              <a:rPr lang="en-IN" sz="2400" dirty="0">
                <a:solidFill>
                  <a:schemeClr val="bg1"/>
                </a:solidFill>
              </a:rPr>
              <a:t> (0.5 Dice + 0.5 BCE)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LR Scheduler:</a:t>
            </a:r>
            <a:r>
              <a:rPr lang="en-IN" sz="2400" dirty="0">
                <a:solidFill>
                  <a:schemeClr val="bg1"/>
                </a:solidFill>
              </a:rPr>
              <a:t> Polynomial Decay</a:t>
            </a:r>
          </a:p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Regularization:</a:t>
            </a:r>
            <a:endParaRPr lang="en-IN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Data Augmentation:</a:t>
            </a:r>
            <a:r>
              <a:rPr lang="en-IN" sz="2400" dirty="0">
                <a:solidFill>
                  <a:schemeClr val="bg1"/>
                </a:solidFill>
              </a:rPr>
              <a:t> Random flip, rotation, elastic deformation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Mixed Precision:</a:t>
            </a:r>
            <a:r>
              <a:rPr lang="en-IN" sz="2400" dirty="0">
                <a:solidFill>
                  <a:schemeClr val="bg1"/>
                </a:solidFill>
              </a:rPr>
              <a:t> FP16 training with </a:t>
            </a:r>
            <a:r>
              <a:rPr lang="en-IN" sz="2400" dirty="0" err="1">
                <a:solidFill>
                  <a:schemeClr val="bg1"/>
                </a:solidFill>
              </a:rPr>
              <a:t>GradScaler</a:t>
            </a:r>
            <a:endParaRPr lang="en-IN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Early Stopping:</a:t>
            </a:r>
            <a:r>
              <a:rPr lang="en-IN" sz="2400" dirty="0">
                <a:solidFill>
                  <a:schemeClr val="bg1"/>
                </a:solidFill>
              </a:rPr>
              <a:t> Patience = 7 epochs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Gradient Clipping:</a:t>
            </a:r>
            <a:r>
              <a:rPr lang="en-IN" sz="2400" dirty="0">
                <a:solidFill>
                  <a:schemeClr val="bg1"/>
                </a:solidFill>
              </a:rPr>
              <a:t> </a:t>
            </a:r>
            <a:r>
              <a:rPr lang="en-IN" sz="2400" dirty="0" err="1">
                <a:solidFill>
                  <a:schemeClr val="bg1"/>
                </a:solidFill>
              </a:rPr>
              <a:t>max_norm</a:t>
            </a:r>
            <a:r>
              <a:rPr lang="en-IN" sz="2400" dirty="0">
                <a:solidFill>
                  <a:schemeClr val="bg1"/>
                </a:solidFill>
              </a:rPr>
              <a:t>=1.0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6667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0" y="96202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-609600" y="876300"/>
            <a:ext cx="18059400" cy="12404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</a:pPr>
            <a:r>
              <a:rPr lang="en-US" sz="9600" spc="-192" dirty="0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Training  Results- Metric Evolution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828800" y="1908839"/>
            <a:ext cx="11203296" cy="769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Best Performance Achieved:</a:t>
            </a:r>
            <a:endParaRPr lang="en-IN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Epoch 93:</a:t>
            </a:r>
            <a:r>
              <a:rPr lang="en-IN" sz="2400" dirty="0">
                <a:solidFill>
                  <a:schemeClr val="bg1"/>
                </a:solidFill>
              </a:rPr>
              <a:t> Mean Dice = 0.7812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Whole </a:t>
            </a:r>
            <a:r>
              <a:rPr lang="en-IN" sz="2400" b="1" dirty="0" err="1">
                <a:solidFill>
                  <a:schemeClr val="bg1"/>
                </a:solidFill>
              </a:rPr>
              <a:t>Tumor</a:t>
            </a:r>
            <a:r>
              <a:rPr lang="en-IN" sz="2400" b="1" dirty="0">
                <a:solidFill>
                  <a:schemeClr val="bg1"/>
                </a:solidFill>
              </a:rPr>
              <a:t>:</a:t>
            </a:r>
            <a:r>
              <a:rPr lang="en-IN" sz="2400" dirty="0">
                <a:solidFill>
                  <a:schemeClr val="bg1"/>
                </a:solidFill>
              </a:rPr>
              <a:t> 0.8725 Dice</a:t>
            </a:r>
          </a:p>
          <a:p>
            <a:pPr lvl="2">
              <a:lnSpc>
                <a:spcPct val="150000"/>
              </a:lnSpc>
            </a:pPr>
            <a:r>
              <a:rPr lang="en-IN" sz="2400" b="1" dirty="0" err="1">
                <a:solidFill>
                  <a:schemeClr val="bg1"/>
                </a:solidFill>
              </a:rPr>
              <a:t>Tumor</a:t>
            </a:r>
            <a:r>
              <a:rPr lang="en-IN" sz="2400" b="1" dirty="0">
                <a:solidFill>
                  <a:schemeClr val="bg1"/>
                </a:solidFill>
              </a:rPr>
              <a:t> Core:</a:t>
            </a:r>
            <a:r>
              <a:rPr lang="en-IN" sz="2400" dirty="0">
                <a:solidFill>
                  <a:schemeClr val="bg1"/>
                </a:solidFill>
              </a:rPr>
              <a:t> 0.8033 Dice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Enhancing </a:t>
            </a:r>
            <a:r>
              <a:rPr lang="en-IN" sz="2400" b="1" dirty="0" err="1">
                <a:solidFill>
                  <a:schemeClr val="bg1"/>
                </a:solidFill>
              </a:rPr>
              <a:t>Tumor</a:t>
            </a:r>
            <a:r>
              <a:rPr lang="en-IN" sz="2400" b="1" dirty="0">
                <a:solidFill>
                  <a:schemeClr val="bg1"/>
                </a:solidFill>
              </a:rPr>
              <a:t>:</a:t>
            </a:r>
            <a:r>
              <a:rPr lang="en-IN" sz="2400" dirty="0">
                <a:solidFill>
                  <a:schemeClr val="bg1"/>
                </a:solidFill>
              </a:rPr>
              <a:t> 0.6679 Dice</a:t>
            </a:r>
          </a:p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Training Progress:</a:t>
            </a:r>
            <a:endParaRPr lang="en-IN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Initial (Epoch 1):</a:t>
            </a:r>
            <a:r>
              <a:rPr lang="en-IN" sz="2400" dirty="0">
                <a:solidFill>
                  <a:schemeClr val="bg1"/>
                </a:solidFill>
              </a:rPr>
              <a:t> Mean Dice = 0.2400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Mid-training (Epoch 33):</a:t>
            </a:r>
            <a:r>
              <a:rPr lang="en-IN" sz="2400" dirty="0">
                <a:solidFill>
                  <a:schemeClr val="bg1"/>
                </a:solidFill>
              </a:rPr>
              <a:t> Mean Dice = 0.6608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Near-best (Epoch 67):</a:t>
            </a:r>
            <a:r>
              <a:rPr lang="en-IN" sz="2400" dirty="0">
                <a:solidFill>
                  <a:schemeClr val="bg1"/>
                </a:solidFill>
              </a:rPr>
              <a:t> Mean Dice = 0.7590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Final Best (Epoch 93):</a:t>
            </a:r>
            <a:r>
              <a:rPr lang="en-IN" sz="2400" dirty="0">
                <a:solidFill>
                  <a:schemeClr val="bg1"/>
                </a:solidFill>
              </a:rPr>
              <a:t> Mean Dice = 0.7812</a:t>
            </a:r>
          </a:p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Key Observation:</a:t>
            </a:r>
            <a:endParaRPr lang="en-IN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Consistent improvement across 93 epochs</a:t>
            </a: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Early stopping prevented overfitting</a:t>
            </a: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Enhancing </a:t>
            </a:r>
            <a:r>
              <a:rPr lang="en-IN" sz="2400" dirty="0" err="1">
                <a:solidFill>
                  <a:schemeClr val="bg1"/>
                </a:solidFill>
              </a:rPr>
              <a:t>Tumor</a:t>
            </a:r>
            <a:r>
              <a:rPr lang="en-IN" sz="2400" dirty="0">
                <a:solidFill>
                  <a:schemeClr val="bg1"/>
                </a:solidFill>
              </a:rPr>
              <a:t> remained most challenging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0" y="9620250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1028700" y="3304979"/>
            <a:ext cx="6902638" cy="5067496"/>
          </a:xfrm>
          <a:custGeom>
            <a:avLst/>
            <a:gdLst/>
            <a:ahLst/>
            <a:cxnLst/>
            <a:rect l="l" t="t" r="r" b="b"/>
            <a:pathLst>
              <a:path w="6902638" h="5067496">
                <a:moveTo>
                  <a:pt x="0" y="0"/>
                </a:moveTo>
                <a:lnTo>
                  <a:pt x="6902638" y="0"/>
                </a:lnTo>
                <a:lnTo>
                  <a:pt x="6902638" y="5067496"/>
                </a:lnTo>
                <a:lnTo>
                  <a:pt x="0" y="50674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770804" y="3304979"/>
            <a:ext cx="6825606" cy="5067496"/>
          </a:xfrm>
          <a:custGeom>
            <a:avLst/>
            <a:gdLst/>
            <a:ahLst/>
            <a:cxnLst/>
            <a:rect l="l" t="t" r="r" b="b"/>
            <a:pathLst>
              <a:path w="6825606" h="5067496">
                <a:moveTo>
                  <a:pt x="0" y="0"/>
                </a:moveTo>
                <a:lnTo>
                  <a:pt x="6825607" y="0"/>
                </a:lnTo>
                <a:lnTo>
                  <a:pt x="6825607" y="5067496"/>
                </a:lnTo>
                <a:lnTo>
                  <a:pt x="0" y="50674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666750" y="1562100"/>
            <a:ext cx="16592550" cy="2419982"/>
            <a:chOff x="0" y="0"/>
            <a:chExt cx="22123400" cy="3226643"/>
          </a:xfrm>
        </p:grpSpPr>
        <p:sp>
          <p:nvSpPr>
            <p:cNvPr id="7" name="TextBox 7"/>
            <p:cNvSpPr txBox="1"/>
            <p:nvPr/>
          </p:nvSpPr>
          <p:spPr>
            <a:xfrm>
              <a:off x="0" y="200025"/>
              <a:ext cx="22123400" cy="18277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999"/>
                </a:lnSpc>
              </a:pPr>
              <a:r>
                <a:rPr lang="en-US" sz="9999" spc="-199">
                  <a:solidFill>
                    <a:srgbClr val="FFFFFF"/>
                  </a:solidFill>
                  <a:latin typeface="Noto Serif Display ExtraCondensed Light"/>
                  <a:ea typeface="Noto Serif Display ExtraCondensed Light"/>
                  <a:cs typeface="Noto Serif Display ExtraCondensed Light"/>
                  <a:sym typeface="Noto Serif Display ExtraCondensed Light"/>
                </a:rPr>
                <a:t>Model Predictions — Visual Results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2667843"/>
              <a:ext cx="22123400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66750" y="8715375"/>
            <a:ext cx="16592550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50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Model</a:t>
            </a:r>
            <a:r>
              <a:rPr lang="en-US" sz="350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 correctly segments WT; ET/TC regions slightly under-segmented.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5D148E-DF1F-EE2D-3FC5-10D8AAC46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A7A0667-F8AC-B6E0-AA62-C601ABE02F69}"/>
              </a:ext>
            </a:extLst>
          </p:cNvPr>
          <p:cNvSpPr/>
          <p:nvPr/>
        </p:nvSpPr>
        <p:spPr>
          <a:xfrm>
            <a:off x="0" y="6667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DF4C39E-2C8C-6651-A38F-9CBF7B277D83}"/>
              </a:ext>
            </a:extLst>
          </p:cNvPr>
          <p:cNvSpPr/>
          <p:nvPr/>
        </p:nvSpPr>
        <p:spPr>
          <a:xfrm>
            <a:off x="0" y="96202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89BBCEA-F0E5-E4ED-5703-4D9448EFE3B9}"/>
              </a:ext>
            </a:extLst>
          </p:cNvPr>
          <p:cNvSpPr txBox="1"/>
          <p:nvPr/>
        </p:nvSpPr>
        <p:spPr>
          <a:xfrm>
            <a:off x="609600" y="683078"/>
            <a:ext cx="14325600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N" sz="8000" b="1" dirty="0">
                <a:solidFill>
                  <a:schemeClr val="bg1"/>
                </a:solidFill>
                <a:latin typeface="Noto Serif Display ExtraCondensed Light" panose="020B0604020202020204"/>
                <a:ea typeface="Noto Serif Display ExtraCondensed Light" panose="020B0604020202020204"/>
                <a:cs typeface="Noto Serif Display ExtraCondensed Light" panose="020B0604020202020204"/>
              </a:rPr>
              <a:t>Hyperparameter Tuning Results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4053E10-C26F-5E83-D563-0B32401C2CD4}"/>
              </a:ext>
            </a:extLst>
          </p:cNvPr>
          <p:cNvSpPr txBox="1"/>
          <p:nvPr/>
        </p:nvSpPr>
        <p:spPr>
          <a:xfrm>
            <a:off x="1447800" y="2370611"/>
            <a:ext cx="11203296" cy="6894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IN" sz="3200" b="1" dirty="0">
                <a:solidFill>
                  <a:schemeClr val="bg1"/>
                </a:solidFill>
              </a:rPr>
              <a:t>Explored Parameters:</a:t>
            </a:r>
            <a:endParaRPr lang="en-IN" sz="3200" dirty="0">
              <a:solidFill>
                <a:schemeClr val="bg1"/>
              </a:solidFill>
            </a:endParaRPr>
          </a:p>
          <a:p>
            <a:pPr lvl="2"/>
            <a:r>
              <a:rPr lang="en-IN" sz="3200" dirty="0">
                <a:solidFill>
                  <a:schemeClr val="bg1"/>
                </a:solidFill>
              </a:rPr>
              <a:t>Learning Rates: 5e-5, 1e-4, 5e-4</a:t>
            </a:r>
          </a:p>
          <a:p>
            <a:pPr lvl="2"/>
            <a:r>
              <a:rPr lang="en-IN" sz="3200" dirty="0">
                <a:solidFill>
                  <a:schemeClr val="bg1"/>
                </a:solidFill>
              </a:rPr>
              <a:t>Batch Sizes: 1, 2</a:t>
            </a:r>
          </a:p>
          <a:p>
            <a:pPr lvl="2"/>
            <a:r>
              <a:rPr lang="en-IN" sz="3200" dirty="0">
                <a:solidFill>
                  <a:schemeClr val="bg1"/>
                </a:solidFill>
              </a:rPr>
              <a:t>Channel Configurations: (8,16,32,64,128), (16,32,64,128,256), (32,64,128,256,512)</a:t>
            </a:r>
          </a:p>
          <a:p>
            <a:pPr lvl="2"/>
            <a:r>
              <a:rPr lang="en-IN" sz="3200" dirty="0">
                <a:solidFill>
                  <a:schemeClr val="bg1"/>
                </a:solidFill>
              </a:rPr>
              <a:t>Loss Weights: (0.5,0.5), (0.3,0.7), (0.7,0.3)</a:t>
            </a:r>
          </a:p>
          <a:p>
            <a:r>
              <a:rPr lang="en-IN" sz="3200" b="1" dirty="0">
                <a:solidFill>
                  <a:schemeClr val="bg1"/>
                </a:solidFill>
              </a:rPr>
              <a:t>Best Configuration:</a:t>
            </a:r>
            <a:endParaRPr lang="en-IN" sz="3200" dirty="0">
              <a:solidFill>
                <a:schemeClr val="bg1"/>
              </a:solidFill>
            </a:endParaRPr>
          </a:p>
          <a:p>
            <a:pPr lvl="2"/>
            <a:r>
              <a:rPr lang="en-IN" sz="3200" b="1" dirty="0">
                <a:solidFill>
                  <a:schemeClr val="bg1"/>
                </a:solidFill>
              </a:rPr>
              <a:t>Learning Rate:</a:t>
            </a:r>
            <a:r>
              <a:rPr lang="en-IN" sz="3200" dirty="0">
                <a:solidFill>
                  <a:schemeClr val="bg1"/>
                </a:solidFill>
              </a:rPr>
              <a:t> 0.0001</a:t>
            </a:r>
          </a:p>
          <a:p>
            <a:pPr lvl="2"/>
            <a:r>
              <a:rPr lang="en-IN" sz="3200" b="1" dirty="0">
                <a:solidFill>
                  <a:schemeClr val="bg1"/>
                </a:solidFill>
              </a:rPr>
              <a:t>Batch Size:</a:t>
            </a:r>
            <a:r>
              <a:rPr lang="en-IN" sz="3200" dirty="0">
                <a:solidFill>
                  <a:schemeClr val="bg1"/>
                </a:solidFill>
              </a:rPr>
              <a:t> 2</a:t>
            </a:r>
          </a:p>
          <a:p>
            <a:pPr lvl="2"/>
            <a:r>
              <a:rPr lang="en-IN" sz="3200" b="1" dirty="0">
                <a:solidFill>
                  <a:schemeClr val="bg1"/>
                </a:solidFill>
              </a:rPr>
              <a:t>Channels:</a:t>
            </a:r>
            <a:r>
              <a:rPr lang="en-IN" sz="3200" dirty="0">
                <a:solidFill>
                  <a:schemeClr val="bg1"/>
                </a:solidFill>
              </a:rPr>
              <a:t> (16, 32, 64, 128, 256)</a:t>
            </a:r>
          </a:p>
          <a:p>
            <a:pPr lvl="2"/>
            <a:r>
              <a:rPr lang="en-IN" sz="3200" b="1" dirty="0">
                <a:solidFill>
                  <a:schemeClr val="bg1"/>
                </a:solidFill>
              </a:rPr>
              <a:t>Loss Weights:</a:t>
            </a:r>
            <a:r>
              <a:rPr lang="en-IN" sz="3200" dirty="0">
                <a:solidFill>
                  <a:schemeClr val="bg1"/>
                </a:solidFill>
              </a:rPr>
              <a:t> Dice 0.5, BCE 0.5</a:t>
            </a:r>
          </a:p>
          <a:p>
            <a:pPr lvl="2"/>
            <a:r>
              <a:rPr lang="en-IN" sz="3200" b="1" dirty="0">
                <a:solidFill>
                  <a:schemeClr val="bg1"/>
                </a:solidFill>
              </a:rPr>
              <a:t>Gradient Clipping:</a:t>
            </a:r>
            <a:r>
              <a:rPr lang="en-IN" sz="3200" dirty="0">
                <a:solidFill>
                  <a:schemeClr val="bg1"/>
                </a:solidFill>
              </a:rPr>
              <a:t> 1.0</a:t>
            </a:r>
          </a:p>
          <a:p>
            <a:pPr lvl="2"/>
            <a:r>
              <a:rPr lang="en-IN" sz="3200" b="1" dirty="0">
                <a:solidFill>
                  <a:schemeClr val="bg1"/>
                </a:solidFill>
              </a:rPr>
              <a:t>Weight Decay:</a:t>
            </a:r>
            <a:r>
              <a:rPr lang="en-IN" sz="3200" dirty="0">
                <a:solidFill>
                  <a:schemeClr val="bg1"/>
                </a:solidFill>
              </a:rPr>
              <a:t> 1e-5</a:t>
            </a:r>
          </a:p>
          <a:p>
            <a:pPr lvl="2"/>
            <a:r>
              <a:rPr lang="en-IN" sz="3200" b="1" dirty="0">
                <a:solidFill>
                  <a:schemeClr val="bg1"/>
                </a:solidFill>
              </a:rPr>
              <a:t>Performance:</a:t>
            </a:r>
            <a:r>
              <a:rPr lang="en-IN" sz="3200" dirty="0">
                <a:solidFill>
                  <a:schemeClr val="bg1"/>
                </a:solidFill>
              </a:rPr>
              <a:t> Dice = 0.4919 (initial tuning phase)</a:t>
            </a:r>
          </a:p>
        </p:txBody>
      </p:sp>
    </p:spTree>
    <p:extLst>
      <p:ext uri="{BB962C8B-B14F-4D97-AF65-F5344CB8AC3E}">
        <p14:creationId xmlns:p14="http://schemas.microsoft.com/office/powerpoint/2010/main" val="3086202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E1D550-B889-42FD-9E08-EBDCE07B6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8AB61FD-E809-6356-8A38-B9DBFD0D0A2E}"/>
              </a:ext>
            </a:extLst>
          </p:cNvPr>
          <p:cNvSpPr/>
          <p:nvPr/>
        </p:nvSpPr>
        <p:spPr>
          <a:xfrm>
            <a:off x="0" y="6667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8175083-EF87-7923-1FCD-0BB25932A105}"/>
              </a:ext>
            </a:extLst>
          </p:cNvPr>
          <p:cNvSpPr/>
          <p:nvPr/>
        </p:nvSpPr>
        <p:spPr>
          <a:xfrm>
            <a:off x="0" y="96202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E60AC0A-1E03-B9BC-4598-D15DAAF051C5}"/>
              </a:ext>
            </a:extLst>
          </p:cNvPr>
          <p:cNvSpPr txBox="1"/>
          <p:nvPr/>
        </p:nvSpPr>
        <p:spPr>
          <a:xfrm>
            <a:off x="609600" y="683078"/>
            <a:ext cx="16230600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N" sz="8000" b="1" dirty="0">
                <a:solidFill>
                  <a:schemeClr val="bg1"/>
                </a:solidFill>
                <a:latin typeface="Noto Serif Display ExtraCondensed Light" panose="020B0604020202020204"/>
                <a:ea typeface="Noto Serif Display ExtraCondensed Light" panose="020B0604020202020204"/>
                <a:cs typeface="Noto Serif Display ExtraCondensed Light" panose="020B0604020202020204"/>
              </a:rPr>
              <a:t>Validation Results - Sample Visualizations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1E53808-E5F5-7937-E084-B3B620699866}"/>
              </a:ext>
            </a:extLst>
          </p:cNvPr>
          <p:cNvSpPr txBox="1"/>
          <p:nvPr/>
        </p:nvSpPr>
        <p:spPr>
          <a:xfrm>
            <a:off x="1371600" y="1967017"/>
            <a:ext cx="12496800" cy="76891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800" b="1" dirty="0">
                <a:solidFill>
                  <a:schemeClr val="bg1"/>
                </a:solidFill>
              </a:rPr>
              <a:t>Sample 1: Excellent Performance</a:t>
            </a:r>
            <a:endParaRPr lang="en-IN" sz="28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800" b="1" dirty="0">
                <a:solidFill>
                  <a:schemeClr val="bg1"/>
                </a:solidFill>
              </a:rPr>
              <a:t>TC Dice:</a:t>
            </a:r>
            <a:r>
              <a:rPr lang="en-IN" sz="2800" dirty="0">
                <a:solidFill>
                  <a:schemeClr val="bg1"/>
                </a:solidFill>
              </a:rPr>
              <a:t> 0.9361 | </a:t>
            </a:r>
            <a:r>
              <a:rPr lang="en-IN" sz="2800" b="1" dirty="0">
                <a:solidFill>
                  <a:schemeClr val="bg1"/>
                </a:solidFill>
              </a:rPr>
              <a:t>WT Dice:</a:t>
            </a:r>
            <a:r>
              <a:rPr lang="en-IN" sz="2800" dirty="0">
                <a:solidFill>
                  <a:schemeClr val="bg1"/>
                </a:solidFill>
              </a:rPr>
              <a:t> 0.9195 | </a:t>
            </a:r>
            <a:r>
              <a:rPr lang="en-IN" sz="2800" b="1" dirty="0">
                <a:solidFill>
                  <a:schemeClr val="bg1"/>
                </a:solidFill>
              </a:rPr>
              <a:t>ET Dice:</a:t>
            </a:r>
            <a:r>
              <a:rPr lang="en-IN" sz="2800" dirty="0">
                <a:solidFill>
                  <a:schemeClr val="bg1"/>
                </a:solidFill>
              </a:rPr>
              <a:t> 0.8751</a:t>
            </a:r>
          </a:p>
          <a:p>
            <a:pPr lvl="2">
              <a:lnSpc>
                <a:spcPct val="150000"/>
              </a:lnSpc>
            </a:pPr>
            <a:r>
              <a:rPr lang="en-IN" sz="2800" dirty="0">
                <a:solidFill>
                  <a:schemeClr val="bg1"/>
                </a:solidFill>
              </a:rPr>
              <a:t>Clear </a:t>
            </a:r>
            <a:r>
              <a:rPr lang="en-IN" sz="2800" dirty="0" err="1">
                <a:solidFill>
                  <a:schemeClr val="bg1"/>
                </a:solidFill>
              </a:rPr>
              <a:t>tumor</a:t>
            </a:r>
            <a:r>
              <a:rPr lang="en-IN" sz="2800" dirty="0">
                <a:solidFill>
                  <a:schemeClr val="bg1"/>
                </a:solidFill>
              </a:rPr>
              <a:t> boundaries, minimal false positives</a:t>
            </a:r>
          </a:p>
          <a:p>
            <a:pPr lvl="2">
              <a:lnSpc>
                <a:spcPct val="150000"/>
              </a:lnSpc>
            </a:pPr>
            <a:r>
              <a:rPr lang="en-IN" sz="2800" dirty="0">
                <a:solidFill>
                  <a:schemeClr val="bg1"/>
                </a:solidFill>
              </a:rPr>
              <a:t>Accurate sub-region differentiation</a:t>
            </a:r>
          </a:p>
          <a:p>
            <a:pPr>
              <a:lnSpc>
                <a:spcPct val="150000"/>
              </a:lnSpc>
            </a:pPr>
            <a:r>
              <a:rPr lang="en-IN" sz="2800" b="1" dirty="0">
                <a:solidFill>
                  <a:schemeClr val="bg1"/>
                </a:solidFill>
              </a:rPr>
              <a:t>Sample 2: Good Performance</a:t>
            </a:r>
            <a:endParaRPr lang="en-IN" sz="28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800" b="1" dirty="0">
                <a:solidFill>
                  <a:schemeClr val="bg1"/>
                </a:solidFill>
              </a:rPr>
              <a:t>TC Dice:</a:t>
            </a:r>
            <a:r>
              <a:rPr lang="en-IN" sz="2800" dirty="0">
                <a:solidFill>
                  <a:schemeClr val="bg1"/>
                </a:solidFill>
              </a:rPr>
              <a:t> 0.9486 | </a:t>
            </a:r>
            <a:r>
              <a:rPr lang="en-IN" sz="2800" b="1" dirty="0">
                <a:solidFill>
                  <a:schemeClr val="bg1"/>
                </a:solidFill>
              </a:rPr>
              <a:t>WT Dice:</a:t>
            </a:r>
            <a:r>
              <a:rPr lang="en-IN" sz="2800" dirty="0">
                <a:solidFill>
                  <a:schemeClr val="bg1"/>
                </a:solidFill>
              </a:rPr>
              <a:t> 0.9426 | </a:t>
            </a:r>
            <a:r>
              <a:rPr lang="en-IN" sz="2800" b="1" dirty="0">
                <a:solidFill>
                  <a:schemeClr val="bg1"/>
                </a:solidFill>
              </a:rPr>
              <a:t>ET Dice:</a:t>
            </a:r>
            <a:r>
              <a:rPr lang="en-IN" sz="2800" dirty="0">
                <a:solidFill>
                  <a:schemeClr val="bg1"/>
                </a:solidFill>
              </a:rPr>
              <a:t> 0.9081</a:t>
            </a:r>
          </a:p>
          <a:p>
            <a:pPr lvl="2">
              <a:lnSpc>
                <a:spcPct val="150000"/>
              </a:lnSpc>
            </a:pPr>
            <a:r>
              <a:rPr lang="en-IN" sz="2800" dirty="0">
                <a:solidFill>
                  <a:schemeClr val="bg1"/>
                </a:solidFill>
              </a:rPr>
              <a:t>Slight volume over-estimation</a:t>
            </a:r>
          </a:p>
          <a:p>
            <a:pPr lvl="2">
              <a:lnSpc>
                <a:spcPct val="150000"/>
              </a:lnSpc>
            </a:pPr>
            <a:r>
              <a:rPr lang="en-IN" sz="2800" dirty="0">
                <a:solidFill>
                  <a:schemeClr val="bg1"/>
                </a:solidFill>
              </a:rPr>
              <a:t>Well-defined enhancing </a:t>
            </a:r>
            <a:r>
              <a:rPr lang="en-IN" sz="2800" dirty="0" err="1">
                <a:solidFill>
                  <a:schemeClr val="bg1"/>
                </a:solidFill>
              </a:rPr>
              <a:t>tumor</a:t>
            </a:r>
            <a:r>
              <a:rPr lang="en-IN" sz="2800" dirty="0">
                <a:solidFill>
                  <a:schemeClr val="bg1"/>
                </a:solidFill>
              </a:rPr>
              <a:t> regions</a:t>
            </a:r>
          </a:p>
          <a:p>
            <a:pPr>
              <a:lnSpc>
                <a:spcPct val="150000"/>
              </a:lnSpc>
            </a:pPr>
            <a:r>
              <a:rPr lang="en-IN" sz="2800" b="1" dirty="0">
                <a:solidFill>
                  <a:schemeClr val="bg1"/>
                </a:solidFill>
              </a:rPr>
              <a:t>Sample 3: Moderate Performance</a:t>
            </a:r>
            <a:endParaRPr lang="en-IN" sz="28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800" b="1" dirty="0">
                <a:solidFill>
                  <a:schemeClr val="bg1"/>
                </a:solidFill>
              </a:rPr>
              <a:t>TC Dice:</a:t>
            </a:r>
            <a:r>
              <a:rPr lang="en-IN" sz="2800" dirty="0">
                <a:solidFill>
                  <a:schemeClr val="bg1"/>
                </a:solidFill>
              </a:rPr>
              <a:t> 0.9461 | </a:t>
            </a:r>
            <a:r>
              <a:rPr lang="en-IN" sz="2800" b="1" dirty="0">
                <a:solidFill>
                  <a:schemeClr val="bg1"/>
                </a:solidFill>
              </a:rPr>
              <a:t>WT Dice:</a:t>
            </a:r>
            <a:r>
              <a:rPr lang="en-IN" sz="2800" dirty="0">
                <a:solidFill>
                  <a:schemeClr val="bg1"/>
                </a:solidFill>
              </a:rPr>
              <a:t> 0.9222 | </a:t>
            </a:r>
            <a:r>
              <a:rPr lang="en-IN" sz="2800" b="1" dirty="0">
                <a:solidFill>
                  <a:schemeClr val="bg1"/>
                </a:solidFill>
              </a:rPr>
              <a:t>ET Dice:</a:t>
            </a:r>
            <a:r>
              <a:rPr lang="en-IN" sz="2800" dirty="0">
                <a:solidFill>
                  <a:schemeClr val="bg1"/>
                </a:solidFill>
              </a:rPr>
              <a:t> 0.8509</a:t>
            </a:r>
          </a:p>
          <a:p>
            <a:pPr lvl="2">
              <a:lnSpc>
                <a:spcPct val="150000"/>
              </a:lnSpc>
            </a:pPr>
            <a:r>
              <a:rPr lang="en-IN" sz="2800" dirty="0">
                <a:solidFill>
                  <a:schemeClr val="bg1"/>
                </a:solidFill>
              </a:rPr>
              <a:t>Some boundary inaccuracies</a:t>
            </a:r>
          </a:p>
          <a:p>
            <a:pPr lvl="2">
              <a:lnSpc>
                <a:spcPct val="150000"/>
              </a:lnSpc>
            </a:pPr>
            <a:r>
              <a:rPr lang="en-IN" sz="2800" dirty="0">
                <a:solidFill>
                  <a:schemeClr val="bg1"/>
                </a:solidFill>
              </a:rPr>
              <a:t>Minor under-segmentation in </a:t>
            </a:r>
            <a:r>
              <a:rPr lang="en-IN" sz="2800" dirty="0" err="1">
                <a:solidFill>
                  <a:schemeClr val="bg1"/>
                </a:solidFill>
              </a:rPr>
              <a:t>edema</a:t>
            </a: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74166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22F9BF-C9D6-48F6-940A-92289A4F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4AD2AFE-44AF-241E-3B63-3BD1772AD95A}"/>
              </a:ext>
            </a:extLst>
          </p:cNvPr>
          <p:cNvSpPr/>
          <p:nvPr/>
        </p:nvSpPr>
        <p:spPr>
          <a:xfrm>
            <a:off x="0" y="6667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5760BB6-5AEA-EC4F-63F5-FF14A4B5D33B}"/>
              </a:ext>
            </a:extLst>
          </p:cNvPr>
          <p:cNvSpPr/>
          <p:nvPr/>
        </p:nvSpPr>
        <p:spPr>
          <a:xfrm>
            <a:off x="0" y="96202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755D6A5-F7C7-C3BA-E413-31ABE163B8D3}"/>
              </a:ext>
            </a:extLst>
          </p:cNvPr>
          <p:cNvSpPr txBox="1"/>
          <p:nvPr/>
        </p:nvSpPr>
        <p:spPr>
          <a:xfrm>
            <a:off x="609600" y="683078"/>
            <a:ext cx="162306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6600" b="1" dirty="0">
                <a:solidFill>
                  <a:schemeClr val="bg1"/>
                </a:solidFill>
                <a:latin typeface="Noto Serif Display ExtraCondensed Light" panose="020B0604020202020204"/>
                <a:ea typeface="Noto Serif Display ExtraCondensed Light" panose="020B0604020202020204"/>
                <a:cs typeface="Noto Serif Display ExtraCondensed Light" panose="020B0604020202020204"/>
              </a:rPr>
              <a:t>Test Set Evaluation - Quantitative Results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D77080B-7D81-2CE5-0ADA-DC498F19F0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970283"/>
            <a:ext cx="12059333" cy="696813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9810808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2710D-6A36-3B99-82E4-E4DD12429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830753BD-484F-197C-63F3-BD29865FFF02}"/>
              </a:ext>
            </a:extLst>
          </p:cNvPr>
          <p:cNvSpPr/>
          <p:nvPr/>
        </p:nvSpPr>
        <p:spPr>
          <a:xfrm>
            <a:off x="0" y="6667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90EF9C3-CB20-A5AB-5C00-CAEEB44DB7A1}"/>
              </a:ext>
            </a:extLst>
          </p:cNvPr>
          <p:cNvSpPr/>
          <p:nvPr/>
        </p:nvSpPr>
        <p:spPr>
          <a:xfrm>
            <a:off x="0" y="96202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EFCC60D-45E5-1C48-8875-504181E8EABD}"/>
              </a:ext>
            </a:extLst>
          </p:cNvPr>
          <p:cNvSpPr txBox="1"/>
          <p:nvPr/>
        </p:nvSpPr>
        <p:spPr>
          <a:xfrm>
            <a:off x="609600" y="666749"/>
            <a:ext cx="162306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N" sz="6600" b="1" dirty="0">
                <a:solidFill>
                  <a:schemeClr val="bg1"/>
                </a:solidFill>
              </a:rPr>
              <a:t>Volume Correlation Analysis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9CB541C-0DA4-EA7C-335E-EBA14522E0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974564"/>
              </p:ext>
            </p:extLst>
          </p:nvPr>
        </p:nvGraphicFramePr>
        <p:xfrm>
          <a:off x="1752600" y="5143500"/>
          <a:ext cx="8229599" cy="1574800"/>
        </p:xfrm>
        <a:graphic>
          <a:graphicData uri="http://schemas.openxmlformats.org/drawingml/2006/table">
            <a:tbl>
              <a:tblPr/>
              <a:tblGrid>
                <a:gridCol w="1877627">
                  <a:extLst>
                    <a:ext uri="{9D8B030D-6E8A-4147-A177-3AD203B41FA5}">
                      <a16:colId xmlns:a16="http://schemas.microsoft.com/office/drawing/2014/main" val="3961946569"/>
                    </a:ext>
                  </a:extLst>
                </a:gridCol>
                <a:gridCol w="2117324">
                  <a:extLst>
                    <a:ext uri="{9D8B030D-6E8A-4147-A177-3AD203B41FA5}">
                      <a16:colId xmlns:a16="http://schemas.microsoft.com/office/drawing/2014/main" val="3270181979"/>
                    </a:ext>
                  </a:extLst>
                </a:gridCol>
                <a:gridCol w="2117324">
                  <a:extLst>
                    <a:ext uri="{9D8B030D-6E8A-4147-A177-3AD203B41FA5}">
                      <a16:colId xmlns:a16="http://schemas.microsoft.com/office/drawing/2014/main" val="456675817"/>
                    </a:ext>
                  </a:extLst>
                </a:gridCol>
                <a:gridCol w="2117324">
                  <a:extLst>
                    <a:ext uri="{9D8B030D-6E8A-4147-A177-3AD203B41FA5}">
                      <a16:colId xmlns:a16="http://schemas.microsoft.com/office/drawing/2014/main" val="30893778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Region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Slope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Intercept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R²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4369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TC</a:t>
                      </a:r>
                      <a:endParaRPr lang="en-IN" b="0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0.9314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-812.34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0.8239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0814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WT</a:t>
                      </a:r>
                      <a:endParaRPr lang="en-IN" b="0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0.8678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-1883.73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0.7720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008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ET</a:t>
                      </a:r>
                      <a:endParaRPr lang="en-IN" b="0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0.6677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-522.34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0.6454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3319947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528D9012-BD16-1A06-E111-09618F70B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530554"/>
            <a:ext cx="17526000" cy="3539985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txBody>
          <a:bodyPr vert="horz" wrap="square" lIns="0" tIns="136482" rIns="0" bIns="13648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Ground Truth vs Predicted Correlation: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lvl="1">
              <a:lnSpc>
                <a:spcPct val="150000"/>
              </a:lnSpc>
              <a:buFontTx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Tumor Core: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 Pearson = 0.9077 (Excellent)</a:t>
            </a:r>
          </a:p>
          <a:p>
            <a:pPr lvl="1">
              <a:lnSpc>
                <a:spcPct val="150000"/>
              </a:lnSpc>
              <a:buFontTx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Whole Tumor: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 Pearson = 0.8786 (Very Good)</a:t>
            </a:r>
          </a:p>
          <a:p>
            <a:pPr lvl="1">
              <a:lnSpc>
                <a:spcPct val="150000"/>
              </a:lnSpc>
              <a:buFontTx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Enhancing Tumor: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 Pearson = 0.8034 (Good)</a:t>
            </a:r>
          </a:p>
          <a:p>
            <a:pPr lvl="1">
              <a:lnSpc>
                <a:spcPct val="150000"/>
              </a:lnSpc>
              <a:buFontTx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Total Volume: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 Pearson = 0.8924 (Very Good)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Linear Regression Analysis: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01E391E-2478-A4D3-1343-AFF29915C1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677" y="6680706"/>
            <a:ext cx="5143139" cy="2977138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txBody>
          <a:bodyPr vert="horz" wrap="none" lIns="0" tIns="136482" rIns="0" bIns="13648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Interpretation: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Consistent under-prediction (slopes &lt; 1)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Strong size trend tracking (high R²)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ET shows weakest correlation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05413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351BD2-AF41-49E5-2D6C-76292FAA8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8F8463D-C1AF-3F21-6907-409BE44DB083}"/>
              </a:ext>
            </a:extLst>
          </p:cNvPr>
          <p:cNvSpPr/>
          <p:nvPr/>
        </p:nvSpPr>
        <p:spPr>
          <a:xfrm>
            <a:off x="0" y="6667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D690B6CE-10B7-23CD-C7D2-00C0B9F83EF5}"/>
              </a:ext>
            </a:extLst>
          </p:cNvPr>
          <p:cNvSpPr/>
          <p:nvPr/>
        </p:nvSpPr>
        <p:spPr>
          <a:xfrm>
            <a:off x="0" y="96202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0105177-5C57-8A94-9280-D8519E2C2E51}"/>
              </a:ext>
            </a:extLst>
          </p:cNvPr>
          <p:cNvSpPr txBox="1"/>
          <p:nvPr/>
        </p:nvSpPr>
        <p:spPr>
          <a:xfrm>
            <a:off x="609600" y="683078"/>
            <a:ext cx="162306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N" sz="6600" b="1" dirty="0">
                <a:solidFill>
                  <a:schemeClr val="bg1"/>
                </a:solidFill>
              </a:rPr>
              <a:t> Error Analysis - Missed Detections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2DDFB-6D94-79C5-0D0E-6B55D1027D5A}"/>
              </a:ext>
            </a:extLst>
          </p:cNvPr>
          <p:cNvSpPr txBox="1"/>
          <p:nvPr/>
        </p:nvSpPr>
        <p:spPr>
          <a:xfrm>
            <a:off x="838200" y="2087139"/>
            <a:ext cx="16230600" cy="71447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Complete Misses (Predicted Volume = 0):</a:t>
            </a:r>
            <a:endParaRPr lang="en-IN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400" b="1" dirty="0" err="1">
                <a:solidFill>
                  <a:schemeClr val="bg1"/>
                </a:solidFill>
              </a:rPr>
              <a:t>Tumor</a:t>
            </a:r>
            <a:r>
              <a:rPr lang="en-IN" sz="2400" b="1" dirty="0">
                <a:solidFill>
                  <a:schemeClr val="bg1"/>
                </a:solidFill>
              </a:rPr>
              <a:t> Core:</a:t>
            </a:r>
            <a:r>
              <a:rPr lang="en-IN" sz="2400" dirty="0">
                <a:solidFill>
                  <a:schemeClr val="bg1"/>
                </a:solidFill>
              </a:rPr>
              <a:t> 12 patients (8%)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Whole </a:t>
            </a:r>
            <a:r>
              <a:rPr lang="en-IN" sz="2400" b="1" dirty="0" err="1">
                <a:solidFill>
                  <a:schemeClr val="bg1"/>
                </a:solidFill>
              </a:rPr>
              <a:t>Tumor</a:t>
            </a:r>
            <a:r>
              <a:rPr lang="en-IN" sz="2400" b="1" dirty="0">
                <a:solidFill>
                  <a:schemeClr val="bg1"/>
                </a:solidFill>
              </a:rPr>
              <a:t>:</a:t>
            </a:r>
            <a:r>
              <a:rPr lang="en-IN" sz="2400" dirty="0">
                <a:solidFill>
                  <a:schemeClr val="bg1"/>
                </a:solidFill>
              </a:rPr>
              <a:t> 3 patients (2%)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Enhancing </a:t>
            </a:r>
            <a:r>
              <a:rPr lang="en-IN" sz="2400" b="1" dirty="0" err="1">
                <a:solidFill>
                  <a:schemeClr val="bg1"/>
                </a:solidFill>
              </a:rPr>
              <a:t>Tumor</a:t>
            </a:r>
            <a:r>
              <a:rPr lang="en-IN" sz="2400" b="1" dirty="0">
                <a:solidFill>
                  <a:schemeClr val="bg1"/>
                </a:solidFill>
              </a:rPr>
              <a:t>:</a:t>
            </a:r>
            <a:r>
              <a:rPr lang="en-IN" sz="2400" dirty="0">
                <a:solidFill>
                  <a:schemeClr val="bg1"/>
                </a:solidFill>
              </a:rPr>
              <a:t> 22 patients (14.7%)</a:t>
            </a:r>
          </a:p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Volume Error Analysis:</a:t>
            </a:r>
            <a:endParaRPr lang="en-IN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Mean Relative Error:</a:t>
            </a:r>
            <a:r>
              <a:rPr lang="en-IN" sz="2400" dirty="0">
                <a:solidFill>
                  <a:schemeClr val="bg1"/>
                </a:solidFill>
              </a:rPr>
              <a:t> 29.64%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Median Relative Error:</a:t>
            </a:r>
            <a:r>
              <a:rPr lang="en-IN" sz="2400" dirty="0">
                <a:solidFill>
                  <a:schemeClr val="bg1"/>
                </a:solidFill>
              </a:rPr>
              <a:t> 16.42%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75th Percentile:</a:t>
            </a:r>
            <a:r>
              <a:rPr lang="en-IN" sz="2400" dirty="0">
                <a:solidFill>
                  <a:schemeClr val="bg1"/>
                </a:solidFill>
              </a:rPr>
              <a:t> 46.13%</a:t>
            </a:r>
          </a:p>
          <a:p>
            <a:pPr lvl="2"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Maximum Error:</a:t>
            </a:r>
            <a:r>
              <a:rPr lang="en-IN" sz="2400" dirty="0">
                <a:solidFill>
                  <a:schemeClr val="bg1"/>
                </a:solidFill>
              </a:rPr>
              <a:t> 100% (complete mismatch)</a:t>
            </a:r>
          </a:p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chemeClr val="bg1"/>
                </a:solidFill>
              </a:rPr>
              <a:t>Performance Distribution:</a:t>
            </a:r>
            <a:endParaRPr lang="en-IN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Half of patients have &lt;16% volume error</a:t>
            </a: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Quarter of patients have &gt;46% error</a:t>
            </a:r>
          </a:p>
          <a:p>
            <a:pPr lvl="2">
              <a:lnSpc>
                <a:spcPct val="150000"/>
              </a:lnSpc>
            </a:pPr>
            <a:r>
              <a:rPr lang="en-IN" sz="2400" dirty="0">
                <a:solidFill>
                  <a:schemeClr val="bg1"/>
                </a:solidFill>
              </a:rPr>
              <a:t>Few extreme outliers with 100% error</a:t>
            </a:r>
          </a:p>
        </p:txBody>
      </p:sp>
    </p:spTree>
    <p:extLst>
      <p:ext uri="{BB962C8B-B14F-4D97-AF65-F5344CB8AC3E}">
        <p14:creationId xmlns:p14="http://schemas.microsoft.com/office/powerpoint/2010/main" val="3369437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D09271-6BCF-A808-9C97-52BD23F93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1E7658E-A0A5-50EF-EA89-53DA083E02E2}"/>
              </a:ext>
            </a:extLst>
          </p:cNvPr>
          <p:cNvSpPr/>
          <p:nvPr/>
        </p:nvSpPr>
        <p:spPr>
          <a:xfrm>
            <a:off x="0" y="6667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26EDD2A7-248C-AFBE-B864-9EB8CB6C05AA}"/>
              </a:ext>
            </a:extLst>
          </p:cNvPr>
          <p:cNvSpPr/>
          <p:nvPr/>
        </p:nvSpPr>
        <p:spPr>
          <a:xfrm>
            <a:off x="0" y="96202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A6BC27A-18E2-9CCC-7AFE-C5582928971B}"/>
              </a:ext>
            </a:extLst>
          </p:cNvPr>
          <p:cNvSpPr txBox="1"/>
          <p:nvPr/>
        </p:nvSpPr>
        <p:spPr>
          <a:xfrm>
            <a:off x="609600" y="683078"/>
            <a:ext cx="162306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6600" b="1" dirty="0">
                <a:solidFill>
                  <a:schemeClr val="bg1"/>
                </a:solidFill>
              </a:rPr>
              <a:t>Comparison with </a:t>
            </a:r>
            <a:r>
              <a:rPr lang="en-US" sz="6600" b="1" dirty="0" err="1">
                <a:solidFill>
                  <a:schemeClr val="bg1"/>
                </a:solidFill>
              </a:rPr>
              <a:t>BraTS</a:t>
            </a:r>
            <a:r>
              <a:rPr lang="en-US" sz="6600" b="1" dirty="0">
                <a:solidFill>
                  <a:schemeClr val="bg1"/>
                </a:solidFill>
              </a:rPr>
              <a:t> 2023 Benchmark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6C0DD1F-2722-975A-77C9-97C7B31FE2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663596"/>
              </p:ext>
            </p:extLst>
          </p:nvPr>
        </p:nvGraphicFramePr>
        <p:xfrm>
          <a:off x="2362200" y="3348018"/>
          <a:ext cx="12192000" cy="4462477"/>
        </p:xfrm>
        <a:graphic>
          <a:graphicData uri="http://schemas.openxmlformats.org/drawingml/2006/table">
            <a:tbl>
              <a:tblPr/>
              <a:tblGrid>
                <a:gridCol w="2212448">
                  <a:extLst>
                    <a:ext uri="{9D8B030D-6E8A-4147-A177-3AD203B41FA5}">
                      <a16:colId xmlns:a16="http://schemas.microsoft.com/office/drawing/2014/main" val="2742066421"/>
                    </a:ext>
                  </a:extLst>
                </a:gridCol>
                <a:gridCol w="2494888">
                  <a:extLst>
                    <a:ext uri="{9D8B030D-6E8A-4147-A177-3AD203B41FA5}">
                      <a16:colId xmlns:a16="http://schemas.microsoft.com/office/drawing/2014/main" val="1392731005"/>
                    </a:ext>
                  </a:extLst>
                </a:gridCol>
                <a:gridCol w="2494888">
                  <a:extLst>
                    <a:ext uri="{9D8B030D-6E8A-4147-A177-3AD203B41FA5}">
                      <a16:colId xmlns:a16="http://schemas.microsoft.com/office/drawing/2014/main" val="2512041821"/>
                    </a:ext>
                  </a:extLst>
                </a:gridCol>
                <a:gridCol w="2494888">
                  <a:extLst>
                    <a:ext uri="{9D8B030D-6E8A-4147-A177-3AD203B41FA5}">
                      <a16:colId xmlns:a16="http://schemas.microsoft.com/office/drawing/2014/main" val="3951692768"/>
                    </a:ext>
                  </a:extLst>
                </a:gridCol>
                <a:gridCol w="2494888">
                  <a:extLst>
                    <a:ext uri="{9D8B030D-6E8A-4147-A177-3AD203B41FA5}">
                      <a16:colId xmlns:a16="http://schemas.microsoft.com/office/drawing/2014/main" val="2681727703"/>
                    </a:ext>
                  </a:extLst>
                </a:gridCol>
              </a:tblGrid>
              <a:tr h="1282321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Metric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Our Model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BraTS 2023 Avg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Top Method (nnUNet)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Gap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5535211"/>
                  </a:ext>
                </a:extLst>
              </a:tr>
              <a:tr h="795039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WT Dice</a:t>
                      </a:r>
                      <a:endParaRPr lang="en-IN" b="0" dirty="0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0.8725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0.860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0.910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+1.5%</a:t>
                      </a:r>
                      <a:endParaRPr lang="en-IN" b="0" dirty="0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5986718"/>
                  </a:ext>
                </a:extLst>
              </a:tr>
              <a:tr h="795039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TC Dice</a:t>
                      </a:r>
                      <a:endParaRPr lang="en-IN" b="0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0.8033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0.810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0.867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-0.8%</a:t>
                      </a:r>
                      <a:endParaRPr lang="en-IN" b="0" dirty="0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310975"/>
                  </a:ext>
                </a:extLst>
              </a:tr>
              <a:tr h="795039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ET Dice</a:t>
                      </a:r>
                      <a:endParaRPr lang="en-IN" b="0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0.6679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0.780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0.850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-14.4%</a:t>
                      </a:r>
                      <a:endParaRPr lang="en-IN" b="0" dirty="0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898747"/>
                  </a:ext>
                </a:extLst>
              </a:tr>
              <a:tr h="795039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Mean Dice</a:t>
                      </a:r>
                      <a:endParaRPr lang="en-IN" b="0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0.7812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0.817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0.876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-4.4%</a:t>
                      </a:r>
                      <a:endParaRPr lang="en-IN" b="0" dirty="0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3262698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C8AC6ECD-40DB-14A1-5607-2F00EC6C1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240" y="2286560"/>
            <a:ext cx="10668000" cy="461665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quote-cjk-patch"/>
              </a:rPr>
              <a:t>Performance vs State-of-the-Art: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584210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6667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0" y="96202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2072250" y="841419"/>
            <a:ext cx="10963031" cy="1015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IN" sz="6600" b="1" dirty="0">
                <a:solidFill>
                  <a:schemeClr val="bg1"/>
                </a:solidFill>
              </a:rPr>
              <a:t>Limitations Identified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072250" y="2247900"/>
            <a:ext cx="11203296" cy="6590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</a:rPr>
              <a:t>Technical Limitations:</a:t>
            </a:r>
            <a:endParaRPr lang="en-US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</a:rPr>
              <a:t>Computational Constraints:</a:t>
            </a:r>
            <a:r>
              <a:rPr lang="en-US" sz="2400" dirty="0">
                <a:solidFill>
                  <a:schemeClr val="bg1"/>
                </a:solidFill>
              </a:rPr>
              <a:t> Limited by GPU memory (batch size = 2)</a:t>
            </a:r>
          </a:p>
          <a:p>
            <a:pPr lvl="2"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</a:rPr>
              <a:t>Model Capacity:</a:t>
            </a:r>
            <a:r>
              <a:rPr lang="en-US" sz="2400" dirty="0">
                <a:solidFill>
                  <a:schemeClr val="bg1"/>
                </a:solidFill>
              </a:rPr>
              <a:t> Could benefit from larger architecture</a:t>
            </a:r>
          </a:p>
          <a:p>
            <a:pPr lvl="2"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</a:rPr>
              <a:t>Training Time:</a:t>
            </a:r>
            <a:r>
              <a:rPr lang="en-US" sz="2400" dirty="0">
                <a:solidFill>
                  <a:schemeClr val="bg1"/>
                </a:solidFill>
              </a:rPr>
              <a:t> 93 epochs required for convergence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</a:rPr>
              <a:t>Performance Limitations:</a:t>
            </a:r>
            <a:endParaRPr lang="en-US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</a:rPr>
              <a:t>Enhancing Tumor Challenge:</a:t>
            </a:r>
            <a:r>
              <a:rPr lang="en-US" sz="2400" dirty="0">
                <a:solidFill>
                  <a:schemeClr val="bg1"/>
                </a:solidFill>
              </a:rPr>
              <a:t> Lowest and most variable Dice scores</a:t>
            </a:r>
          </a:p>
          <a:p>
            <a:pPr lvl="2"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</a:rPr>
              <a:t>Small Tumor Detection:</a:t>
            </a:r>
            <a:r>
              <a:rPr lang="en-US" sz="2400" dirty="0">
                <a:solidFill>
                  <a:schemeClr val="bg1"/>
                </a:solidFill>
              </a:rPr>
              <a:t> Difficulty with tiny enhancing regions</a:t>
            </a:r>
          </a:p>
          <a:p>
            <a:pPr lvl="2"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</a:rPr>
              <a:t>Boundary Precision:</a:t>
            </a:r>
            <a:r>
              <a:rPr lang="en-US" sz="2400" dirty="0">
                <a:solidFill>
                  <a:schemeClr val="bg1"/>
                </a:solidFill>
              </a:rPr>
              <a:t> Some blurring at tumor edges</a:t>
            </a:r>
          </a:p>
          <a:p>
            <a:pPr lvl="2"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</a:rPr>
              <a:t>Generalization:</a:t>
            </a:r>
            <a:r>
              <a:rPr lang="en-US" sz="2400" dirty="0">
                <a:solidFill>
                  <a:schemeClr val="bg1"/>
                </a:solidFill>
              </a:rPr>
              <a:t> Untested on non-</a:t>
            </a:r>
            <a:r>
              <a:rPr lang="en-US" sz="2400" dirty="0" err="1">
                <a:solidFill>
                  <a:schemeClr val="bg1"/>
                </a:solidFill>
              </a:rPr>
              <a:t>BraTS</a:t>
            </a:r>
            <a:r>
              <a:rPr lang="en-US" sz="2400" dirty="0">
                <a:solidFill>
                  <a:schemeClr val="bg1"/>
                </a:solidFill>
              </a:rPr>
              <a:t> clinical data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</a:rPr>
              <a:t>Methodological Limitations:</a:t>
            </a:r>
            <a:endParaRPr lang="en-US" sz="2400" dirty="0">
              <a:solidFill>
                <a:schemeClr val="bg1"/>
              </a:solidFill>
            </a:endParaRPr>
          </a:p>
          <a:p>
            <a:pPr lvl="2"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</a:rPr>
              <a:t>Class Imbalance:</a:t>
            </a:r>
            <a:r>
              <a:rPr lang="en-US" sz="2400" dirty="0">
                <a:solidFill>
                  <a:schemeClr val="bg1"/>
                </a:solidFill>
              </a:rPr>
              <a:t> Background dominates loss function</a:t>
            </a:r>
          </a:p>
          <a:p>
            <a:pPr lvl="2"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</a:rPr>
              <a:t>Post-processing:</a:t>
            </a:r>
            <a:r>
              <a:rPr lang="en-US" sz="2400" dirty="0">
                <a:solidFill>
                  <a:schemeClr val="bg1"/>
                </a:solidFill>
              </a:rPr>
              <a:t> Simple thresholding may remove valid small regions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6667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0" y="9620250"/>
            <a:ext cx="92964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3814885" y="1870166"/>
            <a:ext cx="10963031" cy="128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</a:pPr>
            <a:r>
              <a:rPr lang="en-US" sz="9600" spc="-192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Future Work &amp; Next Steps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694752" y="5133975"/>
            <a:ext cx="11203296" cy="2143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</a:pPr>
            <a:r>
              <a:rPr lang="en-US" sz="350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-</a:t>
            </a:r>
            <a:r>
              <a:rPr lang="en-US" sz="350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 Try Swin-UNETR, ResU-Net.</a:t>
            </a:r>
          </a:p>
          <a:p>
            <a:pPr marL="0" lvl="0" indent="0" algn="ctr">
              <a:lnSpc>
                <a:spcPts val="4200"/>
              </a:lnSpc>
            </a:pPr>
            <a:r>
              <a:rPr lang="en-US" sz="350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- Post-processing to remove small false positives.</a:t>
            </a:r>
          </a:p>
          <a:p>
            <a:pPr marL="0" lvl="0" indent="0" algn="ctr">
              <a:lnSpc>
                <a:spcPts val="4200"/>
              </a:lnSpc>
            </a:pPr>
            <a:r>
              <a:rPr lang="en-US" sz="350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- Ensemble models.</a:t>
            </a:r>
          </a:p>
          <a:p>
            <a:pPr marL="0" lvl="0" indent="0" algn="ctr">
              <a:lnSpc>
                <a:spcPts val="4200"/>
              </a:lnSpc>
            </a:pPr>
            <a:r>
              <a:rPr lang="en-US" sz="350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- Deploy on Hugging Face / Streamlit.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1762125"/>
            <a:ext cx="6886575" cy="13207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999"/>
              </a:lnSpc>
            </a:pPr>
            <a:r>
              <a:rPr lang="en-US" sz="9999" b="1" spc="-199">
                <a:solidFill>
                  <a:srgbClr val="FFFFFF"/>
                </a:solidFill>
                <a:latin typeface="Noto Serif Display ExtraCondensed Bold"/>
                <a:ea typeface="Noto Serif Display ExtraCondensed Bold"/>
                <a:cs typeface="Noto Serif Display ExtraCondensed Bold"/>
                <a:sym typeface="Noto Serif Display ExtraCondensed Bold"/>
              </a:rPr>
              <a:t>Conclusion</a:t>
            </a:r>
          </a:p>
        </p:txBody>
      </p:sp>
      <p:sp>
        <p:nvSpPr>
          <p:cNvPr id="3" name="AutoShape 3"/>
          <p:cNvSpPr/>
          <p:nvPr/>
        </p:nvSpPr>
        <p:spPr>
          <a:xfrm>
            <a:off x="0" y="676275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0" y="9620250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/>
          <p:cNvSpPr txBox="1"/>
          <p:nvPr/>
        </p:nvSpPr>
        <p:spPr>
          <a:xfrm>
            <a:off x="2174592" y="3800475"/>
            <a:ext cx="14008383" cy="458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- 3D </a:t>
            </a:r>
            <a:r>
              <a:rPr lang="en-US" sz="500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Attention U-Net works well for brain tumor segmentation.</a:t>
            </a:r>
          </a:p>
          <a:p>
            <a:pPr marL="0" lvl="0" indent="0" algn="l">
              <a:lnSpc>
                <a:spcPts val="6000"/>
              </a:lnSpc>
            </a:pPr>
            <a:r>
              <a:rPr lang="en-US" sz="500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- Dice score shows strong overlap; model generalizes well.</a:t>
            </a:r>
          </a:p>
          <a:p>
            <a:pPr marL="0" lvl="0" indent="0" algn="l">
              <a:lnSpc>
                <a:spcPts val="6000"/>
              </a:lnSpc>
            </a:pPr>
            <a:r>
              <a:rPr lang="en-US" sz="5000" u="none" strike="noStrike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- Patch-based method offers faster, balanced training alternative.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1743920"/>
            <a:ext cx="5448300" cy="128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</a:pPr>
            <a:r>
              <a:rPr lang="en-US" sz="9600" spc="-192">
                <a:solidFill>
                  <a:srgbClr val="FFFFFF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References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858125" y="2457450"/>
            <a:ext cx="4010025" cy="125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</a:pPr>
            <a:r>
              <a:rPr lang="en-US" sz="2799" b="1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Br</a:t>
            </a:r>
            <a:r>
              <a:rPr lang="en-US" sz="2799" b="1" u="none" strike="noStrike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aTS 2023 Challenge: https://www.med.upenn.edu/cbica/brats2023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3611225" y="2457450"/>
            <a:ext cx="4010025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</a:pPr>
            <a:r>
              <a:rPr lang="en-US" sz="2799" b="1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MONAI Framew</a:t>
            </a:r>
            <a:r>
              <a:rPr lang="en-US" sz="2799" b="1" u="none" strike="noStrike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ork: https://monai.io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611225" y="5076825"/>
            <a:ext cx="4010025" cy="125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</a:pPr>
            <a:r>
              <a:rPr lang="en-US" sz="2799" b="1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Data</a:t>
            </a:r>
            <a:r>
              <a:rPr lang="en-US" sz="2799" b="1" u="none" strike="noStrike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set Citations: Menze et al., IEEE TMI 2015 – BRATS Benchmark.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858125" y="5143500"/>
            <a:ext cx="4010025" cy="125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</a:pPr>
            <a:r>
              <a:rPr lang="en-US" sz="2799" b="1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Papers: U-Net (2015), Attention U-Ne</a:t>
            </a:r>
            <a:r>
              <a:rPr lang="en-US" sz="2799" b="1" u="none" strike="noStrike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t</a:t>
            </a:r>
            <a:r>
              <a:rPr lang="en-US" sz="2799" b="1" strike="noStrike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 (2018), V-N</a:t>
            </a:r>
            <a:r>
              <a:rPr lang="en-US" sz="2799" b="1" u="none" strike="noStrike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e</a:t>
            </a:r>
            <a:r>
              <a:rPr lang="en-US" sz="2799" b="1" strike="noStrike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t (2016).</a:t>
            </a:r>
          </a:p>
        </p:txBody>
      </p:sp>
      <p:sp>
        <p:nvSpPr>
          <p:cNvPr id="7" name="AutoShape 7"/>
          <p:cNvSpPr/>
          <p:nvPr/>
        </p:nvSpPr>
        <p:spPr>
          <a:xfrm>
            <a:off x="0" y="666750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AutoShape 8"/>
          <p:cNvSpPr/>
          <p:nvPr/>
        </p:nvSpPr>
        <p:spPr>
          <a:xfrm>
            <a:off x="0" y="9620250"/>
            <a:ext cx="182880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/>
          <p:cNvSpPr txBox="1"/>
          <p:nvPr/>
        </p:nvSpPr>
        <p:spPr>
          <a:xfrm>
            <a:off x="7858125" y="7377112"/>
            <a:ext cx="4010025" cy="167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</a:pPr>
            <a:r>
              <a:rPr lang="en-US" sz="2799" b="1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Kaggle Implementation: https://www.kaggle.com/code/siddhantbapna/attention-b</a:t>
            </a:r>
            <a:r>
              <a:rPr lang="en-US" sz="2799" b="1" strike="noStrike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tsb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611225" y="7377112"/>
            <a:ext cx="4010025" cy="125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</a:pPr>
            <a:r>
              <a:rPr lang="en-US" sz="2799" b="1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Tools Used: PyTorch 1.13, NumPy, Matplotlib</a:t>
            </a:r>
            <a:r>
              <a:rPr lang="en-US" sz="2799" b="1" strike="noStrike">
                <a:solidFill>
                  <a:srgbClr val="FFFFFF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, MONAI Transforms.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1880</Words>
  <Application>Microsoft Office PowerPoint</Application>
  <PresentationFormat>Custom</PresentationFormat>
  <Paragraphs>283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quote-cjk-patch</vt:lpstr>
      <vt:lpstr>Noto Serif Display ExtraCondensed Bold</vt:lpstr>
      <vt:lpstr>Calibri</vt:lpstr>
      <vt:lpstr>Arial</vt:lpstr>
      <vt:lpstr>HK Grotesk Semi-Bold</vt:lpstr>
      <vt:lpstr>HK Grotesk</vt:lpstr>
      <vt:lpstr>Noto Serif Display ExtraCondensed Light</vt:lpstr>
      <vt:lpstr>HK Grotesk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- Brain Tumor Segmentation</dc:title>
  <dc:description>Presentation - Brain Tumor Segmentation</dc:description>
  <cp:lastModifiedBy>gaurav yadav</cp:lastModifiedBy>
  <cp:revision>2</cp:revision>
  <dcterms:created xsi:type="dcterms:W3CDTF">2006-08-16T00:00:00Z</dcterms:created>
  <dcterms:modified xsi:type="dcterms:W3CDTF">2025-11-18T17:52:36Z</dcterms:modified>
  <dc:identifier>DAG3k7TSbmc</dc:identifier>
</cp:coreProperties>
</file>