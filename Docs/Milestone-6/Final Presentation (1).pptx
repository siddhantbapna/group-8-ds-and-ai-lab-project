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33"/>
  </p:notesMasterIdLst>
  <p:sldIdLst>
    <p:sldId id="256" r:id="rId2"/>
    <p:sldId id="257" r:id="rId3"/>
    <p:sldId id="280" r:id="rId4"/>
    <p:sldId id="258" r:id="rId5"/>
    <p:sldId id="259" r:id="rId6"/>
    <p:sldId id="281" r:id="rId7"/>
    <p:sldId id="272" r:id="rId8"/>
    <p:sldId id="283" r:id="rId9"/>
    <p:sldId id="260" r:id="rId10"/>
    <p:sldId id="282" r:id="rId11"/>
    <p:sldId id="261" r:id="rId12"/>
    <p:sldId id="284" r:id="rId13"/>
    <p:sldId id="262" r:id="rId14"/>
    <p:sldId id="263" r:id="rId15"/>
    <p:sldId id="273" r:id="rId16"/>
    <p:sldId id="264" r:id="rId17"/>
    <p:sldId id="265" r:id="rId18"/>
    <p:sldId id="266" r:id="rId19"/>
    <p:sldId id="267" r:id="rId20"/>
    <p:sldId id="274" r:id="rId21"/>
    <p:sldId id="275" r:id="rId22"/>
    <p:sldId id="276" r:id="rId23"/>
    <p:sldId id="278" r:id="rId24"/>
    <p:sldId id="277" r:id="rId25"/>
    <p:sldId id="279" r:id="rId26"/>
    <p:sldId id="268" r:id="rId27"/>
    <p:sldId id="269" r:id="rId28"/>
    <p:sldId id="286" r:id="rId29"/>
    <p:sldId id="285" r:id="rId30"/>
    <p:sldId id="270" r:id="rId31"/>
    <p:sldId id="271" r:id="rId32"/>
  </p:sldIdLst>
  <p:sldSz cx="18288000" cy="10287000"/>
  <p:notesSz cx="6858000" cy="9144000"/>
  <p:embeddedFontLst>
    <p:embeddedFont>
      <p:font typeface="HK Grotesk" panose="020B0604020202020204" charset="0"/>
      <p:regular r:id="rId34"/>
    </p:embeddedFont>
    <p:embeddedFont>
      <p:font typeface="HK Grotesk Bold" panose="020B0604020202020204" charset="0"/>
      <p:regular r:id="rId35"/>
    </p:embeddedFont>
    <p:embeddedFont>
      <p:font typeface="HK Grotesk Semi-Bold" panose="020B0604020202020204" charset="0"/>
      <p:regular r:id="rId36"/>
    </p:embeddedFont>
    <p:embeddedFont>
      <p:font typeface="Noto Serif Display ExtraCondensed Bold" panose="020B0604020202020204"/>
      <p:regular r:id="rId37"/>
    </p:embeddedFont>
    <p:embeddedFont>
      <p:font typeface="Noto Serif Display ExtraCondensed Light" panose="020B0604020202020204"/>
      <p:regular r:id="rId3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60" d="100"/>
          <a:sy n="60" d="100"/>
        </p:scale>
        <p:origin x="370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font" Target="fonts/font1.fntdata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4.fntdata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2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9409F1-B03E-4B2A-BE86-68EFCC668E0E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71AC23-F94C-48CF-A2FC-FB7EF24E48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27183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71AC23-F94C-48CF-A2FC-FB7EF24E4803}" type="slidenum">
              <a:rPr lang="en-IN" smtClean="0"/>
              <a:t>28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44232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66750" y="1638300"/>
            <a:ext cx="6886575" cy="15252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899"/>
              </a:lnSpc>
            </a:pPr>
            <a:r>
              <a:rPr lang="en-US" sz="3899" b="1" u="none" dirty="0">
                <a:solidFill>
                  <a:schemeClr val="accent6">
                    <a:lumMod val="75000"/>
                  </a:schemeClr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ORCA: Automated Brain Tumor Segmentation Using Deep Learning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2496800" y="2070735"/>
            <a:ext cx="4572001" cy="10770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3499" b="1" dirty="0">
                <a:solidFill>
                  <a:schemeClr val="accent1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Group-8</a:t>
            </a:r>
          </a:p>
          <a:p>
            <a:pPr marL="0" lvl="0" indent="0" algn="l">
              <a:lnSpc>
                <a:spcPts val="4199"/>
              </a:lnSpc>
              <a:spcBef>
                <a:spcPct val="0"/>
              </a:spcBef>
            </a:pPr>
            <a:r>
              <a:rPr lang="en-US" sz="3499" b="1" dirty="0">
                <a:solidFill>
                  <a:schemeClr val="accent1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DSAI Lab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66750" y="5749290"/>
            <a:ext cx="6886575" cy="30836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6000"/>
              </a:lnSpc>
            </a:pPr>
            <a:r>
              <a:rPr lang="en-US" sz="6000" spc="-120" dirty="0">
                <a:solidFill>
                  <a:schemeClr val="accent6">
                    <a:lumMod val="60000"/>
                    <a:lumOff val="40000"/>
                  </a:schemeClr>
                </a:solidFill>
                <a:latin typeface="Noto Serif Display ExtraCondensed Light"/>
                <a:ea typeface="Noto Serif Display ExtraCondensed Light"/>
                <a:cs typeface="Noto Serif Display ExtraCondensed Light"/>
                <a:sym typeface="Noto Serif Display ExtraCondensed Light"/>
              </a:rPr>
              <a:t>3D Attention U-Net with MRI-based Semantic Segmentation</a:t>
            </a:r>
          </a:p>
        </p:txBody>
      </p:sp>
      <p:sp>
        <p:nvSpPr>
          <p:cNvPr id="5" name="AutoShape 5"/>
          <p:cNvSpPr/>
          <p:nvPr/>
        </p:nvSpPr>
        <p:spPr>
          <a:xfrm>
            <a:off x="0" y="676275"/>
            <a:ext cx="9296400" cy="0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TextBox 6"/>
          <p:cNvSpPr txBox="1"/>
          <p:nvPr/>
        </p:nvSpPr>
        <p:spPr>
          <a:xfrm>
            <a:off x="9296400" y="3733011"/>
            <a:ext cx="8178712" cy="25255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99"/>
              </a:lnSpc>
            </a:pPr>
            <a:r>
              <a:rPr lang="en-US" sz="3899" dirty="0">
                <a:solidFill>
                  <a:schemeClr val="accent1"/>
                </a:solidFill>
                <a:latin typeface="HK Grotesk"/>
                <a:ea typeface="HK Grotesk"/>
                <a:cs typeface="HK Grotesk"/>
                <a:sym typeface="HK Grotesk"/>
              </a:rPr>
              <a:t>Siddhant Bapna               23F2004494</a:t>
            </a:r>
          </a:p>
          <a:p>
            <a:pPr algn="l">
              <a:lnSpc>
                <a:spcPts val="3899"/>
              </a:lnSpc>
            </a:pPr>
            <a:r>
              <a:rPr lang="en-US" sz="3899" dirty="0">
                <a:solidFill>
                  <a:schemeClr val="accent1"/>
                </a:solidFill>
                <a:latin typeface="HK Grotesk"/>
                <a:ea typeface="HK Grotesk"/>
                <a:cs typeface="HK Grotesk"/>
                <a:sym typeface="HK Grotesk"/>
              </a:rPr>
              <a:t>Saurabh Yadav                23F1003171</a:t>
            </a:r>
          </a:p>
          <a:p>
            <a:pPr algn="l">
              <a:lnSpc>
                <a:spcPts val="3899"/>
              </a:lnSpc>
            </a:pPr>
            <a:r>
              <a:rPr lang="en-US" sz="3899" dirty="0">
                <a:solidFill>
                  <a:schemeClr val="accent1"/>
                </a:solidFill>
                <a:latin typeface="HK Grotesk"/>
                <a:ea typeface="HK Grotesk"/>
                <a:cs typeface="HK Grotesk"/>
                <a:sym typeface="HK Grotesk"/>
              </a:rPr>
              <a:t>Hardik                              23F1002590</a:t>
            </a:r>
          </a:p>
          <a:p>
            <a:pPr algn="l">
              <a:lnSpc>
                <a:spcPts val="3899"/>
              </a:lnSpc>
            </a:pPr>
            <a:r>
              <a:rPr lang="en-US" sz="3899" dirty="0" err="1">
                <a:solidFill>
                  <a:schemeClr val="accent1"/>
                </a:solidFill>
                <a:latin typeface="HK Grotesk"/>
                <a:ea typeface="HK Grotesk"/>
                <a:cs typeface="HK Grotesk"/>
                <a:sym typeface="HK Grotesk"/>
              </a:rPr>
              <a:t>Ravineel</a:t>
            </a:r>
            <a:r>
              <a:rPr lang="en-US" sz="3899" dirty="0">
                <a:solidFill>
                  <a:schemeClr val="accent1"/>
                </a:solidFill>
                <a:latin typeface="HK Grotesk"/>
                <a:ea typeface="HK Grotesk"/>
                <a:cs typeface="HK Grotesk"/>
                <a:sym typeface="HK Grotesk"/>
              </a:rPr>
              <a:t> Singhi                21F1003185</a:t>
            </a:r>
          </a:p>
          <a:p>
            <a:pPr marL="0" lvl="0" indent="0" algn="l">
              <a:lnSpc>
                <a:spcPts val="3899"/>
              </a:lnSpc>
            </a:pPr>
            <a:r>
              <a:rPr lang="en-US" sz="3899" dirty="0" err="1">
                <a:solidFill>
                  <a:schemeClr val="accent1"/>
                </a:solidFill>
                <a:latin typeface="HK Grotesk"/>
                <a:ea typeface="HK Grotesk"/>
                <a:cs typeface="HK Grotesk"/>
                <a:sym typeface="HK Grotesk"/>
              </a:rPr>
              <a:t>Ajsal</a:t>
            </a:r>
            <a:r>
              <a:rPr lang="en-US" sz="3899" dirty="0">
                <a:solidFill>
                  <a:schemeClr val="accent1"/>
                </a:solidFill>
                <a:latin typeface="HK Grotesk"/>
                <a:ea typeface="HK Grotesk"/>
                <a:cs typeface="HK Grotesk"/>
                <a:sym typeface="HK Grotesk"/>
              </a:rPr>
              <a:t>                                 21F3002985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62000" y="190500"/>
            <a:ext cx="13608050" cy="3280408"/>
            <a:chOff x="0" y="-1147234"/>
            <a:chExt cx="18144067" cy="4373877"/>
          </a:xfrm>
        </p:grpSpPr>
        <p:sp>
          <p:nvSpPr>
            <p:cNvPr id="3" name="TextBox 3"/>
            <p:cNvSpPr txBox="1"/>
            <p:nvPr/>
          </p:nvSpPr>
          <p:spPr>
            <a:xfrm>
              <a:off x="1075267" y="-1147234"/>
              <a:ext cx="17068800" cy="3432735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ts val="9999"/>
                </a:lnSpc>
              </a:pPr>
              <a:r>
                <a:rPr lang="en-IN" sz="9600" b="1" dirty="0">
                  <a:solidFill>
                    <a:schemeClr val="accent1"/>
                  </a:solidFill>
                </a:rPr>
                <a:t>Problem Statement</a:t>
              </a:r>
            </a:p>
            <a:p>
              <a:pPr marL="0" lvl="0" indent="0" algn="l">
                <a:lnSpc>
                  <a:spcPts val="9999"/>
                </a:lnSpc>
              </a:pPr>
              <a:endParaRPr lang="en-US" sz="9999" spc="-199" dirty="0">
                <a:solidFill>
                  <a:schemeClr val="accent1"/>
                </a:solidFill>
                <a:latin typeface="Noto Serif Display ExtraCondensed Light"/>
                <a:ea typeface="Noto Serif Display ExtraCondensed Light"/>
                <a:cs typeface="Noto Serif Display ExtraCondensed Light"/>
                <a:sym typeface="Noto Serif Display ExtraCondensed Light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2667843"/>
              <a:ext cx="9182100" cy="5588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59"/>
                </a:lnSpc>
              </a:pPr>
              <a:endParaRPr/>
            </a:p>
          </p:txBody>
        </p:sp>
      </p:grpSp>
      <p:sp>
        <p:nvSpPr>
          <p:cNvPr id="5" name="AutoShape 5"/>
          <p:cNvSpPr/>
          <p:nvPr/>
        </p:nvSpPr>
        <p:spPr>
          <a:xfrm>
            <a:off x="0" y="1257300"/>
            <a:ext cx="18288000" cy="0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AutoShape 6"/>
          <p:cNvSpPr/>
          <p:nvPr/>
        </p:nvSpPr>
        <p:spPr>
          <a:xfrm>
            <a:off x="0" y="9620250"/>
            <a:ext cx="18288000" cy="0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TextBox 7"/>
          <p:cNvSpPr txBox="1"/>
          <p:nvPr/>
        </p:nvSpPr>
        <p:spPr>
          <a:xfrm>
            <a:off x="1568450" y="1962076"/>
            <a:ext cx="15487650" cy="544456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IN" sz="4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Current Clinical Challenges:</a:t>
            </a:r>
            <a:endParaRPr lang="en-IN" sz="4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4000" dirty="0">
                <a:solidFill>
                  <a:schemeClr val="bg1"/>
                </a:solidFill>
              </a:rPr>
              <a:t>Manual segmentation of brain </a:t>
            </a:r>
            <a:r>
              <a:rPr lang="en-IN" sz="4000" dirty="0" err="1">
                <a:solidFill>
                  <a:schemeClr val="bg1"/>
                </a:solidFill>
              </a:rPr>
              <a:t>tumors</a:t>
            </a:r>
            <a:r>
              <a:rPr lang="en-IN" sz="4000" dirty="0">
                <a:solidFill>
                  <a:schemeClr val="bg1"/>
                </a:solidFill>
              </a:rPr>
              <a:t> from </a:t>
            </a:r>
            <a:r>
              <a:rPr lang="en-IN" sz="4000" dirty="0" err="1">
                <a:solidFill>
                  <a:schemeClr val="bg1"/>
                </a:solidFill>
              </a:rPr>
              <a:t>mpMRI</a:t>
            </a:r>
            <a:r>
              <a:rPr lang="en-IN" sz="4000" dirty="0">
                <a:solidFill>
                  <a:schemeClr val="bg1"/>
                </a:solidFill>
              </a:rPr>
              <a:t> scans is extremely time-consuming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4000" dirty="0">
                <a:solidFill>
                  <a:schemeClr val="bg1"/>
                </a:solidFill>
              </a:rPr>
              <a:t>Process takes hours per patient for expert radiologists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4000" dirty="0">
                <a:solidFill>
                  <a:schemeClr val="bg1"/>
                </a:solidFill>
              </a:rPr>
              <a:t>Significant inter-observer variability leads to inconsistencies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4000" dirty="0">
                <a:solidFill>
                  <a:schemeClr val="bg1"/>
                </a:solidFill>
              </a:rPr>
              <a:t>Impacts diagnosis, surgical planning, and treatment monitoring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34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DED10F9-A03C-7B9E-B09B-445EBA05B4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E0F3DE29-4117-41C0-5063-CAFD2CF84922}"/>
              </a:ext>
            </a:extLst>
          </p:cNvPr>
          <p:cNvGrpSpPr/>
          <p:nvPr/>
        </p:nvGrpSpPr>
        <p:grpSpPr>
          <a:xfrm>
            <a:off x="762000" y="190500"/>
            <a:ext cx="13608050" cy="3280408"/>
            <a:chOff x="0" y="-1147234"/>
            <a:chExt cx="18144067" cy="4373877"/>
          </a:xfrm>
        </p:grpSpPr>
        <p:sp>
          <p:nvSpPr>
            <p:cNvPr id="3" name="TextBox 3">
              <a:extLst>
                <a:ext uri="{FF2B5EF4-FFF2-40B4-BE49-F238E27FC236}">
                  <a16:creationId xmlns:a16="http://schemas.microsoft.com/office/drawing/2014/main" id="{D2BD5023-349D-76BC-00CC-343A73378081}"/>
                </a:ext>
              </a:extLst>
            </p:cNvPr>
            <p:cNvSpPr txBox="1"/>
            <p:nvPr/>
          </p:nvSpPr>
          <p:spPr>
            <a:xfrm>
              <a:off x="1075267" y="-1147234"/>
              <a:ext cx="17068800" cy="3432735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ts val="9999"/>
                </a:lnSpc>
              </a:pPr>
              <a:r>
                <a:rPr lang="en-IN" sz="9600" b="1" dirty="0">
                  <a:solidFill>
                    <a:schemeClr val="accent1"/>
                  </a:solidFill>
                </a:rPr>
                <a:t>Problem Statement</a:t>
              </a:r>
            </a:p>
            <a:p>
              <a:pPr marL="0" lvl="0" indent="0" algn="l">
                <a:lnSpc>
                  <a:spcPts val="9999"/>
                </a:lnSpc>
              </a:pPr>
              <a:endParaRPr lang="en-US" sz="9999" spc="-199" dirty="0">
                <a:solidFill>
                  <a:schemeClr val="accent1"/>
                </a:solidFill>
                <a:latin typeface="Noto Serif Display ExtraCondensed Light"/>
                <a:ea typeface="Noto Serif Display ExtraCondensed Light"/>
                <a:cs typeface="Noto Serif Display ExtraCondensed Light"/>
                <a:sym typeface="Noto Serif Display ExtraCondensed Light"/>
              </a:endParaRPr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32A466F6-C83A-D45A-05C9-7F89E16B6AD3}"/>
                </a:ext>
              </a:extLst>
            </p:cNvPr>
            <p:cNvSpPr txBox="1"/>
            <p:nvPr/>
          </p:nvSpPr>
          <p:spPr>
            <a:xfrm>
              <a:off x="0" y="2667843"/>
              <a:ext cx="9182100" cy="5588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59"/>
                </a:lnSpc>
              </a:pPr>
              <a:endParaRPr/>
            </a:p>
          </p:txBody>
        </p:sp>
      </p:grpSp>
      <p:sp>
        <p:nvSpPr>
          <p:cNvPr id="5" name="AutoShape 5">
            <a:extLst>
              <a:ext uri="{FF2B5EF4-FFF2-40B4-BE49-F238E27FC236}">
                <a16:creationId xmlns:a16="http://schemas.microsoft.com/office/drawing/2014/main" id="{F2202366-3D7E-EAE4-EA46-BD5ECB9997F8}"/>
              </a:ext>
            </a:extLst>
          </p:cNvPr>
          <p:cNvSpPr/>
          <p:nvPr/>
        </p:nvSpPr>
        <p:spPr>
          <a:xfrm>
            <a:off x="0" y="1257300"/>
            <a:ext cx="18288000" cy="0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AutoShape 6">
            <a:extLst>
              <a:ext uri="{FF2B5EF4-FFF2-40B4-BE49-F238E27FC236}">
                <a16:creationId xmlns:a16="http://schemas.microsoft.com/office/drawing/2014/main" id="{A679D17D-CB40-567F-5537-E4E6C65FF04A}"/>
              </a:ext>
            </a:extLst>
          </p:cNvPr>
          <p:cNvSpPr/>
          <p:nvPr/>
        </p:nvSpPr>
        <p:spPr>
          <a:xfrm>
            <a:off x="0" y="9620250"/>
            <a:ext cx="18288000" cy="0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AD5D54D4-0054-94EF-5999-55BD57A757E2}"/>
              </a:ext>
            </a:extLst>
          </p:cNvPr>
          <p:cNvSpPr txBox="1"/>
          <p:nvPr/>
        </p:nvSpPr>
        <p:spPr>
          <a:xfrm>
            <a:off x="1581150" y="2422311"/>
            <a:ext cx="15563850" cy="45212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IN" sz="4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Our Solution:</a:t>
            </a:r>
            <a:endParaRPr lang="en-IN" sz="4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4000" dirty="0">
                <a:solidFill>
                  <a:schemeClr val="bg1"/>
                </a:solidFill>
              </a:rPr>
              <a:t>Automated deep learning system for precise brain </a:t>
            </a:r>
            <a:r>
              <a:rPr lang="en-IN" sz="4000" dirty="0" err="1">
                <a:solidFill>
                  <a:schemeClr val="bg1"/>
                </a:solidFill>
              </a:rPr>
              <a:t>tumor</a:t>
            </a:r>
            <a:r>
              <a:rPr lang="en-IN" sz="4000" dirty="0">
                <a:solidFill>
                  <a:schemeClr val="bg1"/>
                </a:solidFill>
              </a:rPr>
              <a:t> segmentation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4000" dirty="0">
                <a:solidFill>
                  <a:schemeClr val="bg1"/>
                </a:solidFill>
              </a:rPr>
              <a:t>Takes multi-modal MRI scans as input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4000" dirty="0">
                <a:solidFill>
                  <a:schemeClr val="bg1"/>
                </a:solidFill>
              </a:rPr>
              <a:t>Outputs multi-class segmentation masks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4000" dirty="0">
                <a:solidFill>
                  <a:schemeClr val="bg1"/>
                </a:solidFill>
              </a:rPr>
              <a:t>Provides quantitative, objective, and reproducible </a:t>
            </a:r>
            <a:r>
              <a:rPr lang="en-IN" sz="4000" dirty="0" err="1">
                <a:solidFill>
                  <a:schemeClr val="bg1"/>
                </a:solidFill>
              </a:rPr>
              <a:t>tumor</a:t>
            </a:r>
            <a:r>
              <a:rPr lang="en-IN" sz="4000" dirty="0">
                <a:solidFill>
                  <a:schemeClr val="bg1"/>
                </a:solidFill>
              </a:rPr>
              <a:t> assessment</a:t>
            </a:r>
          </a:p>
        </p:txBody>
      </p:sp>
    </p:spTree>
    <p:extLst>
      <p:ext uri="{BB962C8B-B14F-4D97-AF65-F5344CB8AC3E}">
        <p14:creationId xmlns:p14="http://schemas.microsoft.com/office/powerpoint/2010/main" val="27550074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38200" y="331632"/>
            <a:ext cx="16592550" cy="2269963"/>
            <a:chOff x="0" y="200025"/>
            <a:chExt cx="22123400" cy="3026618"/>
          </a:xfrm>
        </p:grpSpPr>
        <p:sp>
          <p:nvSpPr>
            <p:cNvPr id="3" name="TextBox 3"/>
            <p:cNvSpPr txBox="1"/>
            <p:nvPr/>
          </p:nvSpPr>
          <p:spPr>
            <a:xfrm>
              <a:off x="0" y="200025"/>
              <a:ext cx="22123400" cy="135421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r>
                <a:rPr lang="en-IN" sz="6600" b="1" dirty="0">
                  <a:solidFill>
                    <a:schemeClr val="accent1"/>
                  </a:solidFill>
                </a:rPr>
                <a:t>Project Objectives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2667843"/>
              <a:ext cx="22123400" cy="5588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59"/>
                </a:lnSpc>
              </a:pPr>
              <a:endParaRPr/>
            </a:p>
          </p:txBody>
        </p:sp>
      </p:grpSp>
      <p:sp>
        <p:nvSpPr>
          <p:cNvPr id="5" name="AutoShape 5"/>
          <p:cNvSpPr/>
          <p:nvPr/>
        </p:nvSpPr>
        <p:spPr>
          <a:xfrm>
            <a:off x="0" y="1398095"/>
            <a:ext cx="18288000" cy="0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AutoShape 6"/>
          <p:cNvSpPr/>
          <p:nvPr/>
        </p:nvSpPr>
        <p:spPr>
          <a:xfrm>
            <a:off x="0" y="9620250"/>
            <a:ext cx="18288000" cy="0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TextBox 7"/>
          <p:cNvSpPr txBox="1"/>
          <p:nvPr/>
        </p:nvSpPr>
        <p:spPr>
          <a:xfrm>
            <a:off x="895350" y="1448896"/>
            <a:ext cx="14801850" cy="739311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IN" sz="36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Primary Objective:</a:t>
            </a:r>
            <a:endParaRPr lang="en-IN" sz="36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600" dirty="0">
                <a:solidFill>
                  <a:schemeClr val="bg1"/>
                </a:solidFill>
              </a:rPr>
              <a:t>Design, build, and train a deep learning model for automated brain </a:t>
            </a:r>
            <a:r>
              <a:rPr lang="en-IN" sz="3600" dirty="0" err="1">
                <a:solidFill>
                  <a:schemeClr val="bg1"/>
                </a:solidFill>
              </a:rPr>
              <a:t>tumor</a:t>
            </a:r>
            <a:r>
              <a:rPr lang="en-IN" sz="3600" dirty="0">
                <a:solidFill>
                  <a:schemeClr val="bg1"/>
                </a:solidFill>
              </a:rPr>
              <a:t> segmentation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600" dirty="0">
                <a:solidFill>
                  <a:schemeClr val="bg1"/>
                </a:solidFill>
              </a:rPr>
              <a:t>Segment </a:t>
            </a:r>
            <a:r>
              <a:rPr lang="en-IN" sz="3600" dirty="0" err="1">
                <a:solidFill>
                  <a:schemeClr val="bg1"/>
                </a:solidFill>
              </a:rPr>
              <a:t>tumors</a:t>
            </a:r>
            <a:r>
              <a:rPr lang="en-IN" sz="3600" dirty="0">
                <a:solidFill>
                  <a:schemeClr val="bg1"/>
                </a:solidFill>
              </a:rPr>
              <a:t> into three sub-regions: Enhancing </a:t>
            </a:r>
            <a:r>
              <a:rPr lang="en-IN" sz="3600" dirty="0" err="1">
                <a:solidFill>
                  <a:schemeClr val="bg1"/>
                </a:solidFill>
              </a:rPr>
              <a:t>Tumor</a:t>
            </a:r>
            <a:r>
              <a:rPr lang="en-IN" sz="3600" dirty="0">
                <a:solidFill>
                  <a:schemeClr val="bg1"/>
                </a:solidFill>
              </a:rPr>
              <a:t>, </a:t>
            </a:r>
            <a:r>
              <a:rPr lang="en-IN" sz="3600" dirty="0" err="1">
                <a:solidFill>
                  <a:schemeClr val="bg1"/>
                </a:solidFill>
              </a:rPr>
              <a:t>Tumor</a:t>
            </a:r>
            <a:r>
              <a:rPr lang="en-IN" sz="3600" dirty="0">
                <a:solidFill>
                  <a:schemeClr val="bg1"/>
                </a:solidFill>
              </a:rPr>
              <a:t> Core, </a:t>
            </a:r>
            <a:r>
              <a:rPr lang="en-IN" sz="3600" dirty="0" err="1">
                <a:solidFill>
                  <a:schemeClr val="bg1"/>
                </a:solidFill>
              </a:rPr>
              <a:t>Edema</a:t>
            </a:r>
            <a:endParaRPr lang="en-IN" sz="3600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r>
              <a:rPr lang="en-IN" sz="36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Secondary Objectives:</a:t>
            </a:r>
            <a:endParaRPr lang="en-IN" sz="36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600" dirty="0">
                <a:solidFill>
                  <a:schemeClr val="bg1"/>
                </a:solidFill>
              </a:rPr>
              <a:t>Achieve human-expert comparable accuracy (DSC, </a:t>
            </a:r>
            <a:r>
              <a:rPr lang="en-IN" sz="3600" dirty="0" err="1">
                <a:solidFill>
                  <a:schemeClr val="bg1"/>
                </a:solidFill>
              </a:rPr>
              <a:t>IoU</a:t>
            </a:r>
            <a:r>
              <a:rPr lang="en-IN" sz="3600" dirty="0">
                <a:solidFill>
                  <a:schemeClr val="bg1"/>
                </a:solidFill>
              </a:rPr>
              <a:t> metrics)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600" dirty="0">
                <a:solidFill>
                  <a:schemeClr val="bg1"/>
                </a:solidFill>
              </a:rPr>
              <a:t>Develop multi-modal system processing T1, T1ce, T2, FLAIR MRI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600" dirty="0">
                <a:solidFill>
                  <a:schemeClr val="bg1"/>
                </a:solidFill>
              </a:rPr>
              <a:t>Generate quantitative outputs (volume, composition percentages)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98500" y="368704"/>
            <a:ext cx="15516225" cy="13207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999"/>
              </a:lnSpc>
            </a:pPr>
            <a:r>
              <a:rPr lang="en-US" sz="8800" b="1" spc="-199" dirty="0">
                <a:solidFill>
                  <a:schemeClr val="accent1"/>
                </a:solidFill>
                <a:latin typeface="Noto Serif Display ExtraCondensed Light"/>
                <a:ea typeface="Noto Serif Display ExtraCondensed Light"/>
                <a:cs typeface="Noto Serif Display ExtraCondensed Light"/>
                <a:sym typeface="Noto Serif Display ExtraCondensed Light"/>
              </a:rPr>
              <a:t>Literature Review &amp; Existing Work</a:t>
            </a:r>
          </a:p>
        </p:txBody>
      </p:sp>
      <p:sp>
        <p:nvSpPr>
          <p:cNvPr id="3" name="AutoShape 3"/>
          <p:cNvSpPr/>
          <p:nvPr/>
        </p:nvSpPr>
        <p:spPr>
          <a:xfrm>
            <a:off x="-76200" y="1689501"/>
            <a:ext cx="18288000" cy="0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AutoShape 4"/>
          <p:cNvSpPr/>
          <p:nvPr/>
        </p:nvSpPr>
        <p:spPr>
          <a:xfrm>
            <a:off x="0" y="9620250"/>
            <a:ext cx="18288000" cy="0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TextBox 5"/>
          <p:cNvSpPr txBox="1"/>
          <p:nvPr/>
        </p:nvSpPr>
        <p:spPr>
          <a:xfrm>
            <a:off x="1066800" y="2400300"/>
            <a:ext cx="15516225" cy="544456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IN" sz="4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Academic Baselines:</a:t>
            </a:r>
            <a:endParaRPr lang="en-IN" sz="4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4000" b="1" dirty="0" err="1">
                <a:solidFill>
                  <a:schemeClr val="bg1"/>
                </a:solidFill>
              </a:rPr>
              <a:t>DeepMedic</a:t>
            </a:r>
            <a:r>
              <a:rPr lang="en-IN" sz="4000" b="1" dirty="0">
                <a:solidFill>
                  <a:schemeClr val="bg1"/>
                </a:solidFill>
              </a:rPr>
              <a:t>:</a:t>
            </a:r>
            <a:r>
              <a:rPr lang="en-IN" sz="4000" dirty="0">
                <a:solidFill>
                  <a:schemeClr val="bg1"/>
                </a:solidFill>
              </a:rPr>
              <a:t> 3D CNN with multi-scale processing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4000" b="1" dirty="0">
                <a:solidFill>
                  <a:schemeClr val="bg1"/>
                </a:solidFill>
              </a:rPr>
              <a:t>U-Net:</a:t>
            </a:r>
            <a:r>
              <a:rPr lang="en-IN" sz="4000" dirty="0">
                <a:solidFill>
                  <a:schemeClr val="bg1"/>
                </a:solidFill>
              </a:rPr>
              <a:t> De-facto standard for biomedical segmentation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4000" b="1" dirty="0">
                <a:solidFill>
                  <a:schemeClr val="bg1"/>
                </a:solidFill>
              </a:rPr>
              <a:t>3D U-Net/V-Net:</a:t>
            </a:r>
            <a:r>
              <a:rPr lang="en-IN" sz="4000" dirty="0">
                <a:solidFill>
                  <a:schemeClr val="bg1"/>
                </a:solidFill>
              </a:rPr>
              <a:t> Processes entire 3D volumes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4000" b="1" dirty="0">
                <a:solidFill>
                  <a:schemeClr val="bg1"/>
                </a:solidFill>
              </a:rPr>
              <a:t>Attention U-Net:</a:t>
            </a:r>
            <a:r>
              <a:rPr lang="en-IN" sz="4000" dirty="0">
                <a:solidFill>
                  <a:schemeClr val="bg1"/>
                </a:solidFill>
              </a:rPr>
              <a:t> Incorporates attention mechanisms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4000" b="1" dirty="0">
                <a:solidFill>
                  <a:schemeClr val="bg1"/>
                </a:solidFill>
              </a:rPr>
              <a:t>Transformer-based Models:</a:t>
            </a:r>
            <a:r>
              <a:rPr lang="en-IN" sz="4000" dirty="0">
                <a:solidFill>
                  <a:schemeClr val="bg1"/>
                </a:solidFill>
              </a:rPr>
              <a:t> Swin-</a:t>
            </a:r>
            <a:r>
              <a:rPr lang="en-IN" sz="4000" dirty="0" err="1">
                <a:solidFill>
                  <a:schemeClr val="bg1"/>
                </a:solidFill>
              </a:rPr>
              <a:t>Unet</a:t>
            </a:r>
            <a:r>
              <a:rPr lang="en-IN" sz="4000" dirty="0">
                <a:solidFill>
                  <a:schemeClr val="bg1"/>
                </a:solidFill>
              </a:rPr>
              <a:t> for long-range dependencies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34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715CB21-890A-A97A-EF5B-662B01D51E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4DA3A98C-8002-D339-7105-DFC4CE9ADF2E}"/>
              </a:ext>
            </a:extLst>
          </p:cNvPr>
          <p:cNvSpPr txBox="1"/>
          <p:nvPr/>
        </p:nvSpPr>
        <p:spPr>
          <a:xfrm>
            <a:off x="698500" y="368704"/>
            <a:ext cx="15516225" cy="13207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999"/>
              </a:lnSpc>
            </a:pPr>
            <a:r>
              <a:rPr lang="en-US" sz="8800" b="1" spc="-199" dirty="0">
                <a:solidFill>
                  <a:schemeClr val="accent1"/>
                </a:solidFill>
                <a:latin typeface="Noto Serif Display ExtraCondensed Light"/>
                <a:ea typeface="Noto Serif Display ExtraCondensed Light"/>
                <a:cs typeface="Noto Serif Display ExtraCondensed Light"/>
                <a:sym typeface="Noto Serif Display ExtraCondensed Light"/>
              </a:rPr>
              <a:t>Literature Review &amp; Existing Work</a:t>
            </a:r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65ABC8AB-5BF9-2E2D-1CCE-F377057E90E2}"/>
              </a:ext>
            </a:extLst>
          </p:cNvPr>
          <p:cNvSpPr/>
          <p:nvPr/>
        </p:nvSpPr>
        <p:spPr>
          <a:xfrm>
            <a:off x="-76200" y="1689501"/>
            <a:ext cx="18288000" cy="0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F924A56E-D14B-7A62-72C2-D5D9A5CC64F1}"/>
              </a:ext>
            </a:extLst>
          </p:cNvPr>
          <p:cNvSpPr/>
          <p:nvPr/>
        </p:nvSpPr>
        <p:spPr>
          <a:xfrm>
            <a:off x="0" y="9620250"/>
            <a:ext cx="18288000" cy="0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97B9A9A6-C6B3-B419-DE3B-E770A6AFA0DC}"/>
              </a:ext>
            </a:extLst>
          </p:cNvPr>
          <p:cNvSpPr txBox="1"/>
          <p:nvPr/>
        </p:nvSpPr>
        <p:spPr>
          <a:xfrm>
            <a:off x="1066800" y="2400300"/>
            <a:ext cx="15516225" cy="544456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IN" sz="4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Commercial Solutions:</a:t>
            </a:r>
            <a:endParaRPr lang="en-IN" sz="4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4000" b="1" dirty="0" err="1">
                <a:solidFill>
                  <a:schemeClr val="bg1"/>
                </a:solidFill>
              </a:rPr>
              <a:t>Brainlab</a:t>
            </a:r>
            <a:r>
              <a:rPr lang="en-IN" sz="4000" b="1" dirty="0">
                <a:solidFill>
                  <a:schemeClr val="bg1"/>
                </a:solidFill>
              </a:rPr>
              <a:t>:</a:t>
            </a:r>
            <a:r>
              <a:rPr lang="en-IN" sz="4000" dirty="0">
                <a:solidFill>
                  <a:schemeClr val="bg1"/>
                </a:solidFill>
              </a:rPr>
              <a:t> Surgical planning integration (&lt;1 minute processing)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4000" b="1" dirty="0">
                <a:solidFill>
                  <a:schemeClr val="bg1"/>
                </a:solidFill>
              </a:rPr>
              <a:t>Quibim:</a:t>
            </a:r>
            <a:r>
              <a:rPr lang="en-IN" sz="4000" dirty="0">
                <a:solidFill>
                  <a:schemeClr val="bg1"/>
                </a:solidFill>
              </a:rPr>
              <a:t> FDA-cleared volumetry &amp; longitudinal reporting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4000" b="1" dirty="0" err="1">
                <a:solidFill>
                  <a:schemeClr val="bg1"/>
                </a:solidFill>
              </a:rPr>
              <a:t>Brainomix</a:t>
            </a:r>
            <a:r>
              <a:rPr lang="en-IN" sz="4000" b="1" dirty="0">
                <a:solidFill>
                  <a:schemeClr val="bg1"/>
                </a:solidFill>
              </a:rPr>
              <a:t>:</a:t>
            </a:r>
            <a:r>
              <a:rPr lang="en-IN" sz="4000" dirty="0">
                <a:solidFill>
                  <a:schemeClr val="bg1"/>
                </a:solidFill>
              </a:rPr>
              <a:t> Validated biomarker extraction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4000" b="1" dirty="0" err="1">
                <a:solidFill>
                  <a:schemeClr val="bg1"/>
                </a:solidFill>
              </a:rPr>
              <a:t>icometrix</a:t>
            </a:r>
            <a:r>
              <a:rPr lang="en-IN" sz="4000" b="1" dirty="0">
                <a:solidFill>
                  <a:schemeClr val="bg1"/>
                </a:solidFill>
              </a:rPr>
              <a:t>:</a:t>
            </a:r>
            <a:r>
              <a:rPr lang="en-IN" sz="4000" dirty="0">
                <a:solidFill>
                  <a:schemeClr val="bg1"/>
                </a:solidFill>
              </a:rPr>
              <a:t> Longitudinal monitoring and volumetry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4000" b="1" dirty="0">
                <a:solidFill>
                  <a:schemeClr val="bg1"/>
                </a:solidFill>
              </a:rPr>
              <a:t>Siemens </a:t>
            </a:r>
            <a:r>
              <a:rPr lang="en-IN" sz="4000" b="1" dirty="0" err="1">
                <a:solidFill>
                  <a:schemeClr val="bg1"/>
                </a:solidFill>
              </a:rPr>
              <a:t>Healthineers</a:t>
            </a:r>
            <a:r>
              <a:rPr lang="en-IN" sz="4000" b="1" dirty="0">
                <a:solidFill>
                  <a:schemeClr val="bg1"/>
                </a:solidFill>
              </a:rPr>
              <a:t>:</a:t>
            </a:r>
            <a:r>
              <a:rPr lang="en-IN" sz="4000" dirty="0">
                <a:solidFill>
                  <a:schemeClr val="bg1"/>
                </a:solidFill>
              </a:rPr>
              <a:t> Enterprise imaging suite integration</a:t>
            </a:r>
          </a:p>
        </p:txBody>
      </p:sp>
    </p:spTree>
    <p:extLst>
      <p:ext uri="{BB962C8B-B14F-4D97-AF65-F5344CB8AC3E}">
        <p14:creationId xmlns:p14="http://schemas.microsoft.com/office/powerpoint/2010/main" val="19887166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34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AB247C6-2BC8-282B-E307-C6068248B8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4FF4D30C-BF76-F5DA-AA6B-438B658B81A1}"/>
              </a:ext>
            </a:extLst>
          </p:cNvPr>
          <p:cNvSpPr txBox="1"/>
          <p:nvPr/>
        </p:nvSpPr>
        <p:spPr>
          <a:xfrm>
            <a:off x="711200" y="622637"/>
            <a:ext cx="15516225" cy="10156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n-IN" sz="6600" b="1" dirty="0">
                <a:solidFill>
                  <a:schemeClr val="accent1"/>
                </a:solidFill>
                <a:latin typeface="Noto Serif Display ExtraCondensed Bold" panose="020B0604020202020204"/>
                <a:ea typeface="Noto Serif Display ExtraCondensed Bold" panose="020B0604020202020204"/>
                <a:cs typeface="Noto Serif Display ExtraCondensed Bold" panose="020B0604020202020204"/>
              </a:rPr>
              <a:t>Literature Review - Gaps &amp; Opportunities</a:t>
            </a:r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DB3A86CD-0E8B-E21B-9EB9-65192E79D6D6}"/>
              </a:ext>
            </a:extLst>
          </p:cNvPr>
          <p:cNvSpPr/>
          <p:nvPr/>
        </p:nvSpPr>
        <p:spPr>
          <a:xfrm>
            <a:off x="-152400" y="1638300"/>
            <a:ext cx="18288000" cy="0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C41EF421-F2D4-ADFA-611E-1D7329526A2B}"/>
              </a:ext>
            </a:extLst>
          </p:cNvPr>
          <p:cNvSpPr/>
          <p:nvPr/>
        </p:nvSpPr>
        <p:spPr>
          <a:xfrm>
            <a:off x="0" y="9620250"/>
            <a:ext cx="18288000" cy="0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6309143E-01E7-4D44-23D4-3D368E38C0BA}"/>
              </a:ext>
            </a:extLst>
          </p:cNvPr>
          <p:cNvSpPr txBox="1"/>
          <p:nvPr/>
        </p:nvSpPr>
        <p:spPr>
          <a:xfrm>
            <a:off x="711200" y="2280803"/>
            <a:ext cx="15989300" cy="63678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IN" sz="4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Identified Research Gaps:</a:t>
            </a:r>
            <a:endParaRPr lang="en-IN" sz="4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4000" b="1" dirty="0">
                <a:solidFill>
                  <a:schemeClr val="bg1"/>
                </a:solidFill>
              </a:rPr>
              <a:t>Generalization Issues:</a:t>
            </a:r>
            <a:r>
              <a:rPr lang="en-IN" sz="4000" dirty="0">
                <a:solidFill>
                  <a:schemeClr val="bg1"/>
                </a:solidFill>
              </a:rPr>
              <a:t> Performance drops outside </a:t>
            </a:r>
            <a:r>
              <a:rPr lang="en-IN" sz="4000" dirty="0" err="1">
                <a:solidFill>
                  <a:schemeClr val="bg1"/>
                </a:solidFill>
              </a:rPr>
              <a:t>BraTS</a:t>
            </a:r>
            <a:r>
              <a:rPr lang="en-IN" sz="4000" dirty="0">
                <a:solidFill>
                  <a:schemeClr val="bg1"/>
                </a:solidFill>
              </a:rPr>
              <a:t> dataset</a:t>
            </a:r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4000" b="1" dirty="0">
                <a:solidFill>
                  <a:schemeClr val="bg1"/>
                </a:solidFill>
              </a:rPr>
              <a:t>Multi-Modal Fusion Limitations:</a:t>
            </a:r>
            <a:r>
              <a:rPr lang="en-IN" sz="4000" dirty="0">
                <a:solidFill>
                  <a:schemeClr val="bg1"/>
                </a:solidFill>
              </a:rPr>
              <a:t> Simple concatenation not optimal</a:t>
            </a:r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4000" b="1" dirty="0">
                <a:solidFill>
                  <a:schemeClr val="bg1"/>
                </a:solidFill>
              </a:rPr>
              <a:t>Sub-Region Delineation Challenges:</a:t>
            </a:r>
            <a:r>
              <a:rPr lang="en-IN" sz="4000" dirty="0">
                <a:solidFill>
                  <a:schemeClr val="bg1"/>
                </a:solidFill>
              </a:rPr>
              <a:t> Small/irregular boundaries difficult</a:t>
            </a:r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4000" b="1" dirty="0">
                <a:solidFill>
                  <a:schemeClr val="bg1"/>
                </a:solidFill>
              </a:rPr>
              <a:t>Explainability Limitations:</a:t>
            </a:r>
            <a:r>
              <a:rPr lang="en-IN" sz="4000" dirty="0">
                <a:solidFill>
                  <a:schemeClr val="bg1"/>
                </a:solidFill>
              </a:rPr>
              <a:t> Black-box predictions in CNN models</a:t>
            </a:r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4000" b="1" dirty="0">
                <a:solidFill>
                  <a:schemeClr val="bg1"/>
                </a:solidFill>
              </a:rPr>
              <a:t>Clinical Integration Gap:</a:t>
            </a:r>
            <a:r>
              <a:rPr lang="en-IN" sz="4000" dirty="0">
                <a:solidFill>
                  <a:schemeClr val="bg1"/>
                </a:solidFill>
              </a:rPr>
              <a:t> Manual quantitative data extraction needed</a:t>
            </a:r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4000" b="1" dirty="0">
                <a:solidFill>
                  <a:schemeClr val="bg1"/>
                </a:solidFill>
              </a:rPr>
              <a:t>Limited Evaluation Metrics:</a:t>
            </a:r>
            <a:r>
              <a:rPr lang="en-IN" sz="4000" dirty="0">
                <a:solidFill>
                  <a:schemeClr val="bg1"/>
                </a:solidFill>
              </a:rPr>
              <a:t> Over-reliance on Dice scores</a:t>
            </a:r>
          </a:p>
        </p:txBody>
      </p:sp>
    </p:spTree>
    <p:extLst>
      <p:ext uri="{BB962C8B-B14F-4D97-AF65-F5344CB8AC3E}">
        <p14:creationId xmlns:p14="http://schemas.microsoft.com/office/powerpoint/2010/main" val="10428237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34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F58A108-C4D8-6574-2478-58BDA6D689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D408F1E2-567B-BFE1-AA5B-026F055B6C6A}"/>
              </a:ext>
            </a:extLst>
          </p:cNvPr>
          <p:cNvSpPr txBox="1"/>
          <p:nvPr/>
        </p:nvSpPr>
        <p:spPr>
          <a:xfrm>
            <a:off x="711200" y="622637"/>
            <a:ext cx="15516225" cy="10156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n-IN" sz="6600" b="1" dirty="0">
                <a:solidFill>
                  <a:schemeClr val="accent1"/>
                </a:solidFill>
                <a:latin typeface="Noto Serif Display ExtraCondensed Bold" panose="020B0604020202020204"/>
                <a:ea typeface="Noto Serif Display ExtraCondensed Bold" panose="020B0604020202020204"/>
                <a:cs typeface="Noto Serif Display ExtraCondensed Bold" panose="020B0604020202020204"/>
              </a:rPr>
              <a:t>Literature Review - Gaps &amp; Opportunities</a:t>
            </a:r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96432AD5-32DB-ADEB-E663-BA229DEC1A8C}"/>
              </a:ext>
            </a:extLst>
          </p:cNvPr>
          <p:cNvSpPr/>
          <p:nvPr/>
        </p:nvSpPr>
        <p:spPr>
          <a:xfrm>
            <a:off x="-152400" y="1638300"/>
            <a:ext cx="18288000" cy="0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D9B5C849-5B81-77FF-F3D9-77DD31CCE035}"/>
              </a:ext>
            </a:extLst>
          </p:cNvPr>
          <p:cNvSpPr/>
          <p:nvPr/>
        </p:nvSpPr>
        <p:spPr>
          <a:xfrm>
            <a:off x="0" y="9620250"/>
            <a:ext cx="18288000" cy="0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D0C3BED8-31C8-31D1-6613-73EB6BCC8863}"/>
              </a:ext>
            </a:extLst>
          </p:cNvPr>
          <p:cNvSpPr txBox="1"/>
          <p:nvPr/>
        </p:nvSpPr>
        <p:spPr>
          <a:xfrm>
            <a:off x="711200" y="2280803"/>
            <a:ext cx="15989300" cy="544456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IN" sz="4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Our Opportunities:</a:t>
            </a:r>
            <a:endParaRPr lang="en-IN" sz="4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4000" dirty="0">
                <a:solidFill>
                  <a:schemeClr val="bg1"/>
                </a:solidFill>
              </a:rPr>
              <a:t>Enhanced fusion strategies with attention mechanisms</a:t>
            </a:r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4000" dirty="0">
                <a:solidFill>
                  <a:schemeClr val="bg1"/>
                </a:solidFill>
              </a:rPr>
              <a:t>Boundary-aware loss functions for fine details</a:t>
            </a:r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4000" dirty="0">
                <a:solidFill>
                  <a:schemeClr val="bg1"/>
                </a:solidFill>
              </a:rPr>
              <a:t>Explainability through attention maps</a:t>
            </a:r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4000" dirty="0">
                <a:solidFill>
                  <a:schemeClr val="bg1"/>
                </a:solidFill>
              </a:rPr>
              <a:t>Automated quantitative outputs and AI reports</a:t>
            </a:r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4000" dirty="0">
                <a:solidFill>
                  <a:schemeClr val="bg1"/>
                </a:solidFill>
              </a:rPr>
              <a:t>Comprehensive clinical evaluation metrics</a:t>
            </a:r>
          </a:p>
        </p:txBody>
      </p:sp>
    </p:spTree>
    <p:extLst>
      <p:ext uri="{BB962C8B-B14F-4D97-AF65-F5344CB8AC3E}">
        <p14:creationId xmlns:p14="http://schemas.microsoft.com/office/powerpoint/2010/main" val="6564799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666750" y="5619750"/>
            <a:ext cx="4010025" cy="4346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endParaRPr lang="en-US" sz="2799" b="1" u="none" strike="noStrike" dirty="0">
              <a:solidFill>
                <a:srgbClr val="FFFFFF"/>
              </a:solidFill>
              <a:latin typeface="HK Grotesk Semi-Bold"/>
              <a:ea typeface="HK Grotesk Semi-Bold"/>
              <a:cs typeface="HK Grotesk Semi-Bold"/>
              <a:sym typeface="HK Grotesk Semi-Bold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666750" y="1976468"/>
            <a:ext cx="13887450" cy="63678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IN" sz="4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Dataset Specifications:</a:t>
            </a:r>
            <a:endParaRPr lang="en-IN" sz="4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1028700" lvl="1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4000" b="1" dirty="0">
                <a:solidFill>
                  <a:schemeClr val="bg1"/>
                </a:solidFill>
              </a:rPr>
              <a:t>Source:</a:t>
            </a:r>
            <a:r>
              <a:rPr lang="en-IN" sz="4000" dirty="0">
                <a:solidFill>
                  <a:schemeClr val="bg1"/>
                </a:solidFill>
              </a:rPr>
              <a:t> </a:t>
            </a:r>
            <a:r>
              <a:rPr lang="en-IN" sz="4000" dirty="0" err="1">
                <a:solidFill>
                  <a:schemeClr val="bg1"/>
                </a:solidFill>
              </a:rPr>
              <a:t>BraTS</a:t>
            </a:r>
            <a:r>
              <a:rPr lang="en-IN" sz="4000" dirty="0">
                <a:solidFill>
                  <a:schemeClr val="bg1"/>
                </a:solidFill>
              </a:rPr>
              <a:t> Challenge 2023 (Synapse ID: syn51156910)</a:t>
            </a:r>
          </a:p>
          <a:p>
            <a:pPr marL="1028700" lvl="1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4000" b="1" dirty="0">
                <a:solidFill>
                  <a:schemeClr val="bg1"/>
                </a:solidFill>
              </a:rPr>
              <a:t>License:</a:t>
            </a:r>
            <a:r>
              <a:rPr lang="en-IN" sz="4000" dirty="0">
                <a:solidFill>
                  <a:schemeClr val="bg1"/>
                </a:solidFill>
              </a:rPr>
              <a:t> CC BY-NC 4.0 (Non-commercial use)</a:t>
            </a:r>
          </a:p>
          <a:p>
            <a:pPr marL="1028700" lvl="1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4000" b="1" dirty="0">
                <a:solidFill>
                  <a:schemeClr val="bg1"/>
                </a:solidFill>
              </a:rPr>
              <a:t>Patients:</a:t>
            </a:r>
            <a:r>
              <a:rPr lang="en-IN" sz="4000" dirty="0">
                <a:solidFill>
                  <a:schemeClr val="bg1"/>
                </a:solidFill>
              </a:rPr>
              <a:t> 1,251 with multi-modal MRI scans</a:t>
            </a:r>
          </a:p>
          <a:p>
            <a:pPr marL="1028700" lvl="1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4000" b="1" dirty="0">
                <a:solidFill>
                  <a:schemeClr val="bg1"/>
                </a:solidFill>
              </a:rPr>
              <a:t>Modalities:</a:t>
            </a:r>
            <a:r>
              <a:rPr lang="en-IN" sz="4000" dirty="0">
                <a:solidFill>
                  <a:schemeClr val="bg1"/>
                </a:solidFill>
              </a:rPr>
              <a:t> T1, T1ce, T2, FLAIR + segmentation masks</a:t>
            </a:r>
          </a:p>
          <a:p>
            <a:pPr marL="1028700" lvl="1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4000" b="1" dirty="0">
                <a:solidFill>
                  <a:schemeClr val="bg1"/>
                </a:solidFill>
              </a:rPr>
              <a:t>Annotations:</a:t>
            </a:r>
            <a:r>
              <a:rPr lang="en-IN" sz="4000" dirty="0">
                <a:solidFill>
                  <a:schemeClr val="bg1"/>
                </a:solidFill>
              </a:rPr>
              <a:t> Expert manual segmentations</a:t>
            </a:r>
          </a:p>
          <a:p>
            <a:pPr marL="1028700" lvl="1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4000" b="1" dirty="0" err="1">
                <a:solidFill>
                  <a:schemeClr val="bg1"/>
                </a:solidFill>
              </a:rPr>
              <a:t>Tumor</a:t>
            </a:r>
            <a:r>
              <a:rPr lang="en-IN" sz="4000" b="1" dirty="0">
                <a:solidFill>
                  <a:schemeClr val="bg1"/>
                </a:solidFill>
              </a:rPr>
              <a:t> Regions:</a:t>
            </a:r>
            <a:r>
              <a:rPr lang="en-IN" sz="4000" dirty="0">
                <a:solidFill>
                  <a:schemeClr val="bg1"/>
                </a:solidFill>
              </a:rPr>
              <a:t> Enhancing </a:t>
            </a:r>
            <a:r>
              <a:rPr lang="en-IN" sz="4000" dirty="0" err="1">
                <a:solidFill>
                  <a:schemeClr val="bg1"/>
                </a:solidFill>
              </a:rPr>
              <a:t>Tumor</a:t>
            </a:r>
            <a:r>
              <a:rPr lang="en-IN" sz="4000" dirty="0">
                <a:solidFill>
                  <a:schemeClr val="bg1"/>
                </a:solidFill>
              </a:rPr>
              <a:t>, </a:t>
            </a:r>
            <a:r>
              <a:rPr lang="en-IN" sz="4000" dirty="0" err="1">
                <a:solidFill>
                  <a:schemeClr val="bg1"/>
                </a:solidFill>
              </a:rPr>
              <a:t>Tumor</a:t>
            </a:r>
            <a:r>
              <a:rPr lang="en-IN" sz="4000" dirty="0">
                <a:solidFill>
                  <a:schemeClr val="bg1"/>
                </a:solidFill>
              </a:rPr>
              <a:t> Core, Whole </a:t>
            </a:r>
            <a:r>
              <a:rPr lang="en-IN" sz="4000" dirty="0" err="1">
                <a:solidFill>
                  <a:schemeClr val="bg1"/>
                </a:solidFill>
              </a:rPr>
              <a:t>Tumor</a:t>
            </a:r>
            <a:endParaRPr lang="en-IN" sz="4000" dirty="0">
              <a:solidFill>
                <a:schemeClr val="bg1"/>
              </a:solidFill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666750" y="367108"/>
            <a:ext cx="16954500" cy="12404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600"/>
              </a:lnSpc>
            </a:pPr>
            <a:r>
              <a:rPr lang="en-US" sz="9600" spc="-192" dirty="0">
                <a:solidFill>
                  <a:schemeClr val="accent1"/>
                </a:solidFill>
                <a:latin typeface="Noto Serif Display ExtraCondensed Light"/>
                <a:ea typeface="Noto Serif Display ExtraCondensed Light"/>
                <a:cs typeface="Noto Serif Display ExtraCondensed Light"/>
                <a:sym typeface="Noto Serif Display ExtraCondensed Light"/>
              </a:rPr>
              <a:t>Dataset — </a:t>
            </a:r>
            <a:r>
              <a:rPr lang="en-US" sz="9600" spc="-192" dirty="0" err="1">
                <a:solidFill>
                  <a:schemeClr val="accent1"/>
                </a:solidFill>
                <a:latin typeface="Noto Serif Display ExtraCondensed Light"/>
                <a:ea typeface="Noto Serif Display ExtraCondensed Light"/>
                <a:cs typeface="Noto Serif Display ExtraCondensed Light"/>
                <a:sym typeface="Noto Serif Display ExtraCondensed Light"/>
              </a:rPr>
              <a:t>BraTS</a:t>
            </a:r>
            <a:r>
              <a:rPr lang="en-US" sz="9600" spc="-192" dirty="0">
                <a:solidFill>
                  <a:schemeClr val="accent1"/>
                </a:solidFill>
                <a:latin typeface="Noto Serif Display ExtraCondensed Light"/>
                <a:ea typeface="Noto Serif Display ExtraCondensed Light"/>
                <a:cs typeface="Noto Serif Display ExtraCondensed Light"/>
                <a:sym typeface="Noto Serif Display ExtraCondensed Light"/>
              </a:rPr>
              <a:t> 2023</a:t>
            </a:r>
          </a:p>
        </p:txBody>
      </p:sp>
      <p:sp>
        <p:nvSpPr>
          <p:cNvPr id="14" name="AutoShape 14"/>
          <p:cNvSpPr/>
          <p:nvPr/>
        </p:nvSpPr>
        <p:spPr>
          <a:xfrm>
            <a:off x="0" y="1694417"/>
            <a:ext cx="18288000" cy="0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5" name="AutoShape 15"/>
          <p:cNvSpPr/>
          <p:nvPr/>
        </p:nvSpPr>
        <p:spPr>
          <a:xfrm>
            <a:off x="0" y="9629775"/>
            <a:ext cx="18288000" cy="0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34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6F9786C-FF6A-CE60-AB3E-485AEA10DB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16380E2D-851E-4C55-B1CB-318287594489}"/>
              </a:ext>
            </a:extLst>
          </p:cNvPr>
          <p:cNvSpPr txBox="1"/>
          <p:nvPr/>
        </p:nvSpPr>
        <p:spPr>
          <a:xfrm>
            <a:off x="666750" y="5619750"/>
            <a:ext cx="4010025" cy="4346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endParaRPr lang="en-US" sz="2799" b="1" u="none" strike="noStrike" dirty="0">
              <a:solidFill>
                <a:srgbClr val="FFFFFF"/>
              </a:solidFill>
              <a:latin typeface="HK Grotesk Semi-Bold"/>
              <a:ea typeface="HK Grotesk Semi-Bold"/>
              <a:cs typeface="HK Grotesk Semi-Bold"/>
              <a:sym typeface="HK Grotesk Semi-Bold"/>
            </a:endParaRP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28485895-4AD1-B4C4-6429-A2B00B6F7AE3}"/>
              </a:ext>
            </a:extLst>
          </p:cNvPr>
          <p:cNvSpPr txBox="1"/>
          <p:nvPr/>
        </p:nvSpPr>
        <p:spPr>
          <a:xfrm>
            <a:off x="666750" y="1976468"/>
            <a:ext cx="13887450" cy="45212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IN" sz="4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Key Features:</a:t>
            </a:r>
            <a:endParaRPr lang="en-IN" sz="4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1028700" lvl="1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4000" dirty="0">
                <a:solidFill>
                  <a:schemeClr val="bg1"/>
                </a:solidFill>
              </a:rPr>
              <a:t>Multi-institutional data from 70+ </a:t>
            </a:r>
            <a:r>
              <a:rPr lang="en-IN" sz="4000" dirty="0" err="1">
                <a:solidFill>
                  <a:schemeClr val="bg1"/>
                </a:solidFill>
              </a:rPr>
              <a:t>centers</a:t>
            </a:r>
            <a:endParaRPr lang="en-IN" sz="4000" dirty="0">
              <a:solidFill>
                <a:schemeClr val="bg1"/>
              </a:solidFill>
            </a:endParaRPr>
          </a:p>
          <a:p>
            <a:pPr marL="1028700" lvl="1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4000" dirty="0">
                <a:solidFill>
                  <a:schemeClr val="bg1"/>
                </a:solidFill>
              </a:rPr>
              <a:t>Consistent dimensions: 240×240×155 voxels</a:t>
            </a:r>
          </a:p>
          <a:p>
            <a:pPr marL="1028700" lvl="1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4000" dirty="0">
                <a:solidFill>
                  <a:schemeClr val="bg1"/>
                </a:solidFill>
              </a:rPr>
              <a:t>Uniform voxel spacing: (1.0, 1.0, 1.0) mm</a:t>
            </a:r>
          </a:p>
          <a:p>
            <a:pPr marL="1028700" lvl="1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4000" dirty="0">
                <a:solidFill>
                  <a:schemeClr val="bg1"/>
                </a:solidFill>
              </a:rPr>
              <a:t>De-identified for research compliance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BD6DB2C1-C27A-34B1-77EC-2ED9F9BED862}"/>
              </a:ext>
            </a:extLst>
          </p:cNvPr>
          <p:cNvSpPr txBox="1"/>
          <p:nvPr/>
        </p:nvSpPr>
        <p:spPr>
          <a:xfrm>
            <a:off x="666750" y="367108"/>
            <a:ext cx="16954500" cy="12404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600"/>
              </a:lnSpc>
            </a:pPr>
            <a:r>
              <a:rPr lang="en-US" sz="9600" spc="-192" dirty="0">
                <a:solidFill>
                  <a:schemeClr val="accent1"/>
                </a:solidFill>
                <a:latin typeface="Noto Serif Display ExtraCondensed Light"/>
                <a:ea typeface="Noto Serif Display ExtraCondensed Light"/>
                <a:cs typeface="Noto Serif Display ExtraCondensed Light"/>
                <a:sym typeface="Noto Serif Display ExtraCondensed Light"/>
              </a:rPr>
              <a:t>Dataset — </a:t>
            </a:r>
            <a:r>
              <a:rPr lang="en-US" sz="9600" spc="-192" dirty="0" err="1">
                <a:solidFill>
                  <a:schemeClr val="accent1"/>
                </a:solidFill>
                <a:latin typeface="Noto Serif Display ExtraCondensed Light"/>
                <a:ea typeface="Noto Serif Display ExtraCondensed Light"/>
                <a:cs typeface="Noto Serif Display ExtraCondensed Light"/>
                <a:sym typeface="Noto Serif Display ExtraCondensed Light"/>
              </a:rPr>
              <a:t>BraTS</a:t>
            </a:r>
            <a:r>
              <a:rPr lang="en-US" sz="9600" spc="-192" dirty="0">
                <a:solidFill>
                  <a:schemeClr val="accent1"/>
                </a:solidFill>
                <a:latin typeface="Noto Serif Display ExtraCondensed Light"/>
                <a:ea typeface="Noto Serif Display ExtraCondensed Light"/>
                <a:cs typeface="Noto Serif Display ExtraCondensed Light"/>
                <a:sym typeface="Noto Serif Display ExtraCondensed Light"/>
              </a:rPr>
              <a:t> 2023</a:t>
            </a:r>
          </a:p>
        </p:txBody>
      </p:sp>
      <p:sp>
        <p:nvSpPr>
          <p:cNvPr id="14" name="AutoShape 14">
            <a:extLst>
              <a:ext uri="{FF2B5EF4-FFF2-40B4-BE49-F238E27FC236}">
                <a16:creationId xmlns:a16="http://schemas.microsoft.com/office/drawing/2014/main" id="{DB283092-A728-7671-BF82-49CE12084885}"/>
              </a:ext>
            </a:extLst>
          </p:cNvPr>
          <p:cNvSpPr/>
          <p:nvPr/>
        </p:nvSpPr>
        <p:spPr>
          <a:xfrm>
            <a:off x="0" y="1694417"/>
            <a:ext cx="18288000" cy="0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5" name="AutoShape 15">
            <a:extLst>
              <a:ext uri="{FF2B5EF4-FFF2-40B4-BE49-F238E27FC236}">
                <a16:creationId xmlns:a16="http://schemas.microsoft.com/office/drawing/2014/main" id="{F4E88382-10BD-5710-A583-94C5264C0430}"/>
              </a:ext>
            </a:extLst>
          </p:cNvPr>
          <p:cNvSpPr/>
          <p:nvPr/>
        </p:nvSpPr>
        <p:spPr>
          <a:xfrm>
            <a:off x="0" y="9629775"/>
            <a:ext cx="18288000" cy="0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7871109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9"/>
          <p:cNvSpPr txBox="1"/>
          <p:nvPr/>
        </p:nvSpPr>
        <p:spPr>
          <a:xfrm>
            <a:off x="914400" y="2026523"/>
            <a:ext cx="13887450" cy="729122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IN" sz="4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MONAI-based Processing Steps:</a:t>
            </a:r>
            <a:endParaRPr lang="en-IN" sz="4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1028700" lvl="1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4000" b="1" dirty="0">
                <a:solidFill>
                  <a:schemeClr val="bg1"/>
                </a:solidFill>
              </a:rPr>
              <a:t>Load Images:</a:t>
            </a:r>
            <a:r>
              <a:rPr lang="en-IN" sz="4000" dirty="0">
                <a:solidFill>
                  <a:schemeClr val="bg1"/>
                </a:solidFill>
              </a:rPr>
              <a:t> Load 4 MRI modalities + segmentation mask</a:t>
            </a:r>
          </a:p>
          <a:p>
            <a:pPr marL="1028700" lvl="1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4000" b="1" dirty="0">
                <a:solidFill>
                  <a:schemeClr val="bg1"/>
                </a:solidFill>
              </a:rPr>
              <a:t>Label Conversion:</a:t>
            </a:r>
            <a:r>
              <a:rPr lang="en-IN" sz="4000" dirty="0">
                <a:solidFill>
                  <a:schemeClr val="bg1"/>
                </a:solidFill>
              </a:rPr>
              <a:t> Convert to multi-channel mask (WT, TC, ET)</a:t>
            </a:r>
          </a:p>
          <a:p>
            <a:pPr marL="1028700" lvl="1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4000" b="1" dirty="0">
                <a:solidFill>
                  <a:schemeClr val="bg1"/>
                </a:solidFill>
              </a:rPr>
              <a:t>Resampling:</a:t>
            </a:r>
            <a:r>
              <a:rPr lang="en-IN" sz="4000" dirty="0">
                <a:solidFill>
                  <a:schemeClr val="bg1"/>
                </a:solidFill>
              </a:rPr>
              <a:t> Uniform spacing (1.0, 1.0, 1.0) mm</a:t>
            </a:r>
          </a:p>
          <a:p>
            <a:pPr marL="1028700" lvl="1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4000" b="1" dirty="0">
                <a:solidFill>
                  <a:schemeClr val="bg1"/>
                </a:solidFill>
              </a:rPr>
              <a:t>Intensity Normalization:</a:t>
            </a:r>
            <a:r>
              <a:rPr lang="en-IN" sz="4000" dirty="0">
                <a:solidFill>
                  <a:schemeClr val="bg1"/>
                </a:solidFill>
              </a:rPr>
              <a:t> Scale to [0.0, 1.0] range</a:t>
            </a:r>
          </a:p>
          <a:p>
            <a:pPr marL="1028700" lvl="1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4000" b="1" dirty="0">
                <a:solidFill>
                  <a:schemeClr val="bg1"/>
                </a:solidFill>
              </a:rPr>
              <a:t>Foreground Cropping:</a:t>
            </a:r>
            <a:r>
              <a:rPr lang="en-IN" sz="4000" dirty="0">
                <a:solidFill>
                  <a:schemeClr val="bg1"/>
                </a:solidFill>
              </a:rPr>
              <a:t> Remove empty background</a:t>
            </a:r>
          </a:p>
          <a:p>
            <a:pPr marL="1028700" lvl="1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4000" b="1" dirty="0">
                <a:solidFill>
                  <a:schemeClr val="bg1"/>
                </a:solidFill>
              </a:rPr>
              <a:t>Resizing:</a:t>
            </a:r>
            <a:r>
              <a:rPr lang="en-IN" sz="4000" dirty="0">
                <a:solidFill>
                  <a:schemeClr val="bg1"/>
                </a:solidFill>
              </a:rPr>
              <a:t> Fixed dimensions (128, 128, 128)</a:t>
            </a:r>
          </a:p>
          <a:p>
            <a:pPr marL="1028700" lvl="1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4000" b="1" dirty="0">
                <a:solidFill>
                  <a:schemeClr val="bg1"/>
                </a:solidFill>
              </a:rPr>
              <a:t>Data Type Conversion:</a:t>
            </a:r>
            <a:r>
              <a:rPr lang="en-IN" sz="4000" dirty="0">
                <a:solidFill>
                  <a:schemeClr val="bg1"/>
                </a:solidFill>
              </a:rPr>
              <a:t> float16 for efficiency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14400" y="432435"/>
            <a:ext cx="16954500" cy="12820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600"/>
              </a:lnSpc>
            </a:pPr>
            <a:r>
              <a:rPr lang="en-US" sz="9600" spc="-192" dirty="0">
                <a:solidFill>
                  <a:schemeClr val="accent1"/>
                </a:solidFill>
                <a:latin typeface="Noto Serif Display ExtraCondensed Light"/>
                <a:ea typeface="Noto Serif Display ExtraCondensed Light"/>
                <a:cs typeface="Noto Serif Display ExtraCondensed Light"/>
                <a:sym typeface="Noto Serif Display ExtraCondensed Light"/>
              </a:rPr>
              <a:t>Preprocessing Pipeline</a:t>
            </a:r>
          </a:p>
        </p:txBody>
      </p:sp>
      <p:sp>
        <p:nvSpPr>
          <p:cNvPr id="13" name="AutoShape 13"/>
          <p:cNvSpPr/>
          <p:nvPr/>
        </p:nvSpPr>
        <p:spPr>
          <a:xfrm>
            <a:off x="-228600" y="1714500"/>
            <a:ext cx="18288000" cy="0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4" name="AutoShape 14"/>
          <p:cNvSpPr/>
          <p:nvPr/>
        </p:nvSpPr>
        <p:spPr>
          <a:xfrm>
            <a:off x="0" y="9629775"/>
            <a:ext cx="18288000" cy="0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34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E3E67E1-EC23-14E4-674E-D563A2177B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9">
            <a:extLst>
              <a:ext uri="{FF2B5EF4-FFF2-40B4-BE49-F238E27FC236}">
                <a16:creationId xmlns:a16="http://schemas.microsoft.com/office/drawing/2014/main" id="{55CB58C0-C081-B8A0-6F14-F32BF630DE91}"/>
              </a:ext>
            </a:extLst>
          </p:cNvPr>
          <p:cNvSpPr txBox="1"/>
          <p:nvPr/>
        </p:nvSpPr>
        <p:spPr>
          <a:xfrm>
            <a:off x="1066800" y="2147374"/>
            <a:ext cx="13887450" cy="45395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IN" sz="4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Multi-Modal Fusion:</a:t>
            </a:r>
            <a:endParaRPr lang="en-IN" sz="4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1485900" lvl="2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4000" dirty="0">
                <a:solidFill>
                  <a:schemeClr val="bg1"/>
                </a:solidFill>
              </a:rPr>
              <a:t>Early fusion strategy</a:t>
            </a:r>
          </a:p>
          <a:p>
            <a:pPr marL="1485900" lvl="2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4000" dirty="0">
                <a:solidFill>
                  <a:schemeClr val="bg1"/>
                </a:solidFill>
              </a:rPr>
              <a:t>4 modalities stacked as channels: (4, 128, 128, 128)</a:t>
            </a:r>
          </a:p>
          <a:p>
            <a:pPr marL="1485900" lvl="2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4000" dirty="0">
                <a:solidFill>
                  <a:schemeClr val="bg1"/>
                </a:solidFill>
              </a:rPr>
              <a:t>Single tensor input to model</a:t>
            </a:r>
          </a:p>
          <a:p>
            <a:pPr>
              <a:lnSpc>
                <a:spcPct val="150000"/>
              </a:lnSpc>
            </a:pPr>
            <a:r>
              <a:rPr lang="en-US" sz="40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Output: </a:t>
            </a:r>
            <a:r>
              <a:rPr lang="en-US" sz="4000" b="1" dirty="0">
                <a:solidFill>
                  <a:srgbClr val="FFFFFF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(4,128,128,128) image + (3,128,128,128) mask.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7A6E0D0D-F20D-D464-5BF3-1355C02A4473}"/>
              </a:ext>
            </a:extLst>
          </p:cNvPr>
          <p:cNvSpPr txBox="1"/>
          <p:nvPr/>
        </p:nvSpPr>
        <p:spPr>
          <a:xfrm>
            <a:off x="914400" y="432435"/>
            <a:ext cx="16954500" cy="12820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600"/>
              </a:lnSpc>
            </a:pPr>
            <a:r>
              <a:rPr lang="en-US" sz="9600" spc="-192" dirty="0">
                <a:solidFill>
                  <a:schemeClr val="accent1"/>
                </a:solidFill>
                <a:latin typeface="Noto Serif Display ExtraCondensed Light"/>
                <a:ea typeface="Noto Serif Display ExtraCondensed Light"/>
                <a:cs typeface="Noto Serif Display ExtraCondensed Light"/>
                <a:sym typeface="Noto Serif Display ExtraCondensed Light"/>
              </a:rPr>
              <a:t>Preprocessing Pipeline</a:t>
            </a:r>
          </a:p>
        </p:txBody>
      </p:sp>
      <p:sp>
        <p:nvSpPr>
          <p:cNvPr id="13" name="AutoShape 13">
            <a:extLst>
              <a:ext uri="{FF2B5EF4-FFF2-40B4-BE49-F238E27FC236}">
                <a16:creationId xmlns:a16="http://schemas.microsoft.com/office/drawing/2014/main" id="{FB5C402C-180E-C53F-255B-9609C3E7075A}"/>
              </a:ext>
            </a:extLst>
          </p:cNvPr>
          <p:cNvSpPr/>
          <p:nvPr/>
        </p:nvSpPr>
        <p:spPr>
          <a:xfrm>
            <a:off x="-228600" y="1714500"/>
            <a:ext cx="18288000" cy="0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4" name="AutoShape 14">
            <a:extLst>
              <a:ext uri="{FF2B5EF4-FFF2-40B4-BE49-F238E27FC236}">
                <a16:creationId xmlns:a16="http://schemas.microsoft.com/office/drawing/2014/main" id="{FA16CE2D-AC58-4D42-2B52-1722BA9064E9}"/>
              </a:ext>
            </a:extLst>
          </p:cNvPr>
          <p:cNvSpPr/>
          <p:nvPr/>
        </p:nvSpPr>
        <p:spPr>
          <a:xfrm>
            <a:off x="0" y="9629775"/>
            <a:ext cx="18288000" cy="0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0140726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62000" y="2026880"/>
            <a:ext cx="15948516" cy="73095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71500" lvl="0" indent="-571500" algn="l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Ext</a:t>
            </a:r>
            <a:r>
              <a:rPr lang="en-US" sz="4000" u="none" strike="noStrike" dirty="0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racted 3D patches of size 64 × 64 × 64 centered around tumor regions.</a:t>
            </a:r>
          </a:p>
          <a:p>
            <a:pPr marL="571500" indent="-571500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Only patches with ≥ 1 % tumor voxels kept → reduces class imbalance.</a:t>
            </a:r>
          </a:p>
          <a:p>
            <a:pPr marL="571500" lvl="0" indent="-571500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Verified patches using 3D visualizations and statistical analysis</a:t>
            </a:r>
          </a:p>
          <a:p>
            <a:pPr marL="571500" indent="-571500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Compared full volume vs patches → patches focus on important tumor zones.</a:t>
            </a:r>
          </a:p>
          <a:p>
            <a:pPr marL="571500" lvl="0" indent="-571500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Output dataset used for training lighter 3D U-Net and V-Net models</a:t>
            </a:r>
            <a:endParaRPr lang="en-US" sz="4000" u="none" strike="noStrike" dirty="0">
              <a:solidFill>
                <a:srgbClr val="FFFFFF"/>
              </a:solidFill>
              <a:latin typeface="HK Grotesk"/>
              <a:ea typeface="HK Grotesk"/>
              <a:cs typeface="HK Grotesk"/>
              <a:sym typeface="HK Grotesk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514350" y="369729"/>
            <a:ext cx="17773650" cy="12820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9600"/>
              </a:lnSpc>
            </a:pPr>
            <a:r>
              <a:rPr lang="en-US" sz="9600" spc="-192" dirty="0">
                <a:solidFill>
                  <a:schemeClr val="accent1"/>
                </a:solidFill>
                <a:latin typeface="Noto Serif Display ExtraCondensed Light"/>
                <a:ea typeface="Noto Serif Display ExtraCondensed Light"/>
                <a:cs typeface="Noto Serif Display ExtraCondensed Light"/>
                <a:sym typeface="Noto Serif Display ExtraCondensed Light"/>
              </a:rPr>
              <a:t>Tumor-Focused 3D Patch Extraction</a:t>
            </a:r>
          </a:p>
        </p:txBody>
      </p:sp>
      <p:sp>
        <p:nvSpPr>
          <p:cNvPr id="6" name="AutoShape 6"/>
          <p:cNvSpPr/>
          <p:nvPr/>
        </p:nvSpPr>
        <p:spPr>
          <a:xfrm>
            <a:off x="-152400" y="1733550"/>
            <a:ext cx="18288000" cy="0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AutoShape 7"/>
          <p:cNvSpPr/>
          <p:nvPr/>
        </p:nvSpPr>
        <p:spPr>
          <a:xfrm>
            <a:off x="0" y="9629775"/>
            <a:ext cx="18288000" cy="0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6750" y="5057270"/>
            <a:ext cx="4743450" cy="3858183"/>
            <a:chOff x="0" y="0"/>
            <a:chExt cx="5346700" cy="5048551"/>
          </a:xfrm>
        </p:grpSpPr>
        <p:sp>
          <p:nvSpPr>
            <p:cNvPr id="3" name="TextBox 3"/>
            <p:cNvSpPr txBox="1"/>
            <p:nvPr/>
          </p:nvSpPr>
          <p:spPr>
            <a:xfrm>
              <a:off x="0" y="0"/>
              <a:ext cx="5346700" cy="56869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59"/>
                </a:lnSpc>
                <a:spcBef>
                  <a:spcPct val="0"/>
                </a:spcBef>
              </a:pPr>
              <a:r>
                <a:rPr lang="en-US" sz="2799" b="1" u="none" strike="noStrike" dirty="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Encoder-Decoder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759505"/>
              <a:ext cx="5346700" cy="428904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ct val="150000"/>
                </a:lnSpc>
                <a:spcBef>
                  <a:spcPct val="0"/>
                </a:spcBef>
              </a:pPr>
              <a:r>
                <a:rPr lang="en-US" sz="2400" u="none" strike="noStrike" dirty="0">
                  <a:solidFill>
                    <a:srgbClr val="FFFFFF"/>
                  </a:solidFill>
                  <a:latin typeface="HK Grotesk"/>
                  <a:ea typeface="HK Grotesk"/>
                  <a:cs typeface="HK Grotesk"/>
                  <a:sym typeface="HK Grotesk"/>
                </a:rPr>
                <a:t>The 3D Attention U-Net utilizes an </a:t>
              </a:r>
              <a:r>
                <a:rPr lang="en-US" sz="2400" b="1" u="none" strike="noStrike" dirty="0">
                  <a:solidFill>
                    <a:srgbClr val="FFFFFF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encoder-decoder</a:t>
              </a:r>
              <a:r>
                <a:rPr lang="en-US" sz="2400" u="none" strike="noStrike" dirty="0">
                  <a:solidFill>
                    <a:srgbClr val="FFFFFF"/>
                  </a:solidFill>
                  <a:latin typeface="HK Grotesk"/>
                  <a:ea typeface="HK Grotesk"/>
                  <a:cs typeface="HK Grotesk"/>
                  <a:sym typeface="HK Grotesk"/>
                </a:rPr>
                <a:t> architecture that efficiently captures features at various scales, enhancing the model's ability to segment brain tumors accurately.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6400800" y="5057270"/>
            <a:ext cx="4933950" cy="3858182"/>
            <a:chOff x="0" y="0"/>
            <a:chExt cx="5346700" cy="5049493"/>
          </a:xfrm>
        </p:grpSpPr>
        <p:sp>
          <p:nvSpPr>
            <p:cNvPr id="6" name="TextBox 6"/>
            <p:cNvSpPr txBox="1"/>
            <p:nvPr/>
          </p:nvSpPr>
          <p:spPr>
            <a:xfrm>
              <a:off x="0" y="0"/>
              <a:ext cx="5346700" cy="56880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59"/>
                </a:lnSpc>
                <a:spcBef>
                  <a:spcPct val="0"/>
                </a:spcBef>
              </a:pPr>
              <a:r>
                <a:rPr lang="en-US" sz="2799" b="1" u="none" strike="noStrike" dirty="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Attention Gates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759646"/>
              <a:ext cx="5346700" cy="428984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ct val="150000"/>
                </a:lnSpc>
                <a:spcBef>
                  <a:spcPct val="0"/>
                </a:spcBef>
              </a:pPr>
              <a:r>
                <a:rPr lang="en-US" sz="2400" u="none" strike="noStrike" dirty="0">
                  <a:solidFill>
                    <a:srgbClr val="FFFFFF"/>
                  </a:solidFill>
                  <a:latin typeface="HK Grotesk"/>
                  <a:ea typeface="HK Grotesk"/>
                  <a:cs typeface="HK Grotesk"/>
                  <a:sym typeface="HK Grotesk"/>
                </a:rPr>
                <a:t>Attention gates are incorporated to </a:t>
              </a:r>
              <a:r>
                <a:rPr lang="en-US" sz="2400" b="1" u="none" strike="noStrike" dirty="0">
                  <a:solidFill>
                    <a:srgbClr val="FFFFFF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emphasize</a:t>
              </a:r>
              <a:r>
                <a:rPr lang="en-US" sz="2400" u="none" strike="noStrike" dirty="0">
                  <a:solidFill>
                    <a:srgbClr val="FFFFFF"/>
                  </a:solidFill>
                  <a:latin typeface="HK Grotesk"/>
                  <a:ea typeface="HK Grotesk"/>
                  <a:cs typeface="HK Grotesk"/>
                  <a:sym typeface="HK Grotesk"/>
                </a:rPr>
                <a:t> relevant features while suppressing noise, allowing the model to focus on critical areas of the MRI scans for better segmentation results.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2115800" y="5057270"/>
            <a:ext cx="5810250" cy="3304183"/>
            <a:chOff x="0" y="0"/>
            <a:chExt cx="5346700" cy="4159484"/>
          </a:xfrm>
        </p:grpSpPr>
        <p:sp>
          <p:nvSpPr>
            <p:cNvPr id="9" name="TextBox 9"/>
            <p:cNvSpPr txBox="1"/>
            <p:nvPr/>
          </p:nvSpPr>
          <p:spPr>
            <a:xfrm>
              <a:off x="0" y="0"/>
              <a:ext cx="5346700" cy="5588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59"/>
                </a:lnSpc>
                <a:spcBef>
                  <a:spcPct val="0"/>
                </a:spcBef>
              </a:pPr>
              <a:r>
                <a:rPr lang="en-US" sz="2799" b="1" u="none" strike="noStrike" dirty="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Input/Output Channels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730670"/>
              <a:ext cx="5346700" cy="342881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ct val="150000"/>
                </a:lnSpc>
                <a:spcBef>
                  <a:spcPct val="0"/>
                </a:spcBef>
              </a:pPr>
              <a:r>
                <a:rPr lang="en-US" sz="2400" u="none" strike="noStrike" dirty="0">
                  <a:solidFill>
                    <a:srgbClr val="FFFFFF"/>
                  </a:solidFill>
                  <a:latin typeface="HK Grotesk"/>
                  <a:ea typeface="HK Grotesk"/>
                  <a:cs typeface="HK Grotesk"/>
                  <a:sym typeface="HK Grotesk"/>
                </a:rPr>
                <a:t>The architecture comprises multiple input and output channels, facilitating the integration of various MRI modalities, which enhances the model's performance in identifying different tumor characteristics.</a:t>
              </a:r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666750" y="522661"/>
            <a:ext cx="16954500" cy="12820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600"/>
              </a:lnSpc>
            </a:pPr>
            <a:r>
              <a:rPr lang="en-US" sz="9600" spc="-192" dirty="0">
                <a:solidFill>
                  <a:schemeClr val="accent1"/>
                </a:solidFill>
                <a:latin typeface="Noto Serif Display ExtraCondensed Light"/>
                <a:ea typeface="Noto Serif Display ExtraCondensed Light"/>
                <a:cs typeface="Noto Serif Display ExtraCondensed Light"/>
                <a:sym typeface="Noto Serif Display ExtraCondensed Light"/>
              </a:rPr>
              <a:t>Model Architecture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66750" y="2190062"/>
            <a:ext cx="16954500" cy="25306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ct val="150000"/>
              </a:lnSpc>
            </a:pPr>
            <a:r>
              <a:rPr lang="en-US" sz="2799" b="1" u="none" strike="noStrike" dirty="0">
                <a:solidFill>
                  <a:schemeClr val="accent6">
                    <a:lumMod val="60000"/>
                    <a:lumOff val="40000"/>
                  </a:schemeClr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Overview of 3D Attention U-Net: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799" b="1" u="none" strike="noStrike" dirty="0">
                <a:solidFill>
                  <a:srgbClr val="FFFFFF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4 input channels → 3 output masks.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799" b="1" u="none" strike="noStrike" dirty="0">
                <a:solidFill>
                  <a:srgbClr val="FFFFFF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Channels: (16,32,64,128,256).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799" b="1" u="none" strike="noStrike" dirty="0">
                <a:solidFill>
                  <a:srgbClr val="FFFFFF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Skip connections + Attention Gates.</a:t>
            </a:r>
          </a:p>
        </p:txBody>
      </p:sp>
      <p:sp>
        <p:nvSpPr>
          <p:cNvPr id="13" name="AutoShape 13"/>
          <p:cNvSpPr/>
          <p:nvPr/>
        </p:nvSpPr>
        <p:spPr>
          <a:xfrm>
            <a:off x="0" y="1779326"/>
            <a:ext cx="18288000" cy="0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4" name="AutoShape 14"/>
          <p:cNvSpPr/>
          <p:nvPr/>
        </p:nvSpPr>
        <p:spPr>
          <a:xfrm>
            <a:off x="0" y="9629775"/>
            <a:ext cx="18288000" cy="0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34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253BA69-FA54-4E75-7DD2-B78CCCCB01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1">
            <a:extLst>
              <a:ext uri="{FF2B5EF4-FFF2-40B4-BE49-F238E27FC236}">
                <a16:creationId xmlns:a16="http://schemas.microsoft.com/office/drawing/2014/main" id="{7CDBBB29-FBEE-A0D5-7F62-A49879D01A7E}"/>
              </a:ext>
            </a:extLst>
          </p:cNvPr>
          <p:cNvSpPr txBox="1"/>
          <p:nvPr/>
        </p:nvSpPr>
        <p:spPr>
          <a:xfrm>
            <a:off x="704850" y="554913"/>
            <a:ext cx="16954500" cy="12404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9600"/>
              </a:lnSpc>
            </a:pPr>
            <a:r>
              <a:rPr lang="en-US" sz="9600" spc="-192" dirty="0">
                <a:solidFill>
                  <a:schemeClr val="accent1"/>
                </a:solidFill>
                <a:latin typeface="Noto Serif Display ExtraCondensed Light"/>
                <a:ea typeface="Noto Serif Display ExtraCondensed Light"/>
                <a:cs typeface="Noto Serif Display ExtraCondensed Light"/>
                <a:sym typeface="Noto Serif Display ExtraCondensed Light"/>
              </a:rPr>
              <a:t>Model Architecture</a:t>
            </a:r>
            <a:r>
              <a:rPr lang="en-IN" sz="9600" b="1" dirty="0">
                <a:solidFill>
                  <a:schemeClr val="accent1"/>
                </a:solidFill>
                <a:latin typeface="Noto Serif Display ExtraCondensed Light" panose="020B0604020202020204"/>
                <a:ea typeface="Noto Serif Display ExtraCondensed Light" panose="020B0604020202020204"/>
                <a:cs typeface="Noto Serif Display ExtraCondensed Light" panose="020B0604020202020204"/>
              </a:rPr>
              <a:t>- Layer Details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301BF170-B1AB-2EFF-4DB8-B70FC756343A}"/>
              </a:ext>
            </a:extLst>
          </p:cNvPr>
          <p:cNvSpPr txBox="1"/>
          <p:nvPr/>
        </p:nvSpPr>
        <p:spPr>
          <a:xfrm>
            <a:off x="666750" y="2432762"/>
            <a:ext cx="8477250" cy="544456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IN" sz="4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Encoder Path (</a:t>
            </a:r>
            <a:r>
              <a:rPr lang="en-IN" sz="4000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Downsampling</a:t>
            </a:r>
            <a:r>
              <a:rPr lang="en-IN" sz="4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):</a:t>
            </a:r>
            <a:endParaRPr lang="en-IN" sz="4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1028700" lvl="1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4000" dirty="0">
                <a:solidFill>
                  <a:schemeClr val="bg1"/>
                </a:solidFill>
              </a:rPr>
              <a:t>Conv1: 4→16 channels, stride 2</a:t>
            </a:r>
          </a:p>
          <a:p>
            <a:pPr marL="1028700" lvl="1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4000" dirty="0">
                <a:solidFill>
                  <a:schemeClr val="bg1"/>
                </a:solidFill>
              </a:rPr>
              <a:t>Conv2: 16→32 channels, stride 2</a:t>
            </a:r>
          </a:p>
          <a:p>
            <a:pPr marL="1028700" lvl="1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4000" dirty="0">
                <a:solidFill>
                  <a:schemeClr val="bg1"/>
                </a:solidFill>
              </a:rPr>
              <a:t>Conv3: 32→64 channels, stride 2</a:t>
            </a:r>
          </a:p>
          <a:p>
            <a:pPr marL="1028700" lvl="1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4000" dirty="0">
                <a:solidFill>
                  <a:schemeClr val="bg1"/>
                </a:solidFill>
              </a:rPr>
              <a:t>Conv4: 64→128 channels, stride 2</a:t>
            </a:r>
          </a:p>
          <a:p>
            <a:pPr marL="1028700" lvl="1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4000" dirty="0">
                <a:solidFill>
                  <a:schemeClr val="bg1"/>
                </a:solidFill>
              </a:rPr>
              <a:t>Bottleneck: 128→256 channels</a:t>
            </a:r>
          </a:p>
        </p:txBody>
      </p:sp>
      <p:sp>
        <p:nvSpPr>
          <p:cNvPr id="13" name="AutoShape 13">
            <a:extLst>
              <a:ext uri="{FF2B5EF4-FFF2-40B4-BE49-F238E27FC236}">
                <a16:creationId xmlns:a16="http://schemas.microsoft.com/office/drawing/2014/main" id="{ADDD775D-A8CA-E8D1-B8E6-501A0108AE8C}"/>
              </a:ext>
            </a:extLst>
          </p:cNvPr>
          <p:cNvSpPr/>
          <p:nvPr/>
        </p:nvSpPr>
        <p:spPr>
          <a:xfrm>
            <a:off x="0" y="1790700"/>
            <a:ext cx="18288000" cy="0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4" name="AutoShape 14">
            <a:extLst>
              <a:ext uri="{FF2B5EF4-FFF2-40B4-BE49-F238E27FC236}">
                <a16:creationId xmlns:a16="http://schemas.microsoft.com/office/drawing/2014/main" id="{2627E492-4C17-3907-858D-4176E9D20122}"/>
              </a:ext>
            </a:extLst>
          </p:cNvPr>
          <p:cNvSpPr/>
          <p:nvPr/>
        </p:nvSpPr>
        <p:spPr>
          <a:xfrm>
            <a:off x="0" y="9629775"/>
            <a:ext cx="18288000" cy="0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" name="TextBox 12">
            <a:extLst>
              <a:ext uri="{FF2B5EF4-FFF2-40B4-BE49-F238E27FC236}">
                <a16:creationId xmlns:a16="http://schemas.microsoft.com/office/drawing/2014/main" id="{AD47020E-5615-848B-DDAB-466FEFA0D991}"/>
              </a:ext>
            </a:extLst>
          </p:cNvPr>
          <p:cNvSpPr txBox="1"/>
          <p:nvPr/>
        </p:nvSpPr>
        <p:spPr>
          <a:xfrm>
            <a:off x="8978900" y="2452524"/>
            <a:ext cx="9296400" cy="490012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IN" sz="36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Decoder Path (</a:t>
            </a:r>
            <a:r>
              <a:rPr lang="en-IN" sz="3600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Upsampling</a:t>
            </a:r>
            <a:r>
              <a:rPr lang="en-IN" sz="36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):</a:t>
            </a:r>
            <a:endParaRPr lang="en-IN" sz="36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1028700" lvl="1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600" dirty="0">
                <a:solidFill>
                  <a:schemeClr val="bg1"/>
                </a:solidFill>
              </a:rPr>
              <a:t>Up-sample1: 256→128 + Attention Gate 128</a:t>
            </a:r>
          </a:p>
          <a:p>
            <a:pPr marL="1028700" lvl="1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600" dirty="0">
                <a:solidFill>
                  <a:schemeClr val="bg1"/>
                </a:solidFill>
              </a:rPr>
              <a:t>Up-sample2: 128→64 + Attention Gate 64</a:t>
            </a:r>
          </a:p>
          <a:p>
            <a:pPr marL="1028700" lvl="1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600" dirty="0">
                <a:solidFill>
                  <a:schemeClr val="bg1"/>
                </a:solidFill>
              </a:rPr>
              <a:t>Up-sample3: 64→32 + Attention Gate 32</a:t>
            </a:r>
          </a:p>
          <a:p>
            <a:pPr marL="1028700" lvl="1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600" dirty="0">
                <a:solidFill>
                  <a:schemeClr val="bg1"/>
                </a:solidFill>
              </a:rPr>
              <a:t>Up-sample4: 32→16 + Attention Gate 16</a:t>
            </a:r>
          </a:p>
          <a:p>
            <a:pPr marL="1028700" lvl="1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600" dirty="0">
                <a:solidFill>
                  <a:schemeClr val="bg1"/>
                </a:solidFill>
              </a:rPr>
              <a:t>Output: 16→3 channels (1×1×1 conv)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233EB724-2DAD-8F3C-BB9A-EC734290A11A}"/>
              </a:ext>
            </a:extLst>
          </p:cNvPr>
          <p:cNvCxnSpPr>
            <a:cxnSpLocks/>
          </p:cNvCxnSpPr>
          <p:nvPr/>
        </p:nvCxnSpPr>
        <p:spPr>
          <a:xfrm>
            <a:off x="8839200" y="1790700"/>
            <a:ext cx="0" cy="7839075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099658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73140" y="2435823"/>
            <a:ext cx="8370860" cy="590931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spcBef>
                <a:spcPct val="0"/>
              </a:spcBef>
            </a:pPr>
            <a:r>
              <a:rPr lang="en-US" sz="32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Patch-level 3D Attention U-Net — lighter version for 128³ patches.</a:t>
            </a:r>
          </a:p>
          <a:p>
            <a:pPr marL="0" lvl="0" indent="0" algn="l">
              <a:spcBef>
                <a:spcPct val="0"/>
              </a:spcBef>
            </a:pPr>
            <a:endParaRPr lang="en-US" sz="3200" b="1" dirty="0">
              <a:solidFill>
                <a:srgbClr val="FFFFFF"/>
              </a:solidFill>
              <a:latin typeface="HK Grotesk Semi-Bold"/>
              <a:ea typeface="HK Grotesk Semi-Bold"/>
              <a:cs typeface="HK Grotesk Semi-Bold"/>
              <a:sym typeface="HK Grotesk Semi-Bold"/>
            </a:endParaRPr>
          </a:p>
          <a:p>
            <a:pPr marL="498729" lvl="1" indent="-249365">
              <a:spcBef>
                <a:spcPct val="0"/>
              </a:spcBef>
              <a:buFont typeface="Arial"/>
              <a:buChar char="•"/>
            </a:pPr>
            <a:r>
              <a:rPr lang="en-US" sz="3200" dirty="0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A compact version of the main 3D Attention U-Net trained on 128 × 128 × 128 tumor-focused patches.</a:t>
            </a:r>
          </a:p>
          <a:p>
            <a:pPr marL="498729" lvl="1" indent="-249365">
              <a:spcBef>
                <a:spcPct val="0"/>
              </a:spcBef>
              <a:buFont typeface="Arial"/>
              <a:buChar char="•"/>
            </a:pPr>
            <a:r>
              <a:rPr lang="en-US" sz="3200" dirty="0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Retains encoder–decoder design and attention gates to highlight tumor voxels inside each patch.</a:t>
            </a:r>
          </a:p>
          <a:p>
            <a:pPr marL="498729" lvl="1" indent="-249365">
              <a:spcBef>
                <a:spcPct val="0"/>
              </a:spcBef>
              <a:buFont typeface="Arial"/>
              <a:buChar char="•"/>
            </a:pPr>
            <a:r>
              <a:rPr lang="en-US" sz="3200" dirty="0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Smaller channel set → lower GPU memory need, faster convergence, better focus on local tumor regions.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9936190" y="2552700"/>
            <a:ext cx="8077200" cy="475514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32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3D V-Net (Residual Variant)</a:t>
            </a:r>
          </a:p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endParaRPr lang="en-US" sz="2799" b="1" dirty="0">
              <a:solidFill>
                <a:srgbClr val="FFFFFF"/>
              </a:solidFill>
              <a:latin typeface="HK Grotesk Semi-Bold"/>
              <a:ea typeface="HK Grotesk Semi-Bold"/>
              <a:cs typeface="HK Grotesk Semi-Bold"/>
              <a:sym typeface="HK Grotesk Semi-Bold"/>
            </a:endParaRPr>
          </a:p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endParaRPr lang="en-US" sz="2799" b="1" dirty="0">
              <a:solidFill>
                <a:srgbClr val="FFFFFF"/>
              </a:solidFill>
              <a:latin typeface="HK Grotesk Semi-Bold"/>
              <a:ea typeface="HK Grotesk Semi-Bold"/>
              <a:cs typeface="HK Grotesk Semi-Bold"/>
              <a:sym typeface="HK Grotesk Semi-Bold"/>
            </a:endParaRPr>
          </a:p>
          <a:p>
            <a:pPr marL="498729" lvl="1" indent="-249365">
              <a:spcBef>
                <a:spcPct val="0"/>
              </a:spcBef>
              <a:buFont typeface="Arial"/>
              <a:buChar char="•"/>
            </a:pPr>
            <a:r>
              <a:rPr lang="en-US" sz="3200" dirty="0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Employs residual blocks for stable gradient flow and smoother tumor boundaries.</a:t>
            </a:r>
          </a:p>
          <a:p>
            <a:pPr marL="498729" lvl="1" indent="-249365">
              <a:spcBef>
                <a:spcPct val="0"/>
              </a:spcBef>
              <a:buFont typeface="Arial"/>
              <a:buChar char="•"/>
            </a:pPr>
            <a:r>
              <a:rPr lang="en-US" sz="3200" dirty="0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Excels at learning 3D context and volumetric continuity within limited patch size.</a:t>
            </a:r>
          </a:p>
          <a:p>
            <a:pPr marL="498729" lvl="1" indent="-249365">
              <a:spcBef>
                <a:spcPct val="0"/>
              </a:spcBef>
              <a:buFont typeface="Arial"/>
              <a:buChar char="•"/>
            </a:pPr>
            <a:r>
              <a:rPr lang="en-US" sz="3200" dirty="0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Works well for capturing intensity variations and fine details near edges.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73140" y="537045"/>
            <a:ext cx="17240250" cy="12820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9600"/>
              </a:lnSpc>
            </a:pPr>
            <a:r>
              <a:rPr lang="en-US" sz="9600" spc="-192" dirty="0">
                <a:solidFill>
                  <a:schemeClr val="accent1"/>
                </a:solidFill>
                <a:latin typeface="Noto Serif Display ExtraCondensed Light"/>
                <a:ea typeface="Noto Serif Display ExtraCondensed Light"/>
                <a:cs typeface="Noto Serif Display ExtraCondensed Light"/>
                <a:sym typeface="Noto Serif Display ExtraCondensed Light"/>
              </a:rPr>
              <a:t>Our Proposed Models (Patch-based)</a:t>
            </a:r>
          </a:p>
        </p:txBody>
      </p:sp>
      <p:sp>
        <p:nvSpPr>
          <p:cNvPr id="8" name="AutoShape 8"/>
          <p:cNvSpPr/>
          <p:nvPr/>
        </p:nvSpPr>
        <p:spPr>
          <a:xfrm>
            <a:off x="0" y="1943100"/>
            <a:ext cx="18288000" cy="0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9" name="AutoShape 9"/>
          <p:cNvSpPr/>
          <p:nvPr/>
        </p:nvSpPr>
        <p:spPr>
          <a:xfrm>
            <a:off x="0" y="9629775"/>
            <a:ext cx="18288000" cy="0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954A087-8BB2-63D8-AE83-DD863F89CB22}"/>
              </a:ext>
            </a:extLst>
          </p:cNvPr>
          <p:cNvCxnSpPr>
            <a:cxnSpLocks/>
          </p:cNvCxnSpPr>
          <p:nvPr/>
        </p:nvCxnSpPr>
        <p:spPr>
          <a:xfrm>
            <a:off x="9393265" y="1943100"/>
            <a:ext cx="0" cy="7806855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flipV="1">
            <a:off x="0" y="1485900"/>
            <a:ext cx="18364200" cy="1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AutoShape 3"/>
          <p:cNvSpPr/>
          <p:nvPr/>
        </p:nvSpPr>
        <p:spPr>
          <a:xfrm flipV="1">
            <a:off x="0" y="9569448"/>
            <a:ext cx="18288000" cy="50802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TextBox 4"/>
          <p:cNvSpPr txBox="1"/>
          <p:nvPr/>
        </p:nvSpPr>
        <p:spPr>
          <a:xfrm>
            <a:off x="2514599" y="364181"/>
            <a:ext cx="10963031" cy="12820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600"/>
              </a:lnSpc>
            </a:pPr>
            <a:r>
              <a:rPr lang="en-US" sz="9600" spc="-192" dirty="0">
                <a:solidFill>
                  <a:schemeClr val="accent1"/>
                </a:solidFill>
                <a:latin typeface="Noto Serif Display ExtraCondensed Light"/>
                <a:ea typeface="Noto Serif Display ExtraCondensed Light"/>
                <a:cs typeface="Noto Serif Display ExtraCondensed Light"/>
                <a:sym typeface="Noto Serif Display ExtraCondensed Light"/>
              </a:rPr>
              <a:t>Model Training 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90600" y="1872507"/>
            <a:ext cx="7315200" cy="73103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IN" sz="32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Training Configuration:</a:t>
            </a:r>
            <a:endParaRPr lang="en-IN" sz="32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200" b="1" dirty="0">
                <a:solidFill>
                  <a:schemeClr val="bg1"/>
                </a:solidFill>
              </a:rPr>
              <a:t>Framework:</a:t>
            </a:r>
            <a:r>
              <a:rPr lang="en-IN" sz="3200" dirty="0">
                <a:solidFill>
                  <a:schemeClr val="bg1"/>
                </a:solidFill>
              </a:rPr>
              <a:t> </a:t>
            </a:r>
            <a:r>
              <a:rPr lang="en-IN" sz="3200" dirty="0" err="1">
                <a:solidFill>
                  <a:schemeClr val="bg1"/>
                </a:solidFill>
              </a:rPr>
              <a:t>PyTorch</a:t>
            </a:r>
            <a:r>
              <a:rPr lang="en-IN" sz="3200" dirty="0">
                <a:solidFill>
                  <a:schemeClr val="bg1"/>
                </a:solidFill>
              </a:rPr>
              <a:t> with MONAI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200" b="1" dirty="0">
                <a:solidFill>
                  <a:schemeClr val="bg1"/>
                </a:solidFill>
              </a:rPr>
              <a:t>Hardware:</a:t>
            </a:r>
            <a:r>
              <a:rPr lang="en-IN" sz="3200" dirty="0">
                <a:solidFill>
                  <a:schemeClr val="bg1"/>
                </a:solidFill>
              </a:rPr>
              <a:t> NVIDIA Tesla P100 (Kaggle)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200" b="1" dirty="0">
                <a:solidFill>
                  <a:schemeClr val="bg1"/>
                </a:solidFill>
              </a:rPr>
              <a:t>Batch Size:</a:t>
            </a:r>
            <a:r>
              <a:rPr lang="en-IN" sz="3200" dirty="0">
                <a:solidFill>
                  <a:schemeClr val="bg1"/>
                </a:solidFill>
              </a:rPr>
              <a:t> 2 (memory constraints)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200" b="1" dirty="0">
                <a:solidFill>
                  <a:schemeClr val="bg1"/>
                </a:solidFill>
              </a:rPr>
              <a:t>Epochs:</a:t>
            </a:r>
            <a:r>
              <a:rPr lang="en-IN" sz="3200" dirty="0">
                <a:solidFill>
                  <a:schemeClr val="bg1"/>
                </a:solidFill>
              </a:rPr>
              <a:t> 93 total with early stopping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200" b="1" dirty="0">
                <a:solidFill>
                  <a:schemeClr val="bg1"/>
                </a:solidFill>
              </a:rPr>
              <a:t>Optimizer:</a:t>
            </a:r>
            <a:r>
              <a:rPr lang="en-IN" sz="3200" dirty="0">
                <a:solidFill>
                  <a:schemeClr val="bg1"/>
                </a:solidFill>
              </a:rPr>
              <a:t> </a:t>
            </a:r>
            <a:r>
              <a:rPr lang="en-IN" sz="3200" dirty="0" err="1">
                <a:solidFill>
                  <a:schemeClr val="bg1"/>
                </a:solidFill>
              </a:rPr>
              <a:t>AdamW</a:t>
            </a:r>
            <a:r>
              <a:rPr lang="en-IN" sz="3200" dirty="0">
                <a:solidFill>
                  <a:schemeClr val="bg1"/>
                </a:solidFill>
              </a:rPr>
              <a:t> (</a:t>
            </a:r>
            <a:r>
              <a:rPr lang="en-IN" sz="3200" dirty="0" err="1">
                <a:solidFill>
                  <a:schemeClr val="bg1"/>
                </a:solidFill>
              </a:rPr>
              <a:t>lr</a:t>
            </a:r>
            <a:r>
              <a:rPr lang="en-IN" sz="3200" dirty="0">
                <a:solidFill>
                  <a:schemeClr val="bg1"/>
                </a:solidFill>
              </a:rPr>
              <a:t>=1e-4, </a:t>
            </a:r>
            <a:r>
              <a:rPr lang="en-IN" sz="3200" dirty="0" err="1">
                <a:solidFill>
                  <a:schemeClr val="bg1"/>
                </a:solidFill>
              </a:rPr>
              <a:t>weight_decay</a:t>
            </a:r>
            <a:r>
              <a:rPr lang="en-IN" sz="3200" dirty="0">
                <a:solidFill>
                  <a:schemeClr val="bg1"/>
                </a:solidFill>
              </a:rPr>
              <a:t>=1e-5)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200" b="1" dirty="0">
                <a:solidFill>
                  <a:schemeClr val="bg1"/>
                </a:solidFill>
              </a:rPr>
              <a:t>Loss Function:</a:t>
            </a:r>
            <a:r>
              <a:rPr lang="en-IN" sz="3200" dirty="0">
                <a:solidFill>
                  <a:schemeClr val="bg1"/>
                </a:solidFill>
              </a:rPr>
              <a:t> </a:t>
            </a:r>
            <a:r>
              <a:rPr lang="en-IN" sz="3200" dirty="0" err="1">
                <a:solidFill>
                  <a:schemeClr val="bg1"/>
                </a:solidFill>
              </a:rPr>
              <a:t>DiceBCELoss</a:t>
            </a:r>
            <a:r>
              <a:rPr lang="en-IN" sz="3200" dirty="0">
                <a:solidFill>
                  <a:schemeClr val="bg1"/>
                </a:solidFill>
              </a:rPr>
              <a:t> (0.5 Dice + 0.5 BCE)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200" b="1" dirty="0">
                <a:solidFill>
                  <a:schemeClr val="bg1"/>
                </a:solidFill>
              </a:rPr>
              <a:t>LR Scheduler:</a:t>
            </a:r>
            <a:r>
              <a:rPr lang="en-IN" sz="3200" dirty="0">
                <a:solidFill>
                  <a:schemeClr val="bg1"/>
                </a:solidFill>
              </a:rPr>
              <a:t> Polynomial Decay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D3DEF81-B16A-D6BE-FF3F-5271FFE4B14F}"/>
              </a:ext>
            </a:extLst>
          </p:cNvPr>
          <p:cNvSpPr txBox="1"/>
          <p:nvPr/>
        </p:nvSpPr>
        <p:spPr>
          <a:xfrm>
            <a:off x="8766921" y="1872507"/>
            <a:ext cx="9421417" cy="435568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IN" sz="32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Regularization:</a:t>
            </a:r>
            <a:endParaRPr lang="en-IN" sz="32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200" b="1" dirty="0">
                <a:solidFill>
                  <a:schemeClr val="bg1"/>
                </a:solidFill>
              </a:rPr>
              <a:t>Data Augmentation:</a:t>
            </a:r>
            <a:r>
              <a:rPr lang="en-IN" sz="3200" dirty="0">
                <a:solidFill>
                  <a:schemeClr val="bg1"/>
                </a:solidFill>
              </a:rPr>
              <a:t> Random flip, rotation, elastic deformation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200" b="1" dirty="0">
                <a:solidFill>
                  <a:schemeClr val="bg1"/>
                </a:solidFill>
              </a:rPr>
              <a:t>Mixed Precision:</a:t>
            </a:r>
            <a:r>
              <a:rPr lang="en-IN" sz="3200" dirty="0">
                <a:solidFill>
                  <a:schemeClr val="bg1"/>
                </a:solidFill>
              </a:rPr>
              <a:t> FP16 training with </a:t>
            </a:r>
            <a:r>
              <a:rPr lang="en-IN" sz="3200" dirty="0" err="1">
                <a:solidFill>
                  <a:schemeClr val="bg1"/>
                </a:solidFill>
              </a:rPr>
              <a:t>GradScaler</a:t>
            </a:r>
            <a:endParaRPr lang="en-IN" sz="3200" dirty="0">
              <a:solidFill>
                <a:schemeClr val="bg1"/>
              </a:solidFill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200" b="1" dirty="0">
                <a:solidFill>
                  <a:schemeClr val="bg1"/>
                </a:solidFill>
              </a:rPr>
              <a:t>Early Stopping:</a:t>
            </a:r>
            <a:r>
              <a:rPr lang="en-IN" sz="3200" dirty="0">
                <a:solidFill>
                  <a:schemeClr val="bg1"/>
                </a:solidFill>
              </a:rPr>
              <a:t> Patience = 7 epochs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200" b="1" dirty="0">
                <a:solidFill>
                  <a:schemeClr val="bg1"/>
                </a:solidFill>
              </a:rPr>
              <a:t>Gradient Clipping:</a:t>
            </a:r>
            <a:r>
              <a:rPr lang="en-IN" sz="3200" dirty="0">
                <a:solidFill>
                  <a:schemeClr val="bg1"/>
                </a:solidFill>
              </a:rPr>
              <a:t> </a:t>
            </a:r>
            <a:r>
              <a:rPr lang="en-IN" sz="3200" dirty="0" err="1">
                <a:solidFill>
                  <a:schemeClr val="bg1"/>
                </a:solidFill>
              </a:rPr>
              <a:t>max_norm</a:t>
            </a:r>
            <a:r>
              <a:rPr lang="en-IN" sz="3200" dirty="0">
                <a:solidFill>
                  <a:schemeClr val="bg1"/>
                </a:solidFill>
              </a:rPr>
              <a:t>=1.0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76200" y="1528283"/>
            <a:ext cx="18288000" cy="12700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AutoShape 3"/>
          <p:cNvSpPr/>
          <p:nvPr/>
        </p:nvSpPr>
        <p:spPr>
          <a:xfrm>
            <a:off x="0" y="9620250"/>
            <a:ext cx="18288000" cy="19050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TextBox 4"/>
          <p:cNvSpPr txBox="1"/>
          <p:nvPr/>
        </p:nvSpPr>
        <p:spPr>
          <a:xfrm>
            <a:off x="-25400" y="392479"/>
            <a:ext cx="18059400" cy="124046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9600"/>
              </a:lnSpc>
            </a:pPr>
            <a:r>
              <a:rPr lang="en-US" sz="9600" spc="-192" dirty="0">
                <a:solidFill>
                  <a:schemeClr val="accent1"/>
                </a:solidFill>
                <a:latin typeface="Noto Serif Display ExtraCondensed Light"/>
                <a:ea typeface="Noto Serif Display ExtraCondensed Light"/>
                <a:cs typeface="Noto Serif Display ExtraCondensed Light"/>
                <a:sym typeface="Noto Serif Display ExtraCondensed Light"/>
              </a:rPr>
              <a:t>Training  Results- Metric Evaluation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62000" y="1699511"/>
            <a:ext cx="7315200" cy="361701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IN" sz="32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Best Performance Achieved:</a:t>
            </a:r>
            <a:endParaRPr lang="en-IN" sz="32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200" b="1" dirty="0">
                <a:solidFill>
                  <a:schemeClr val="bg1"/>
                </a:solidFill>
              </a:rPr>
              <a:t>Epoch 93:</a:t>
            </a:r>
            <a:r>
              <a:rPr lang="en-IN" sz="3200" dirty="0">
                <a:solidFill>
                  <a:schemeClr val="bg1"/>
                </a:solidFill>
              </a:rPr>
              <a:t> Mean Dice = 0.7812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200" b="1" dirty="0">
                <a:solidFill>
                  <a:schemeClr val="bg1"/>
                </a:solidFill>
              </a:rPr>
              <a:t>Whole </a:t>
            </a:r>
            <a:r>
              <a:rPr lang="en-IN" sz="3200" b="1" dirty="0" err="1">
                <a:solidFill>
                  <a:schemeClr val="bg1"/>
                </a:solidFill>
              </a:rPr>
              <a:t>Tumor</a:t>
            </a:r>
            <a:r>
              <a:rPr lang="en-IN" sz="3200" b="1" dirty="0">
                <a:solidFill>
                  <a:schemeClr val="bg1"/>
                </a:solidFill>
              </a:rPr>
              <a:t>:</a:t>
            </a:r>
            <a:r>
              <a:rPr lang="en-IN" sz="3200" dirty="0">
                <a:solidFill>
                  <a:schemeClr val="bg1"/>
                </a:solidFill>
              </a:rPr>
              <a:t> 0.8725 Dice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200" b="1" dirty="0" err="1">
                <a:solidFill>
                  <a:schemeClr val="bg1"/>
                </a:solidFill>
              </a:rPr>
              <a:t>Tumor</a:t>
            </a:r>
            <a:r>
              <a:rPr lang="en-IN" sz="3200" b="1" dirty="0">
                <a:solidFill>
                  <a:schemeClr val="bg1"/>
                </a:solidFill>
              </a:rPr>
              <a:t> Core:</a:t>
            </a:r>
            <a:r>
              <a:rPr lang="en-IN" sz="3200" dirty="0">
                <a:solidFill>
                  <a:schemeClr val="bg1"/>
                </a:solidFill>
              </a:rPr>
              <a:t> 0.8033 Dice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200" b="1" dirty="0">
                <a:solidFill>
                  <a:schemeClr val="bg1"/>
                </a:solidFill>
              </a:rPr>
              <a:t>Enhancing </a:t>
            </a:r>
            <a:r>
              <a:rPr lang="en-IN" sz="3200" b="1" dirty="0" err="1">
                <a:solidFill>
                  <a:schemeClr val="bg1"/>
                </a:solidFill>
              </a:rPr>
              <a:t>Tumor</a:t>
            </a:r>
            <a:r>
              <a:rPr lang="en-IN" sz="3200" b="1" dirty="0">
                <a:solidFill>
                  <a:schemeClr val="bg1"/>
                </a:solidFill>
              </a:rPr>
              <a:t>:</a:t>
            </a:r>
            <a:r>
              <a:rPr lang="en-IN" sz="3200" dirty="0">
                <a:solidFill>
                  <a:schemeClr val="bg1"/>
                </a:solidFill>
              </a:rPr>
              <a:t> 0.6679 Dice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2839077-8E8C-53FC-77E7-875D720254EC}"/>
              </a:ext>
            </a:extLst>
          </p:cNvPr>
          <p:cNvSpPr txBox="1"/>
          <p:nvPr/>
        </p:nvSpPr>
        <p:spPr>
          <a:xfrm>
            <a:off x="9296400" y="1724911"/>
            <a:ext cx="10210800" cy="361701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IN" sz="32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Training Progress:</a:t>
            </a:r>
            <a:endParaRPr lang="en-IN" sz="32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200" b="1" dirty="0">
                <a:solidFill>
                  <a:schemeClr val="bg1"/>
                </a:solidFill>
              </a:rPr>
              <a:t>Initial (Epoch 1):</a:t>
            </a:r>
            <a:r>
              <a:rPr lang="en-IN" sz="3200" dirty="0">
                <a:solidFill>
                  <a:schemeClr val="bg1"/>
                </a:solidFill>
              </a:rPr>
              <a:t> Mean Dice = 0.2400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200" b="1" dirty="0">
                <a:solidFill>
                  <a:schemeClr val="bg1"/>
                </a:solidFill>
              </a:rPr>
              <a:t>Mid-training (Epoch 33):</a:t>
            </a:r>
            <a:r>
              <a:rPr lang="en-IN" sz="3200" dirty="0">
                <a:solidFill>
                  <a:schemeClr val="bg1"/>
                </a:solidFill>
              </a:rPr>
              <a:t> Mean Dice = 0.6608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200" b="1" dirty="0">
                <a:solidFill>
                  <a:schemeClr val="bg1"/>
                </a:solidFill>
              </a:rPr>
              <a:t>Near-best (Epoch 67):</a:t>
            </a:r>
            <a:r>
              <a:rPr lang="en-IN" sz="3200" dirty="0">
                <a:solidFill>
                  <a:schemeClr val="bg1"/>
                </a:solidFill>
              </a:rPr>
              <a:t> Mean Dice = 0.7590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200" b="1" dirty="0">
                <a:solidFill>
                  <a:schemeClr val="bg1"/>
                </a:solidFill>
              </a:rPr>
              <a:t>Final Best (Epoch 93):</a:t>
            </a:r>
            <a:r>
              <a:rPr lang="en-IN" sz="3200" dirty="0">
                <a:solidFill>
                  <a:schemeClr val="bg1"/>
                </a:solidFill>
              </a:rPr>
              <a:t> Mean Dice = 0.7812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904387A-4F29-DCEC-9084-62E99F333257}"/>
              </a:ext>
            </a:extLst>
          </p:cNvPr>
          <p:cNvSpPr txBox="1"/>
          <p:nvPr/>
        </p:nvSpPr>
        <p:spPr>
          <a:xfrm>
            <a:off x="762000" y="5880365"/>
            <a:ext cx="11203296" cy="28783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IN" sz="32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Key Observation:</a:t>
            </a:r>
            <a:endParaRPr lang="en-IN" sz="32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200" dirty="0">
                <a:solidFill>
                  <a:schemeClr val="bg1"/>
                </a:solidFill>
              </a:rPr>
              <a:t>Consistent improvement across 93 epochs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200" dirty="0">
                <a:solidFill>
                  <a:schemeClr val="bg1"/>
                </a:solidFill>
              </a:rPr>
              <a:t>Early stopping prevented overfitting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200" dirty="0">
                <a:solidFill>
                  <a:schemeClr val="bg1"/>
                </a:solidFill>
              </a:rPr>
              <a:t>Enhancing </a:t>
            </a:r>
            <a:r>
              <a:rPr lang="en-IN" sz="3200" dirty="0" err="1">
                <a:solidFill>
                  <a:schemeClr val="bg1"/>
                </a:solidFill>
              </a:rPr>
              <a:t>Tumor</a:t>
            </a:r>
            <a:r>
              <a:rPr lang="en-IN" sz="3200" dirty="0">
                <a:solidFill>
                  <a:schemeClr val="bg1"/>
                </a:solidFill>
              </a:rPr>
              <a:t> remained most challenging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2019300"/>
            <a:ext cx="18288000" cy="0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AutoShape 3"/>
          <p:cNvSpPr/>
          <p:nvPr/>
        </p:nvSpPr>
        <p:spPr>
          <a:xfrm>
            <a:off x="0" y="9620250"/>
            <a:ext cx="18288000" cy="0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Freeform 4"/>
          <p:cNvSpPr/>
          <p:nvPr/>
        </p:nvSpPr>
        <p:spPr>
          <a:xfrm>
            <a:off x="914400" y="2869840"/>
            <a:ext cx="6902638" cy="5067496"/>
          </a:xfrm>
          <a:custGeom>
            <a:avLst/>
            <a:gdLst/>
            <a:ahLst/>
            <a:cxnLst/>
            <a:rect l="l" t="t" r="r" b="b"/>
            <a:pathLst>
              <a:path w="6902638" h="5067496">
                <a:moveTo>
                  <a:pt x="0" y="0"/>
                </a:moveTo>
                <a:lnTo>
                  <a:pt x="6902638" y="0"/>
                </a:lnTo>
                <a:lnTo>
                  <a:pt x="6902638" y="5067496"/>
                </a:lnTo>
                <a:lnTo>
                  <a:pt x="0" y="506749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9906000" y="2938177"/>
            <a:ext cx="6825606" cy="5067496"/>
          </a:xfrm>
          <a:custGeom>
            <a:avLst/>
            <a:gdLst/>
            <a:ahLst/>
            <a:cxnLst/>
            <a:rect l="l" t="t" r="r" b="b"/>
            <a:pathLst>
              <a:path w="6825606" h="5067496">
                <a:moveTo>
                  <a:pt x="0" y="0"/>
                </a:moveTo>
                <a:lnTo>
                  <a:pt x="6825607" y="0"/>
                </a:lnTo>
                <a:lnTo>
                  <a:pt x="6825607" y="5067496"/>
                </a:lnTo>
                <a:lnTo>
                  <a:pt x="0" y="506749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349250" y="609598"/>
            <a:ext cx="17938750" cy="12921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9999"/>
              </a:lnSpc>
            </a:pPr>
            <a:r>
              <a:rPr lang="en-US" sz="9999" spc="-199" dirty="0">
                <a:solidFill>
                  <a:schemeClr val="accent1"/>
                </a:solidFill>
                <a:latin typeface="Noto Serif Display ExtraCondensed Light"/>
                <a:ea typeface="Noto Serif Display ExtraCondensed Light"/>
                <a:cs typeface="Noto Serif Display ExtraCondensed Light"/>
                <a:sym typeface="Noto Serif Display ExtraCondensed Light"/>
              </a:rPr>
              <a:t>Model Predictions — Visual Results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66750" y="8715375"/>
            <a:ext cx="16592550" cy="542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500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Model</a:t>
            </a:r>
            <a:r>
              <a:rPr lang="en-US" sz="3500" u="none" strike="noStrike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 correctly segments WT; ET/TC regions slightly under-segmented.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34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E5D148E-DF1F-EE2D-3FC5-10D8AAC462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1A7A0667-F8AC-B6E0-AA62-C601ABE02F69}"/>
              </a:ext>
            </a:extLst>
          </p:cNvPr>
          <p:cNvSpPr/>
          <p:nvPr/>
        </p:nvSpPr>
        <p:spPr>
          <a:xfrm flipV="1">
            <a:off x="0" y="1104904"/>
            <a:ext cx="18288000" cy="126202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BDF4C39E-2C8C-6651-A38F-9CBF7B277D83}"/>
              </a:ext>
            </a:extLst>
          </p:cNvPr>
          <p:cNvSpPr/>
          <p:nvPr/>
        </p:nvSpPr>
        <p:spPr>
          <a:xfrm>
            <a:off x="0" y="9620250"/>
            <a:ext cx="9296400" cy="0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E89BBCEA-F0E5-E4ED-5703-4D9448EFE3B9}"/>
              </a:ext>
            </a:extLst>
          </p:cNvPr>
          <p:cNvSpPr txBox="1"/>
          <p:nvPr/>
        </p:nvSpPr>
        <p:spPr>
          <a:xfrm>
            <a:off x="838200" y="0"/>
            <a:ext cx="14325600" cy="12311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IN" sz="8000" b="1" dirty="0">
                <a:solidFill>
                  <a:schemeClr val="accent1"/>
                </a:solidFill>
                <a:latin typeface="Noto Serif Display ExtraCondensed Light" panose="020B0604020202020204"/>
                <a:ea typeface="Noto Serif Display ExtraCondensed Light" panose="020B0604020202020204"/>
                <a:cs typeface="Noto Serif Display ExtraCondensed Light" panose="020B0604020202020204"/>
              </a:rPr>
              <a:t>Hyperparameter Tuning Results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14053E10-C26F-5E83-D563-0B32401C2CD4}"/>
              </a:ext>
            </a:extLst>
          </p:cNvPr>
          <p:cNvSpPr txBox="1"/>
          <p:nvPr/>
        </p:nvSpPr>
        <p:spPr>
          <a:xfrm>
            <a:off x="838200" y="1409700"/>
            <a:ext cx="16611600" cy="77559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IN" sz="36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Explored Parameters:</a:t>
            </a:r>
            <a:endParaRPr lang="en-IN" sz="36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IN" sz="3600" dirty="0">
                <a:solidFill>
                  <a:schemeClr val="bg1"/>
                </a:solidFill>
              </a:rPr>
              <a:t>Learning Rates: 5e-5, 1e-4, 5e-4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IN" sz="3600" dirty="0">
                <a:solidFill>
                  <a:schemeClr val="bg1"/>
                </a:solidFill>
              </a:rPr>
              <a:t>Batch Sizes: 1, 2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IN" sz="3600" dirty="0">
                <a:solidFill>
                  <a:schemeClr val="bg1"/>
                </a:solidFill>
              </a:rPr>
              <a:t>Channel Configurations: (8,16,32,64,128), (16,32,64,128,256), (32,64,128,256,512)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IN" sz="3600" dirty="0">
                <a:solidFill>
                  <a:schemeClr val="bg1"/>
                </a:solidFill>
              </a:rPr>
              <a:t>Loss Weights: (0.5,0.5), (0.3,0.7), (0.7,0.3)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endParaRPr lang="en-IN" sz="3600" dirty="0">
              <a:solidFill>
                <a:schemeClr val="bg1"/>
              </a:solidFill>
            </a:endParaRPr>
          </a:p>
          <a:p>
            <a:r>
              <a:rPr lang="en-IN" sz="36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Best Configuration:</a:t>
            </a:r>
            <a:endParaRPr lang="en-IN" sz="36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1028700" lvl="1" indent="-571500">
              <a:buFont typeface="Arial" panose="020B0604020202020204" pitchFamily="34" charset="0"/>
              <a:buChar char="•"/>
            </a:pPr>
            <a:r>
              <a:rPr lang="en-IN" sz="3600" b="1" dirty="0">
                <a:solidFill>
                  <a:schemeClr val="bg1"/>
                </a:solidFill>
              </a:rPr>
              <a:t>Learning Rate:</a:t>
            </a:r>
            <a:r>
              <a:rPr lang="en-IN" sz="3600" dirty="0">
                <a:solidFill>
                  <a:schemeClr val="bg1"/>
                </a:solidFill>
              </a:rPr>
              <a:t> 0.0001</a:t>
            </a:r>
          </a:p>
          <a:p>
            <a:pPr marL="1028700" lvl="1" indent="-571500">
              <a:buFont typeface="Arial" panose="020B0604020202020204" pitchFamily="34" charset="0"/>
              <a:buChar char="•"/>
            </a:pPr>
            <a:r>
              <a:rPr lang="en-IN" sz="3600" b="1" dirty="0">
                <a:solidFill>
                  <a:schemeClr val="bg1"/>
                </a:solidFill>
              </a:rPr>
              <a:t>Batch Size:</a:t>
            </a:r>
            <a:r>
              <a:rPr lang="en-IN" sz="3600" dirty="0">
                <a:solidFill>
                  <a:schemeClr val="bg1"/>
                </a:solidFill>
              </a:rPr>
              <a:t> 2</a:t>
            </a:r>
          </a:p>
          <a:p>
            <a:pPr marL="1028700" lvl="1" indent="-571500">
              <a:buFont typeface="Arial" panose="020B0604020202020204" pitchFamily="34" charset="0"/>
              <a:buChar char="•"/>
            </a:pPr>
            <a:r>
              <a:rPr lang="en-IN" sz="3600" b="1" dirty="0">
                <a:solidFill>
                  <a:schemeClr val="bg1"/>
                </a:solidFill>
              </a:rPr>
              <a:t>Channels:</a:t>
            </a:r>
            <a:r>
              <a:rPr lang="en-IN" sz="3600" dirty="0">
                <a:solidFill>
                  <a:schemeClr val="bg1"/>
                </a:solidFill>
              </a:rPr>
              <a:t> (16, 32, 64, 128, 256)</a:t>
            </a:r>
          </a:p>
          <a:p>
            <a:pPr marL="1028700" lvl="1" indent="-571500">
              <a:buFont typeface="Arial" panose="020B0604020202020204" pitchFamily="34" charset="0"/>
              <a:buChar char="•"/>
            </a:pPr>
            <a:r>
              <a:rPr lang="en-IN" sz="3600" b="1" dirty="0">
                <a:solidFill>
                  <a:schemeClr val="bg1"/>
                </a:solidFill>
              </a:rPr>
              <a:t>Loss Weights:</a:t>
            </a:r>
            <a:r>
              <a:rPr lang="en-IN" sz="3600" dirty="0">
                <a:solidFill>
                  <a:schemeClr val="bg1"/>
                </a:solidFill>
              </a:rPr>
              <a:t> Dice 0.5, BCE 0.5</a:t>
            </a:r>
          </a:p>
          <a:p>
            <a:pPr marL="1028700" lvl="1" indent="-571500">
              <a:buFont typeface="Arial" panose="020B0604020202020204" pitchFamily="34" charset="0"/>
              <a:buChar char="•"/>
            </a:pPr>
            <a:r>
              <a:rPr lang="en-IN" sz="3600" b="1" dirty="0">
                <a:solidFill>
                  <a:schemeClr val="bg1"/>
                </a:solidFill>
              </a:rPr>
              <a:t>Gradient Clipping:</a:t>
            </a:r>
            <a:r>
              <a:rPr lang="en-IN" sz="3600" dirty="0">
                <a:solidFill>
                  <a:schemeClr val="bg1"/>
                </a:solidFill>
              </a:rPr>
              <a:t> 1.0</a:t>
            </a:r>
          </a:p>
          <a:p>
            <a:pPr marL="1028700" lvl="1" indent="-571500">
              <a:buFont typeface="Arial" panose="020B0604020202020204" pitchFamily="34" charset="0"/>
              <a:buChar char="•"/>
            </a:pPr>
            <a:r>
              <a:rPr lang="en-IN" sz="3600" b="1" dirty="0">
                <a:solidFill>
                  <a:schemeClr val="bg1"/>
                </a:solidFill>
              </a:rPr>
              <a:t>Weight Decay:</a:t>
            </a:r>
            <a:r>
              <a:rPr lang="en-IN" sz="3600" dirty="0">
                <a:solidFill>
                  <a:schemeClr val="bg1"/>
                </a:solidFill>
              </a:rPr>
              <a:t> 1e-5</a:t>
            </a:r>
          </a:p>
          <a:p>
            <a:pPr marL="1028700" lvl="1" indent="-571500">
              <a:buFont typeface="Arial" panose="020B0604020202020204" pitchFamily="34" charset="0"/>
              <a:buChar char="•"/>
            </a:pPr>
            <a:r>
              <a:rPr lang="en-IN" sz="3600" b="1" dirty="0">
                <a:solidFill>
                  <a:schemeClr val="bg1"/>
                </a:solidFill>
              </a:rPr>
              <a:t>Performance:</a:t>
            </a:r>
            <a:r>
              <a:rPr lang="en-IN" sz="3600" dirty="0">
                <a:solidFill>
                  <a:schemeClr val="bg1"/>
                </a:solidFill>
              </a:rPr>
              <a:t> Dice = 0.4919 (initial tuning phase)</a:t>
            </a:r>
          </a:p>
        </p:txBody>
      </p:sp>
    </p:spTree>
    <p:extLst>
      <p:ext uri="{BB962C8B-B14F-4D97-AF65-F5344CB8AC3E}">
        <p14:creationId xmlns:p14="http://schemas.microsoft.com/office/powerpoint/2010/main" val="308620286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34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1E1D550-B889-42FD-9E08-EBDCE07B67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A8AB61FD-E809-6356-8A38-B9DBFD0D0A2E}"/>
              </a:ext>
            </a:extLst>
          </p:cNvPr>
          <p:cNvSpPr/>
          <p:nvPr/>
        </p:nvSpPr>
        <p:spPr>
          <a:xfrm flipV="1">
            <a:off x="0" y="1181121"/>
            <a:ext cx="18288000" cy="100784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F8175083-EF87-7923-1FCD-0BB25932A105}"/>
              </a:ext>
            </a:extLst>
          </p:cNvPr>
          <p:cNvSpPr/>
          <p:nvPr/>
        </p:nvSpPr>
        <p:spPr>
          <a:xfrm>
            <a:off x="0" y="9639300"/>
            <a:ext cx="9296400" cy="0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2E60AC0A-1E03-B9BC-4598-D15DAAF051C5}"/>
              </a:ext>
            </a:extLst>
          </p:cNvPr>
          <p:cNvSpPr txBox="1"/>
          <p:nvPr/>
        </p:nvSpPr>
        <p:spPr>
          <a:xfrm>
            <a:off x="609600" y="57149"/>
            <a:ext cx="17526000" cy="12311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IN" sz="8000" b="1" dirty="0">
                <a:solidFill>
                  <a:schemeClr val="accent1"/>
                </a:solidFill>
                <a:latin typeface="Noto Serif Display ExtraCondensed Light" panose="020B0604020202020204"/>
                <a:ea typeface="Noto Serif Display ExtraCondensed Light" panose="020B0604020202020204"/>
                <a:cs typeface="Noto Serif Display ExtraCondensed Light" panose="020B0604020202020204"/>
              </a:rPr>
              <a:t>Validation Results - Sample Visualizations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B1E53808-E5F5-7937-E084-B3B620699866}"/>
              </a:ext>
            </a:extLst>
          </p:cNvPr>
          <p:cNvSpPr txBox="1"/>
          <p:nvPr/>
        </p:nvSpPr>
        <p:spPr>
          <a:xfrm>
            <a:off x="1295400" y="1416723"/>
            <a:ext cx="12496800" cy="76891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800" b="1" dirty="0">
                <a:solidFill>
                  <a:schemeClr val="bg1"/>
                </a:solidFill>
              </a:rPr>
              <a:t>Sample 1: Excellent Performance</a:t>
            </a:r>
            <a:endParaRPr lang="en-IN" sz="2800" dirty="0">
              <a:solidFill>
                <a:schemeClr val="bg1"/>
              </a:solidFill>
            </a:endParaRPr>
          </a:p>
          <a:p>
            <a:pPr marL="1371600" lvl="2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b="1" dirty="0">
                <a:solidFill>
                  <a:schemeClr val="bg1"/>
                </a:solidFill>
              </a:rPr>
              <a:t>TC Dice:</a:t>
            </a:r>
            <a:r>
              <a:rPr lang="en-IN" sz="2800" dirty="0">
                <a:solidFill>
                  <a:schemeClr val="bg1"/>
                </a:solidFill>
              </a:rPr>
              <a:t> 0.9361 | </a:t>
            </a:r>
            <a:r>
              <a:rPr lang="en-IN" sz="2800" b="1" dirty="0">
                <a:solidFill>
                  <a:schemeClr val="bg1"/>
                </a:solidFill>
              </a:rPr>
              <a:t>WT Dice:</a:t>
            </a:r>
            <a:r>
              <a:rPr lang="en-IN" sz="2800" dirty="0">
                <a:solidFill>
                  <a:schemeClr val="bg1"/>
                </a:solidFill>
              </a:rPr>
              <a:t> 0.9195 | </a:t>
            </a:r>
            <a:r>
              <a:rPr lang="en-IN" sz="2800" b="1" dirty="0">
                <a:solidFill>
                  <a:schemeClr val="bg1"/>
                </a:solidFill>
              </a:rPr>
              <a:t>ET Dice:</a:t>
            </a:r>
            <a:r>
              <a:rPr lang="en-IN" sz="2800" dirty="0">
                <a:solidFill>
                  <a:schemeClr val="bg1"/>
                </a:solidFill>
              </a:rPr>
              <a:t> 0.8751</a:t>
            </a:r>
          </a:p>
          <a:p>
            <a:pPr marL="1371600" lvl="2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bg1"/>
                </a:solidFill>
              </a:rPr>
              <a:t>Clear </a:t>
            </a:r>
            <a:r>
              <a:rPr lang="en-IN" sz="2800" dirty="0" err="1">
                <a:solidFill>
                  <a:schemeClr val="bg1"/>
                </a:solidFill>
              </a:rPr>
              <a:t>tumor</a:t>
            </a:r>
            <a:r>
              <a:rPr lang="en-IN" sz="2800" dirty="0">
                <a:solidFill>
                  <a:schemeClr val="bg1"/>
                </a:solidFill>
              </a:rPr>
              <a:t> boundaries, minimal false positives</a:t>
            </a:r>
          </a:p>
          <a:p>
            <a:pPr marL="1371600" lvl="2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bg1"/>
                </a:solidFill>
              </a:rPr>
              <a:t>Accurate sub-region differentiation</a:t>
            </a:r>
          </a:p>
          <a:p>
            <a:pPr>
              <a:lnSpc>
                <a:spcPct val="150000"/>
              </a:lnSpc>
            </a:pPr>
            <a:r>
              <a:rPr lang="en-IN" sz="2800" b="1" dirty="0">
                <a:solidFill>
                  <a:schemeClr val="bg1"/>
                </a:solidFill>
              </a:rPr>
              <a:t>Sample 2: Good Performance</a:t>
            </a:r>
            <a:endParaRPr lang="en-IN" sz="2800" dirty="0">
              <a:solidFill>
                <a:schemeClr val="bg1"/>
              </a:solidFill>
            </a:endParaRPr>
          </a:p>
          <a:p>
            <a:pPr marL="1371600" lvl="2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b="1" dirty="0">
                <a:solidFill>
                  <a:schemeClr val="bg1"/>
                </a:solidFill>
              </a:rPr>
              <a:t>TC Dice:</a:t>
            </a:r>
            <a:r>
              <a:rPr lang="en-IN" sz="2800" dirty="0">
                <a:solidFill>
                  <a:schemeClr val="bg1"/>
                </a:solidFill>
              </a:rPr>
              <a:t> 0.9486 | </a:t>
            </a:r>
            <a:r>
              <a:rPr lang="en-IN" sz="2800" b="1" dirty="0">
                <a:solidFill>
                  <a:schemeClr val="bg1"/>
                </a:solidFill>
              </a:rPr>
              <a:t>WT Dice:</a:t>
            </a:r>
            <a:r>
              <a:rPr lang="en-IN" sz="2800" dirty="0">
                <a:solidFill>
                  <a:schemeClr val="bg1"/>
                </a:solidFill>
              </a:rPr>
              <a:t> 0.9426 | </a:t>
            </a:r>
            <a:r>
              <a:rPr lang="en-IN" sz="2800" b="1" dirty="0">
                <a:solidFill>
                  <a:schemeClr val="bg1"/>
                </a:solidFill>
              </a:rPr>
              <a:t>ET Dice:</a:t>
            </a:r>
            <a:r>
              <a:rPr lang="en-IN" sz="2800" dirty="0">
                <a:solidFill>
                  <a:schemeClr val="bg1"/>
                </a:solidFill>
              </a:rPr>
              <a:t> 0.9081</a:t>
            </a:r>
          </a:p>
          <a:p>
            <a:pPr marL="1371600" lvl="2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bg1"/>
                </a:solidFill>
              </a:rPr>
              <a:t>Slight volume over-estimation</a:t>
            </a:r>
          </a:p>
          <a:p>
            <a:pPr marL="1371600" lvl="2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bg1"/>
                </a:solidFill>
              </a:rPr>
              <a:t>Well-defined enhancing </a:t>
            </a:r>
            <a:r>
              <a:rPr lang="en-IN" sz="2800" dirty="0" err="1">
                <a:solidFill>
                  <a:schemeClr val="bg1"/>
                </a:solidFill>
              </a:rPr>
              <a:t>tumor</a:t>
            </a:r>
            <a:r>
              <a:rPr lang="en-IN" sz="2800" dirty="0">
                <a:solidFill>
                  <a:schemeClr val="bg1"/>
                </a:solidFill>
              </a:rPr>
              <a:t> regions</a:t>
            </a:r>
          </a:p>
          <a:p>
            <a:pPr>
              <a:lnSpc>
                <a:spcPct val="150000"/>
              </a:lnSpc>
            </a:pPr>
            <a:r>
              <a:rPr lang="en-IN" sz="2800" b="1" dirty="0">
                <a:solidFill>
                  <a:schemeClr val="bg1"/>
                </a:solidFill>
              </a:rPr>
              <a:t>Sample 3: Moderate Performance</a:t>
            </a:r>
            <a:endParaRPr lang="en-IN" sz="2800" dirty="0">
              <a:solidFill>
                <a:schemeClr val="bg1"/>
              </a:solidFill>
            </a:endParaRPr>
          </a:p>
          <a:p>
            <a:pPr marL="1371600" lvl="2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b="1" dirty="0">
                <a:solidFill>
                  <a:schemeClr val="bg1"/>
                </a:solidFill>
              </a:rPr>
              <a:t>TC Dice:</a:t>
            </a:r>
            <a:r>
              <a:rPr lang="en-IN" sz="2800" dirty="0">
                <a:solidFill>
                  <a:schemeClr val="bg1"/>
                </a:solidFill>
              </a:rPr>
              <a:t> 0.9461 | </a:t>
            </a:r>
            <a:r>
              <a:rPr lang="en-IN" sz="2800" b="1" dirty="0">
                <a:solidFill>
                  <a:schemeClr val="bg1"/>
                </a:solidFill>
              </a:rPr>
              <a:t>WT Dice:</a:t>
            </a:r>
            <a:r>
              <a:rPr lang="en-IN" sz="2800" dirty="0">
                <a:solidFill>
                  <a:schemeClr val="bg1"/>
                </a:solidFill>
              </a:rPr>
              <a:t> 0.9222 | </a:t>
            </a:r>
            <a:r>
              <a:rPr lang="en-IN" sz="2800" b="1" dirty="0">
                <a:solidFill>
                  <a:schemeClr val="bg1"/>
                </a:solidFill>
              </a:rPr>
              <a:t>ET Dice:</a:t>
            </a:r>
            <a:r>
              <a:rPr lang="en-IN" sz="2800" dirty="0">
                <a:solidFill>
                  <a:schemeClr val="bg1"/>
                </a:solidFill>
              </a:rPr>
              <a:t> 0.8509</a:t>
            </a:r>
          </a:p>
          <a:p>
            <a:pPr marL="1371600" lvl="2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bg1"/>
                </a:solidFill>
              </a:rPr>
              <a:t>Some boundary inaccuracies</a:t>
            </a:r>
          </a:p>
          <a:p>
            <a:pPr marL="1371600" lvl="2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bg1"/>
                </a:solidFill>
              </a:rPr>
              <a:t>Minor under-segmentation in </a:t>
            </a:r>
            <a:r>
              <a:rPr lang="en-IN" sz="2800" dirty="0" err="1">
                <a:solidFill>
                  <a:schemeClr val="bg1"/>
                </a:solidFill>
              </a:rPr>
              <a:t>edema</a:t>
            </a:r>
            <a:endParaRPr lang="en-IN" sz="2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9741667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34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B22F9BF-C9D6-48F6-940A-92289A4FD7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54AD2AFE-44AF-241E-3B63-3BD1772AD95A}"/>
              </a:ext>
            </a:extLst>
          </p:cNvPr>
          <p:cNvSpPr/>
          <p:nvPr/>
        </p:nvSpPr>
        <p:spPr>
          <a:xfrm flipV="1">
            <a:off x="152400" y="1257299"/>
            <a:ext cx="18135600" cy="1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85760BB6-5AEA-EC4F-63F5-FF14A4B5D33B}"/>
              </a:ext>
            </a:extLst>
          </p:cNvPr>
          <p:cNvSpPr/>
          <p:nvPr/>
        </p:nvSpPr>
        <p:spPr>
          <a:xfrm>
            <a:off x="0" y="9620250"/>
            <a:ext cx="18288000" cy="0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3755D6A5-F7C7-C3BA-E413-31ABE163B8D3}"/>
              </a:ext>
            </a:extLst>
          </p:cNvPr>
          <p:cNvSpPr txBox="1"/>
          <p:nvPr/>
        </p:nvSpPr>
        <p:spPr>
          <a:xfrm>
            <a:off x="685800" y="105873"/>
            <a:ext cx="16230600" cy="101566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6600" b="1" dirty="0">
                <a:solidFill>
                  <a:schemeClr val="accent1"/>
                </a:solidFill>
                <a:latin typeface="Noto Serif Display ExtraCondensed Light" panose="020B0604020202020204"/>
                <a:ea typeface="Noto Serif Display ExtraCondensed Light" panose="020B0604020202020204"/>
                <a:cs typeface="Noto Serif Display ExtraCondensed Light" panose="020B0604020202020204"/>
              </a:rPr>
              <a:t>Test Set Evaluation - Quantitative Results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D77080B-7D81-2CE5-0ADA-DC498F19F0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" y="1818943"/>
            <a:ext cx="12059333" cy="6968136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</p:pic>
    </p:spTree>
    <p:extLst>
      <p:ext uri="{BB962C8B-B14F-4D97-AF65-F5344CB8AC3E}">
        <p14:creationId xmlns:p14="http://schemas.microsoft.com/office/powerpoint/2010/main" val="298108082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34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2E2710D-6A36-3B99-82E4-E4DD124290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830753BD-484F-197C-63F3-BD29865FFF02}"/>
              </a:ext>
            </a:extLst>
          </p:cNvPr>
          <p:cNvSpPr/>
          <p:nvPr/>
        </p:nvSpPr>
        <p:spPr>
          <a:xfrm flipV="1">
            <a:off x="0" y="1233301"/>
            <a:ext cx="18288000" cy="1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490EF9C3-CB20-A5AB-5C00-CAEEB44DB7A1}"/>
              </a:ext>
            </a:extLst>
          </p:cNvPr>
          <p:cNvSpPr/>
          <p:nvPr/>
        </p:nvSpPr>
        <p:spPr>
          <a:xfrm>
            <a:off x="0" y="9620250"/>
            <a:ext cx="9296400" cy="0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BEFCC60D-45E5-1C48-8875-504181E8EABD}"/>
              </a:ext>
            </a:extLst>
          </p:cNvPr>
          <p:cNvSpPr txBox="1"/>
          <p:nvPr/>
        </p:nvSpPr>
        <p:spPr>
          <a:xfrm>
            <a:off x="1028700" y="217639"/>
            <a:ext cx="16230600" cy="101566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IN" sz="6600" b="1" dirty="0">
                <a:solidFill>
                  <a:schemeClr val="accent1"/>
                </a:solidFill>
                <a:latin typeface="Noto Serif Display ExtraCondensed Bold" panose="020B0604020202020204"/>
                <a:ea typeface="Noto Serif Display ExtraCondensed Bold" panose="020B0604020202020204"/>
                <a:cs typeface="Noto Serif Display ExtraCondensed Bold" panose="020B0604020202020204"/>
              </a:rPr>
              <a:t>Volume Correlation Analysis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9CB541C-0DA4-EA7C-335E-EBA14522E0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7654597"/>
              </p:ext>
            </p:extLst>
          </p:nvPr>
        </p:nvGraphicFramePr>
        <p:xfrm>
          <a:off x="1028700" y="6210300"/>
          <a:ext cx="8305800" cy="2256476"/>
        </p:xfrm>
        <a:graphic>
          <a:graphicData uri="http://schemas.openxmlformats.org/drawingml/2006/table">
            <a:tbl>
              <a:tblPr/>
              <a:tblGrid>
                <a:gridCol w="1895013">
                  <a:extLst>
                    <a:ext uri="{9D8B030D-6E8A-4147-A177-3AD203B41FA5}">
                      <a16:colId xmlns:a16="http://schemas.microsoft.com/office/drawing/2014/main" val="3961946569"/>
                    </a:ext>
                  </a:extLst>
                </a:gridCol>
                <a:gridCol w="2136929">
                  <a:extLst>
                    <a:ext uri="{9D8B030D-6E8A-4147-A177-3AD203B41FA5}">
                      <a16:colId xmlns:a16="http://schemas.microsoft.com/office/drawing/2014/main" val="3270181979"/>
                    </a:ext>
                  </a:extLst>
                </a:gridCol>
                <a:gridCol w="2136929">
                  <a:extLst>
                    <a:ext uri="{9D8B030D-6E8A-4147-A177-3AD203B41FA5}">
                      <a16:colId xmlns:a16="http://schemas.microsoft.com/office/drawing/2014/main" val="456675817"/>
                    </a:ext>
                  </a:extLst>
                </a:gridCol>
                <a:gridCol w="2136929">
                  <a:extLst>
                    <a:ext uri="{9D8B030D-6E8A-4147-A177-3AD203B41FA5}">
                      <a16:colId xmlns:a16="http://schemas.microsoft.com/office/drawing/2014/main" val="3089377849"/>
                    </a:ext>
                  </a:extLst>
                </a:gridCol>
              </a:tblGrid>
              <a:tr h="564119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IN" sz="3200" b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Region</a:t>
                      </a:r>
                    </a:p>
                  </a:txBody>
                  <a:tcPr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IN" sz="3200" b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Slope</a:t>
                      </a:r>
                    </a:p>
                  </a:txBody>
                  <a:tcPr marL="121920"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IN" sz="3200" b="0" dirty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Intercept</a:t>
                      </a:r>
                    </a:p>
                  </a:txBody>
                  <a:tcPr marL="121920"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IN" sz="3200" b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R²</a:t>
                      </a:r>
                    </a:p>
                  </a:txBody>
                  <a:tcPr marL="121920"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6436946"/>
                  </a:ext>
                </a:extLst>
              </a:tr>
              <a:tr h="564119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3200" b="1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TC</a:t>
                      </a:r>
                      <a:endParaRPr lang="en-IN" sz="3200" b="0">
                        <a:solidFill>
                          <a:schemeClr val="bg1"/>
                        </a:solidFill>
                        <a:effectLst/>
                        <a:latin typeface="quote-cjk-patch"/>
                      </a:endParaRPr>
                    </a:p>
                  </a:txBody>
                  <a:tcPr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3200" b="0" dirty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0.9314</a:t>
                      </a:r>
                    </a:p>
                  </a:txBody>
                  <a:tcPr marL="121920"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3200" b="0" dirty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-812.34</a:t>
                      </a:r>
                    </a:p>
                  </a:txBody>
                  <a:tcPr marL="121920"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3200" b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0.8239</a:t>
                      </a:r>
                    </a:p>
                  </a:txBody>
                  <a:tcPr marL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0814541"/>
                  </a:ext>
                </a:extLst>
              </a:tr>
              <a:tr h="564119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3200" b="1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WT</a:t>
                      </a:r>
                      <a:endParaRPr lang="en-IN" sz="3200" b="0">
                        <a:solidFill>
                          <a:schemeClr val="bg1"/>
                        </a:solidFill>
                        <a:effectLst/>
                        <a:latin typeface="quote-cjk-patch"/>
                      </a:endParaRPr>
                    </a:p>
                  </a:txBody>
                  <a:tcPr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3200" b="0" dirty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0.8678</a:t>
                      </a:r>
                    </a:p>
                  </a:txBody>
                  <a:tcPr marL="121920"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3200" b="0" dirty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-1883.73</a:t>
                      </a:r>
                    </a:p>
                  </a:txBody>
                  <a:tcPr marL="121920"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3200" b="0" dirty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0.7720</a:t>
                      </a:r>
                    </a:p>
                  </a:txBody>
                  <a:tcPr marL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6008173"/>
                  </a:ext>
                </a:extLst>
              </a:tr>
              <a:tr h="564119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3200" b="1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ET</a:t>
                      </a:r>
                      <a:endParaRPr lang="en-IN" sz="3200" b="0">
                        <a:solidFill>
                          <a:schemeClr val="bg1"/>
                        </a:solidFill>
                        <a:effectLst/>
                        <a:latin typeface="quote-cjk-patch"/>
                      </a:endParaRPr>
                    </a:p>
                  </a:txBody>
                  <a:tcPr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3200" b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0.6677</a:t>
                      </a:r>
                    </a:p>
                  </a:txBody>
                  <a:tcPr marL="121920"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3200" b="0" dirty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-522.34</a:t>
                      </a:r>
                    </a:p>
                  </a:txBody>
                  <a:tcPr marL="121920"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3200" b="0" dirty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0.6454</a:t>
                      </a:r>
                    </a:p>
                  </a:txBody>
                  <a:tcPr marL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3319947"/>
                  </a:ext>
                </a:extLst>
              </a:tr>
            </a:tbl>
          </a:graphicData>
        </a:graphic>
      </p:graphicFrame>
      <p:sp>
        <p:nvSpPr>
          <p:cNvPr id="7" name="Rectangle 1">
            <a:extLst>
              <a:ext uri="{FF2B5EF4-FFF2-40B4-BE49-F238E27FC236}">
                <a16:creationId xmlns:a16="http://schemas.microsoft.com/office/drawing/2014/main" id="{528D9012-BD16-1A06-E111-09618F70B4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6000" y="1284096"/>
            <a:ext cx="16040100" cy="4730375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  <a:effectLst/>
        </p:spPr>
        <p:txBody>
          <a:bodyPr vert="horz" wrap="square" lIns="0" tIns="136482" rIns="0" bIns="13648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quote-cjk-patch"/>
              </a:rPr>
              <a:t>Ground Truth vs Predicted Correlation: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accent6">
                  <a:lumMod val="60000"/>
                  <a:lumOff val="40000"/>
                </a:schemeClr>
              </a:solidFill>
              <a:effectLst/>
            </a:endParaRP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quote-cjk-patch"/>
              </a:rPr>
              <a:t>Tumor Core: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quote-cjk-patch"/>
              </a:rPr>
              <a:t> Pearson = 0.9077 (Excellent)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quote-cjk-patch"/>
              </a:rPr>
              <a:t>Whole Tumor: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quote-cjk-patch"/>
              </a:rPr>
              <a:t> Pearson = 0.8786 (Very Good)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quote-cjk-patch"/>
              </a:rPr>
              <a:t>Enhancing Tumor: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quote-cjk-patch"/>
              </a:rPr>
              <a:t> Pearson = 0.8034 (Good)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quote-cjk-patch"/>
              </a:rPr>
              <a:t>Total Volume: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quote-cjk-patch"/>
              </a:rPr>
              <a:t> Pearson = 0.8924 (Very Good)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quote-cjk-patch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quote-cjk-patch"/>
              </a:rPr>
              <a:t>Linear Regression Analysis: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accent6">
                  <a:lumMod val="60000"/>
                  <a:lumOff val="40000"/>
                </a:schemeClr>
              </a:solidFill>
              <a:effectLst/>
            </a:endParaRP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E01E391E-2478-A4D3-1343-AFF29915C1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29726" y="5143500"/>
            <a:ext cx="7588039" cy="3153982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  <a:effectLst/>
        </p:spPr>
        <p:txBody>
          <a:bodyPr vert="horz" wrap="none" lIns="0" tIns="136482" rIns="0" bIns="136482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quote-cjk-patch"/>
              </a:rPr>
              <a:t>Interpretation: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accent6">
                  <a:lumMod val="60000"/>
                  <a:lumOff val="40000"/>
                </a:schemeClr>
              </a:solidFill>
              <a:effectLst/>
            </a:endParaRPr>
          </a:p>
          <a:p>
            <a:pPr marL="914400" lvl="1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quote-cjk-patch"/>
              </a:rPr>
              <a:t>Consistent under-prediction (slopes &lt; 1)</a:t>
            </a:r>
          </a:p>
          <a:p>
            <a:pPr marL="914400" lvl="1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quote-cjk-patch"/>
              </a:rPr>
              <a:t>Strong size trend tracking (high R²)</a:t>
            </a:r>
          </a:p>
          <a:p>
            <a:pPr marL="914400" lvl="1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quote-cjk-patch"/>
              </a:rPr>
              <a:t>ET shows weakest correlation</a:t>
            </a:r>
          </a:p>
        </p:txBody>
      </p:sp>
    </p:spTree>
    <p:extLst>
      <p:ext uri="{BB962C8B-B14F-4D97-AF65-F5344CB8AC3E}">
        <p14:creationId xmlns:p14="http://schemas.microsoft.com/office/powerpoint/2010/main" val="328054134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34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351BD2-AF41-49E5-2D6C-76292FAA87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F8F8463D-C1AF-3F21-6907-409BE44DB083}"/>
              </a:ext>
            </a:extLst>
          </p:cNvPr>
          <p:cNvSpPr/>
          <p:nvPr/>
        </p:nvSpPr>
        <p:spPr>
          <a:xfrm flipV="1">
            <a:off x="0" y="1376944"/>
            <a:ext cx="18288000" cy="1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D690B6CE-10B7-23CD-C7D2-00C0B9F83EF5}"/>
              </a:ext>
            </a:extLst>
          </p:cNvPr>
          <p:cNvSpPr/>
          <p:nvPr/>
        </p:nvSpPr>
        <p:spPr>
          <a:xfrm>
            <a:off x="0" y="9620250"/>
            <a:ext cx="9296400" cy="0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E0105177-5C57-8A94-9280-D8519E2C2E51}"/>
              </a:ext>
            </a:extLst>
          </p:cNvPr>
          <p:cNvSpPr txBox="1"/>
          <p:nvPr/>
        </p:nvSpPr>
        <p:spPr>
          <a:xfrm>
            <a:off x="863600" y="361282"/>
            <a:ext cx="16230600" cy="101566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IN" sz="6600" b="1" dirty="0">
                <a:solidFill>
                  <a:schemeClr val="accent1"/>
                </a:solidFill>
                <a:latin typeface="Noto Serif Display ExtraCondensed Bold" panose="020B0604020202020204"/>
                <a:ea typeface="Noto Serif Display ExtraCondensed Bold" panose="020B0604020202020204"/>
                <a:cs typeface="Noto Serif Display ExtraCondensed Bold" panose="020B0604020202020204"/>
              </a:rPr>
              <a:t> Error Analysis - Missed Detections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B32DDFB-6D94-79C5-0D0E-6B55D1027D5A}"/>
              </a:ext>
            </a:extLst>
          </p:cNvPr>
          <p:cNvSpPr txBox="1"/>
          <p:nvPr/>
        </p:nvSpPr>
        <p:spPr>
          <a:xfrm>
            <a:off x="838200" y="2087139"/>
            <a:ext cx="7467600" cy="28783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IN" sz="32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Complete Misses (Predicted Volume = 0):</a:t>
            </a:r>
            <a:endParaRPr lang="en-IN" sz="32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200" b="1" dirty="0" err="1">
                <a:solidFill>
                  <a:schemeClr val="bg1"/>
                </a:solidFill>
              </a:rPr>
              <a:t>Tumor</a:t>
            </a:r>
            <a:r>
              <a:rPr lang="en-IN" sz="3200" b="1" dirty="0">
                <a:solidFill>
                  <a:schemeClr val="bg1"/>
                </a:solidFill>
              </a:rPr>
              <a:t> Core:</a:t>
            </a:r>
            <a:r>
              <a:rPr lang="en-IN" sz="3200" dirty="0">
                <a:solidFill>
                  <a:schemeClr val="bg1"/>
                </a:solidFill>
              </a:rPr>
              <a:t> 12 patients (8%)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200" b="1" dirty="0">
                <a:solidFill>
                  <a:schemeClr val="bg1"/>
                </a:solidFill>
              </a:rPr>
              <a:t>Whole </a:t>
            </a:r>
            <a:r>
              <a:rPr lang="en-IN" sz="3200" b="1" dirty="0" err="1">
                <a:solidFill>
                  <a:schemeClr val="bg1"/>
                </a:solidFill>
              </a:rPr>
              <a:t>Tumor</a:t>
            </a:r>
            <a:r>
              <a:rPr lang="en-IN" sz="3200" b="1" dirty="0">
                <a:solidFill>
                  <a:schemeClr val="bg1"/>
                </a:solidFill>
              </a:rPr>
              <a:t>:</a:t>
            </a:r>
            <a:r>
              <a:rPr lang="en-IN" sz="3200" dirty="0">
                <a:solidFill>
                  <a:schemeClr val="bg1"/>
                </a:solidFill>
              </a:rPr>
              <a:t> 3 patients (2%)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200" b="1" dirty="0">
                <a:solidFill>
                  <a:schemeClr val="bg1"/>
                </a:solidFill>
              </a:rPr>
              <a:t>Enhancing </a:t>
            </a:r>
            <a:r>
              <a:rPr lang="en-IN" sz="3200" b="1" dirty="0" err="1">
                <a:solidFill>
                  <a:schemeClr val="bg1"/>
                </a:solidFill>
              </a:rPr>
              <a:t>Tumor</a:t>
            </a:r>
            <a:r>
              <a:rPr lang="en-IN" sz="3200" b="1" dirty="0">
                <a:solidFill>
                  <a:schemeClr val="bg1"/>
                </a:solidFill>
              </a:rPr>
              <a:t>:</a:t>
            </a:r>
            <a:r>
              <a:rPr lang="en-IN" sz="3200" dirty="0">
                <a:solidFill>
                  <a:schemeClr val="bg1"/>
                </a:solidFill>
              </a:rPr>
              <a:t> 22 patients (14.7%)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114CB3C-E595-8730-FDF9-03B34A11BF18}"/>
              </a:ext>
            </a:extLst>
          </p:cNvPr>
          <p:cNvSpPr txBox="1"/>
          <p:nvPr/>
        </p:nvSpPr>
        <p:spPr>
          <a:xfrm>
            <a:off x="9144000" y="2087139"/>
            <a:ext cx="8483600" cy="361701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IN" sz="32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Volume Error Analysis:</a:t>
            </a:r>
            <a:endParaRPr lang="en-IN" sz="32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200" b="1" dirty="0">
                <a:solidFill>
                  <a:schemeClr val="bg1"/>
                </a:solidFill>
              </a:rPr>
              <a:t>Mean Relative Error:</a:t>
            </a:r>
            <a:r>
              <a:rPr lang="en-IN" sz="3200" dirty="0">
                <a:solidFill>
                  <a:schemeClr val="bg1"/>
                </a:solidFill>
              </a:rPr>
              <a:t> 29.64%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200" b="1" dirty="0">
                <a:solidFill>
                  <a:schemeClr val="bg1"/>
                </a:solidFill>
              </a:rPr>
              <a:t>Median Relative Error:</a:t>
            </a:r>
            <a:r>
              <a:rPr lang="en-IN" sz="3200" dirty="0">
                <a:solidFill>
                  <a:schemeClr val="bg1"/>
                </a:solidFill>
              </a:rPr>
              <a:t> 16.42%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200" b="1" dirty="0">
                <a:solidFill>
                  <a:schemeClr val="bg1"/>
                </a:solidFill>
              </a:rPr>
              <a:t>75th Percentile:</a:t>
            </a:r>
            <a:r>
              <a:rPr lang="en-IN" sz="3200" dirty="0">
                <a:solidFill>
                  <a:schemeClr val="bg1"/>
                </a:solidFill>
              </a:rPr>
              <a:t> 46.13%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200" b="1" dirty="0">
                <a:solidFill>
                  <a:schemeClr val="bg1"/>
                </a:solidFill>
              </a:rPr>
              <a:t>Maximum Error:</a:t>
            </a:r>
            <a:r>
              <a:rPr lang="en-IN" sz="3200" dirty="0">
                <a:solidFill>
                  <a:schemeClr val="bg1"/>
                </a:solidFill>
              </a:rPr>
              <a:t> 100% (complete mismatch)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BCA4132-A72E-CABE-5EB9-A95F11A99C4C}"/>
              </a:ext>
            </a:extLst>
          </p:cNvPr>
          <p:cNvSpPr txBox="1"/>
          <p:nvPr/>
        </p:nvSpPr>
        <p:spPr>
          <a:xfrm>
            <a:off x="863600" y="5704155"/>
            <a:ext cx="8229600" cy="28783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IN" sz="32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Performance Distribution:</a:t>
            </a:r>
            <a:endParaRPr lang="en-IN" sz="32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200" dirty="0">
                <a:solidFill>
                  <a:schemeClr val="bg1"/>
                </a:solidFill>
              </a:rPr>
              <a:t>Half of patients have &lt;16% volume error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200" dirty="0">
                <a:solidFill>
                  <a:schemeClr val="bg1"/>
                </a:solidFill>
              </a:rPr>
              <a:t>Quarter of patients have &gt;46% error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200" dirty="0">
                <a:solidFill>
                  <a:schemeClr val="bg1"/>
                </a:solidFill>
              </a:rPr>
              <a:t>Few extreme outliers with 100% error</a:t>
            </a:r>
          </a:p>
        </p:txBody>
      </p:sp>
    </p:spTree>
    <p:extLst>
      <p:ext uri="{BB962C8B-B14F-4D97-AF65-F5344CB8AC3E}">
        <p14:creationId xmlns:p14="http://schemas.microsoft.com/office/powerpoint/2010/main" val="33694370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34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6D09271-6BCF-A808-9C97-52BD23F93A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41E7658E-A0A5-50EF-EA89-53DA083E02E2}"/>
              </a:ext>
            </a:extLst>
          </p:cNvPr>
          <p:cNvSpPr/>
          <p:nvPr/>
        </p:nvSpPr>
        <p:spPr>
          <a:xfrm flipV="1">
            <a:off x="-152400" y="1257322"/>
            <a:ext cx="18440400" cy="152378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26EDD2A7-248C-AFBE-B864-9EB8CB6C05AA}"/>
              </a:ext>
            </a:extLst>
          </p:cNvPr>
          <p:cNvSpPr/>
          <p:nvPr/>
        </p:nvSpPr>
        <p:spPr>
          <a:xfrm>
            <a:off x="0" y="9620250"/>
            <a:ext cx="18288000" cy="0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6A6BC27A-18E2-9CCC-7AFE-C5582928971B}"/>
              </a:ext>
            </a:extLst>
          </p:cNvPr>
          <p:cNvSpPr txBox="1"/>
          <p:nvPr/>
        </p:nvSpPr>
        <p:spPr>
          <a:xfrm>
            <a:off x="533400" y="366019"/>
            <a:ext cx="16230600" cy="101566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6600" b="1" dirty="0">
                <a:solidFill>
                  <a:schemeClr val="accent1"/>
                </a:solidFill>
                <a:latin typeface="Noto Serif Display ExtraCondensed Bold" panose="020B0604020202020204"/>
                <a:ea typeface="Noto Serif Display ExtraCondensed Bold" panose="020B0604020202020204"/>
                <a:cs typeface="Noto Serif Display ExtraCondensed Bold" panose="020B0604020202020204"/>
              </a:rPr>
              <a:t>Comparison with </a:t>
            </a:r>
            <a:r>
              <a:rPr lang="en-US" sz="6600" b="1" dirty="0" err="1">
                <a:solidFill>
                  <a:schemeClr val="accent1"/>
                </a:solidFill>
                <a:latin typeface="Noto Serif Display ExtraCondensed Bold" panose="020B0604020202020204"/>
                <a:ea typeface="Noto Serif Display ExtraCondensed Bold" panose="020B0604020202020204"/>
                <a:cs typeface="Noto Serif Display ExtraCondensed Bold" panose="020B0604020202020204"/>
              </a:rPr>
              <a:t>BraTS</a:t>
            </a:r>
            <a:r>
              <a:rPr lang="en-US" sz="6600" b="1" dirty="0">
                <a:solidFill>
                  <a:schemeClr val="accent1"/>
                </a:solidFill>
                <a:latin typeface="Noto Serif Display ExtraCondensed Bold" panose="020B0604020202020204"/>
                <a:ea typeface="Noto Serif Display ExtraCondensed Bold" panose="020B0604020202020204"/>
                <a:cs typeface="Noto Serif Display ExtraCondensed Bold" panose="020B0604020202020204"/>
              </a:rPr>
              <a:t> 2023 Benchmark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6C0DD1F-2722-975A-77C9-97C7B31FE2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3498976"/>
              </p:ext>
            </p:extLst>
          </p:nvPr>
        </p:nvGraphicFramePr>
        <p:xfrm>
          <a:off x="685799" y="2628884"/>
          <a:ext cx="16078201" cy="6629413"/>
        </p:xfrm>
        <a:graphic>
          <a:graphicData uri="http://schemas.openxmlformats.org/drawingml/2006/table">
            <a:tbl>
              <a:tblPr/>
              <a:tblGrid>
                <a:gridCol w="2917665">
                  <a:extLst>
                    <a:ext uri="{9D8B030D-6E8A-4147-A177-3AD203B41FA5}">
                      <a16:colId xmlns:a16="http://schemas.microsoft.com/office/drawing/2014/main" val="2742066421"/>
                    </a:ext>
                  </a:extLst>
                </a:gridCol>
                <a:gridCol w="3290134">
                  <a:extLst>
                    <a:ext uri="{9D8B030D-6E8A-4147-A177-3AD203B41FA5}">
                      <a16:colId xmlns:a16="http://schemas.microsoft.com/office/drawing/2014/main" val="1392731005"/>
                    </a:ext>
                  </a:extLst>
                </a:gridCol>
                <a:gridCol w="3290134">
                  <a:extLst>
                    <a:ext uri="{9D8B030D-6E8A-4147-A177-3AD203B41FA5}">
                      <a16:colId xmlns:a16="http://schemas.microsoft.com/office/drawing/2014/main" val="2512041821"/>
                    </a:ext>
                  </a:extLst>
                </a:gridCol>
                <a:gridCol w="4446668">
                  <a:extLst>
                    <a:ext uri="{9D8B030D-6E8A-4147-A177-3AD203B41FA5}">
                      <a16:colId xmlns:a16="http://schemas.microsoft.com/office/drawing/2014/main" val="3951692768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681727703"/>
                    </a:ext>
                  </a:extLst>
                </a:gridCol>
              </a:tblGrid>
              <a:tr h="1905005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IN" sz="3600" b="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quote-cjk-patch"/>
                        </a:rPr>
                        <a:t>Metric</a:t>
                      </a:r>
                    </a:p>
                  </a:txBody>
                  <a:tcPr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IN" sz="3600" b="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quote-cjk-patch"/>
                        </a:rPr>
                        <a:t>Our Model</a:t>
                      </a:r>
                    </a:p>
                  </a:txBody>
                  <a:tcPr marL="121920"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IN" sz="3600" b="0" dirty="0" err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quote-cjk-patch"/>
                        </a:rPr>
                        <a:t>BraTS</a:t>
                      </a:r>
                      <a:r>
                        <a:rPr lang="en-IN" sz="3600" b="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quote-cjk-patch"/>
                        </a:rPr>
                        <a:t> 2023 </a:t>
                      </a:r>
                      <a:r>
                        <a:rPr lang="en-IN" sz="3600" b="0" dirty="0" err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quote-cjk-patch"/>
                        </a:rPr>
                        <a:t>Avg</a:t>
                      </a:r>
                      <a:endParaRPr lang="en-IN" sz="3600" b="0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IN" sz="3600" b="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quote-cjk-patch"/>
                        </a:rPr>
                        <a:t>Top Method (</a:t>
                      </a:r>
                      <a:r>
                        <a:rPr lang="en-IN" sz="3600" b="0" dirty="0" err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quote-cjk-patch"/>
                        </a:rPr>
                        <a:t>nnUNet</a:t>
                      </a:r>
                      <a:r>
                        <a:rPr lang="en-IN" sz="3600" b="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quote-cjk-patch"/>
                        </a:rPr>
                        <a:t>)</a:t>
                      </a:r>
                    </a:p>
                  </a:txBody>
                  <a:tcPr marL="121920"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IN" sz="3600" b="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quote-cjk-patch"/>
                        </a:rPr>
                        <a:t>Gap</a:t>
                      </a:r>
                    </a:p>
                  </a:txBody>
                  <a:tcPr marL="121920"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5535211"/>
                  </a:ext>
                </a:extLst>
              </a:tr>
              <a:tr h="1181102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3600" b="1" dirty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WT Dice</a:t>
                      </a:r>
                      <a:endParaRPr lang="en-IN" sz="3600" b="0" dirty="0">
                        <a:solidFill>
                          <a:schemeClr val="bg1"/>
                        </a:solidFill>
                        <a:effectLst/>
                        <a:latin typeface="quote-cjk-patch"/>
                      </a:endParaRPr>
                    </a:p>
                  </a:txBody>
                  <a:tcPr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3600" b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0.8725</a:t>
                      </a:r>
                    </a:p>
                  </a:txBody>
                  <a:tcPr marL="121920"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3600" b="0" dirty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0.860</a:t>
                      </a:r>
                    </a:p>
                  </a:txBody>
                  <a:tcPr marL="121920"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3600" b="0" dirty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0.910</a:t>
                      </a:r>
                    </a:p>
                  </a:txBody>
                  <a:tcPr marL="121920"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3600" b="1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+1.5%</a:t>
                      </a:r>
                      <a:endParaRPr lang="en-IN" sz="3600" b="0" dirty="0">
                        <a:solidFill>
                          <a:schemeClr val="bg1"/>
                        </a:solidFill>
                        <a:effectLst/>
                        <a:latin typeface="quote-cjk-patch"/>
                      </a:endParaRPr>
                    </a:p>
                  </a:txBody>
                  <a:tcPr marL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5986718"/>
                  </a:ext>
                </a:extLst>
              </a:tr>
              <a:tr h="1181102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3600" b="1" dirty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TC Dice</a:t>
                      </a:r>
                      <a:endParaRPr lang="en-IN" sz="3600" b="0" dirty="0">
                        <a:solidFill>
                          <a:schemeClr val="bg1"/>
                        </a:solidFill>
                        <a:effectLst/>
                        <a:latin typeface="quote-cjk-patch"/>
                      </a:endParaRPr>
                    </a:p>
                  </a:txBody>
                  <a:tcPr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3600" b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0.8033</a:t>
                      </a:r>
                    </a:p>
                  </a:txBody>
                  <a:tcPr marL="121920"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3600" b="0" dirty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0.810</a:t>
                      </a:r>
                    </a:p>
                  </a:txBody>
                  <a:tcPr marL="121920"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3600" b="0" dirty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0.867</a:t>
                      </a:r>
                    </a:p>
                  </a:txBody>
                  <a:tcPr marL="121920"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3600" b="1" dirty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-0.8%</a:t>
                      </a:r>
                      <a:endParaRPr lang="en-IN" sz="3600" b="0" dirty="0">
                        <a:solidFill>
                          <a:schemeClr val="bg1"/>
                        </a:solidFill>
                        <a:effectLst/>
                        <a:latin typeface="quote-cjk-patch"/>
                      </a:endParaRPr>
                    </a:p>
                  </a:txBody>
                  <a:tcPr marL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5310975"/>
                  </a:ext>
                </a:extLst>
              </a:tr>
              <a:tr h="1181102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3600" b="1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ET Dice</a:t>
                      </a:r>
                      <a:endParaRPr lang="en-IN" sz="3600" b="0">
                        <a:solidFill>
                          <a:schemeClr val="bg1"/>
                        </a:solidFill>
                        <a:effectLst/>
                        <a:latin typeface="quote-cjk-patch"/>
                      </a:endParaRPr>
                    </a:p>
                  </a:txBody>
                  <a:tcPr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3600" b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0.6679</a:t>
                      </a:r>
                    </a:p>
                  </a:txBody>
                  <a:tcPr marL="121920"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3600" b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0.780</a:t>
                      </a:r>
                    </a:p>
                  </a:txBody>
                  <a:tcPr marL="121920"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3600" b="0" dirty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0.850</a:t>
                      </a:r>
                    </a:p>
                  </a:txBody>
                  <a:tcPr marL="121920"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3600" b="1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-14.4%</a:t>
                      </a:r>
                      <a:endParaRPr lang="en-IN" sz="3600" b="0" dirty="0">
                        <a:solidFill>
                          <a:schemeClr val="bg1"/>
                        </a:solidFill>
                        <a:effectLst/>
                        <a:latin typeface="quote-cjk-patch"/>
                      </a:endParaRPr>
                    </a:p>
                  </a:txBody>
                  <a:tcPr marL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6898747"/>
                  </a:ext>
                </a:extLst>
              </a:tr>
              <a:tr h="1181102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3600" b="1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Mean Dice</a:t>
                      </a:r>
                      <a:endParaRPr lang="en-IN" sz="3600" b="0">
                        <a:solidFill>
                          <a:schemeClr val="bg1"/>
                        </a:solidFill>
                        <a:effectLst/>
                        <a:latin typeface="quote-cjk-patch"/>
                      </a:endParaRPr>
                    </a:p>
                  </a:txBody>
                  <a:tcPr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3600" b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0.7812</a:t>
                      </a:r>
                    </a:p>
                  </a:txBody>
                  <a:tcPr marL="121920"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3600" b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0.817</a:t>
                      </a:r>
                    </a:p>
                  </a:txBody>
                  <a:tcPr marL="121920"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3600" b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0.876</a:t>
                      </a:r>
                    </a:p>
                  </a:txBody>
                  <a:tcPr marL="121920"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3600" b="1" dirty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-4.4%</a:t>
                      </a:r>
                      <a:endParaRPr lang="en-IN" sz="3600" b="0" dirty="0">
                        <a:solidFill>
                          <a:schemeClr val="bg1"/>
                        </a:solidFill>
                        <a:effectLst/>
                        <a:latin typeface="quote-cjk-patch"/>
                      </a:endParaRPr>
                    </a:p>
                  </a:txBody>
                  <a:tcPr marL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3262698"/>
                  </a:ext>
                </a:extLst>
              </a:tr>
            </a:tbl>
          </a:graphicData>
        </a:graphic>
      </p:graphicFrame>
      <p:sp>
        <p:nvSpPr>
          <p:cNvPr id="7" name="Rectangle 1">
            <a:extLst>
              <a:ext uri="{FF2B5EF4-FFF2-40B4-BE49-F238E27FC236}">
                <a16:creationId xmlns:a16="http://schemas.microsoft.com/office/drawing/2014/main" id="{C8AC6ECD-40DB-14A1-5607-2F00EC6C1C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500" y="1768619"/>
            <a:ext cx="10668000" cy="707886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4000" b="1" i="0" u="none" strike="noStrike" cap="none" normalizeH="0" baseline="0" dirty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quote-cjk-patch"/>
              </a:rPr>
              <a:t>Performance vs State-of-the-Art:</a:t>
            </a:r>
            <a:endParaRPr kumimoji="0" lang="en-US" altLang="en-US" sz="4000" b="0" i="0" u="none" strike="noStrike" cap="none" normalizeH="0" baseline="0" dirty="0">
              <a:ln>
                <a:noFill/>
              </a:ln>
              <a:solidFill>
                <a:schemeClr val="accent6">
                  <a:lumMod val="60000"/>
                  <a:lumOff val="40000"/>
                </a:schemeClr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05842109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flipV="1">
            <a:off x="0" y="1638299"/>
            <a:ext cx="18288000" cy="1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AutoShape 3"/>
          <p:cNvSpPr/>
          <p:nvPr/>
        </p:nvSpPr>
        <p:spPr>
          <a:xfrm flipV="1">
            <a:off x="0" y="9594372"/>
            <a:ext cx="18288000" cy="25877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TextBox 4"/>
          <p:cNvSpPr txBox="1"/>
          <p:nvPr/>
        </p:nvSpPr>
        <p:spPr>
          <a:xfrm>
            <a:off x="1143000" y="463302"/>
            <a:ext cx="10963031" cy="10156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n-IN" sz="6600" b="1" dirty="0">
                <a:solidFill>
                  <a:schemeClr val="accent1"/>
                </a:solidFill>
                <a:latin typeface="Noto Serif Display ExtraCondensed Bold" panose="020B0604020202020204"/>
                <a:ea typeface="Noto Serif Display ExtraCondensed Bold" panose="020B0604020202020204"/>
                <a:cs typeface="Noto Serif Display ExtraCondensed Bold" panose="020B0604020202020204"/>
              </a:rPr>
              <a:t>Limitations Identified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55700" y="1771759"/>
            <a:ext cx="12132546" cy="76891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Technical Limitations:</a:t>
            </a:r>
            <a:endParaRPr lang="en-US" sz="28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lvl="2">
              <a:lnSpc>
                <a:spcPct val="150000"/>
              </a:lnSpc>
            </a:pPr>
            <a:r>
              <a:rPr lang="en-US" sz="2800" b="1" dirty="0">
                <a:solidFill>
                  <a:schemeClr val="bg1"/>
                </a:solidFill>
              </a:rPr>
              <a:t>Computational Constraints:</a:t>
            </a:r>
            <a:r>
              <a:rPr lang="en-US" sz="2800" dirty="0">
                <a:solidFill>
                  <a:schemeClr val="bg1"/>
                </a:solidFill>
              </a:rPr>
              <a:t> Limited by GPU memory (batch size = 2)</a:t>
            </a:r>
          </a:p>
          <a:p>
            <a:pPr lvl="2">
              <a:lnSpc>
                <a:spcPct val="150000"/>
              </a:lnSpc>
            </a:pPr>
            <a:r>
              <a:rPr lang="en-US" sz="2800" b="1" dirty="0">
                <a:solidFill>
                  <a:schemeClr val="bg1"/>
                </a:solidFill>
              </a:rPr>
              <a:t>Model Capacity:</a:t>
            </a:r>
            <a:r>
              <a:rPr lang="en-US" sz="2800" dirty="0">
                <a:solidFill>
                  <a:schemeClr val="bg1"/>
                </a:solidFill>
              </a:rPr>
              <a:t> Could benefit from larger architecture</a:t>
            </a:r>
          </a:p>
          <a:p>
            <a:pPr lvl="2">
              <a:lnSpc>
                <a:spcPct val="150000"/>
              </a:lnSpc>
            </a:pPr>
            <a:r>
              <a:rPr lang="en-US" sz="2800" b="1" dirty="0">
                <a:solidFill>
                  <a:schemeClr val="bg1"/>
                </a:solidFill>
              </a:rPr>
              <a:t>Training Time:</a:t>
            </a:r>
            <a:r>
              <a:rPr lang="en-US" sz="2800" dirty="0">
                <a:solidFill>
                  <a:schemeClr val="bg1"/>
                </a:solidFill>
              </a:rPr>
              <a:t> 93 epochs required for convergence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Performance Limitations:</a:t>
            </a:r>
            <a:endParaRPr lang="en-US" sz="28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lvl="2">
              <a:lnSpc>
                <a:spcPct val="150000"/>
              </a:lnSpc>
            </a:pPr>
            <a:r>
              <a:rPr lang="en-US" sz="2800" b="1" dirty="0">
                <a:solidFill>
                  <a:schemeClr val="bg1"/>
                </a:solidFill>
              </a:rPr>
              <a:t>Enhancing Tumor Challenge:</a:t>
            </a:r>
            <a:r>
              <a:rPr lang="en-US" sz="2800" dirty="0">
                <a:solidFill>
                  <a:schemeClr val="bg1"/>
                </a:solidFill>
              </a:rPr>
              <a:t> Lowest and most variable Dice scores</a:t>
            </a:r>
          </a:p>
          <a:p>
            <a:pPr lvl="2">
              <a:lnSpc>
                <a:spcPct val="150000"/>
              </a:lnSpc>
            </a:pPr>
            <a:r>
              <a:rPr lang="en-US" sz="2800" b="1" dirty="0">
                <a:solidFill>
                  <a:schemeClr val="bg1"/>
                </a:solidFill>
              </a:rPr>
              <a:t>Small Tumor Detection:</a:t>
            </a:r>
            <a:r>
              <a:rPr lang="en-US" sz="2800" dirty="0">
                <a:solidFill>
                  <a:schemeClr val="bg1"/>
                </a:solidFill>
              </a:rPr>
              <a:t> Difficulty with tiny enhancing regions</a:t>
            </a:r>
          </a:p>
          <a:p>
            <a:pPr lvl="2">
              <a:lnSpc>
                <a:spcPct val="150000"/>
              </a:lnSpc>
            </a:pPr>
            <a:r>
              <a:rPr lang="en-US" sz="2800" b="1" dirty="0">
                <a:solidFill>
                  <a:schemeClr val="bg1"/>
                </a:solidFill>
              </a:rPr>
              <a:t>Boundary Precision:</a:t>
            </a:r>
            <a:r>
              <a:rPr lang="en-US" sz="2800" dirty="0">
                <a:solidFill>
                  <a:schemeClr val="bg1"/>
                </a:solidFill>
              </a:rPr>
              <a:t> Some blurring at tumor edges</a:t>
            </a:r>
          </a:p>
          <a:p>
            <a:pPr lvl="2">
              <a:lnSpc>
                <a:spcPct val="150000"/>
              </a:lnSpc>
            </a:pPr>
            <a:r>
              <a:rPr lang="en-US" sz="2800" b="1" dirty="0">
                <a:solidFill>
                  <a:schemeClr val="bg1"/>
                </a:solidFill>
              </a:rPr>
              <a:t>Generalization:</a:t>
            </a:r>
            <a:r>
              <a:rPr lang="en-US" sz="2800" dirty="0">
                <a:solidFill>
                  <a:schemeClr val="bg1"/>
                </a:solidFill>
              </a:rPr>
              <a:t> Untested on non-</a:t>
            </a:r>
            <a:r>
              <a:rPr lang="en-US" sz="2800" dirty="0" err="1">
                <a:solidFill>
                  <a:schemeClr val="bg1"/>
                </a:solidFill>
              </a:rPr>
              <a:t>BraTS</a:t>
            </a:r>
            <a:r>
              <a:rPr lang="en-US" sz="2800" dirty="0">
                <a:solidFill>
                  <a:schemeClr val="bg1"/>
                </a:solidFill>
              </a:rPr>
              <a:t> clinical data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Methodological Limitations:</a:t>
            </a:r>
            <a:endParaRPr lang="en-US" sz="28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lvl="2">
              <a:lnSpc>
                <a:spcPct val="150000"/>
              </a:lnSpc>
            </a:pPr>
            <a:r>
              <a:rPr lang="en-US" sz="2800" b="1" dirty="0">
                <a:solidFill>
                  <a:schemeClr val="bg1"/>
                </a:solidFill>
              </a:rPr>
              <a:t>Class Imbalance:</a:t>
            </a:r>
            <a:r>
              <a:rPr lang="en-US" sz="2800" dirty="0">
                <a:solidFill>
                  <a:schemeClr val="bg1"/>
                </a:solidFill>
              </a:rPr>
              <a:t> Background dominates loss function</a:t>
            </a:r>
          </a:p>
          <a:p>
            <a:pPr lvl="2">
              <a:lnSpc>
                <a:spcPct val="150000"/>
              </a:lnSpc>
            </a:pPr>
            <a:r>
              <a:rPr lang="en-US" sz="2800" b="1" dirty="0">
                <a:solidFill>
                  <a:schemeClr val="bg1"/>
                </a:solidFill>
              </a:rPr>
              <a:t>Post-processing:</a:t>
            </a:r>
            <a:r>
              <a:rPr lang="en-US" sz="2800" dirty="0">
                <a:solidFill>
                  <a:schemeClr val="bg1"/>
                </a:solidFill>
              </a:rPr>
              <a:t> Simple thresholding may remove valid small regions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flipV="1">
            <a:off x="-25400" y="1943100"/>
            <a:ext cx="18288000" cy="1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AutoShape 3"/>
          <p:cNvSpPr/>
          <p:nvPr/>
        </p:nvSpPr>
        <p:spPr>
          <a:xfrm flipV="1">
            <a:off x="0" y="9486902"/>
            <a:ext cx="18288000" cy="133348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TextBox 4"/>
          <p:cNvSpPr txBox="1"/>
          <p:nvPr/>
        </p:nvSpPr>
        <p:spPr>
          <a:xfrm>
            <a:off x="838200" y="648335"/>
            <a:ext cx="17449800" cy="13542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IN" sz="8800" b="1" dirty="0">
                <a:solidFill>
                  <a:schemeClr val="accent1"/>
                </a:solidFill>
              </a:rPr>
              <a:t>System Architecture &amp; Deployment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50900" y="2193214"/>
            <a:ext cx="9448800" cy="596560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IN" sz="2800" b="1" dirty="0">
                <a:solidFill>
                  <a:schemeClr val="accent6"/>
                </a:solidFill>
              </a:rPr>
              <a:t>End-to-End Web Application</a:t>
            </a:r>
          </a:p>
          <a:p>
            <a:endParaRPr lang="en-IN" sz="2800" b="1" dirty="0">
              <a:solidFill>
                <a:schemeClr val="accent6"/>
              </a:solidFill>
            </a:endParaRPr>
          </a:p>
          <a:p>
            <a:pPr>
              <a:lnSpc>
                <a:spcPct val="150000"/>
              </a:lnSpc>
            </a:pPr>
            <a:r>
              <a:rPr lang="en-IN" sz="28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Backend Architecture (Flask + Python)</a:t>
            </a:r>
          </a:p>
          <a:p>
            <a:pPr>
              <a:lnSpc>
                <a:spcPct val="150000"/>
              </a:lnSpc>
            </a:pPr>
            <a:r>
              <a:rPr lang="en-IN" sz="2800" b="1" dirty="0">
                <a:solidFill>
                  <a:schemeClr val="bg1"/>
                </a:solidFill>
              </a:rPr>
              <a:t>Core Components:</a:t>
            </a:r>
            <a:endParaRPr lang="en-IN" sz="2800" dirty="0">
              <a:solidFill>
                <a:schemeClr val="bg1"/>
              </a:solidFill>
            </a:endParaRP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b="1" dirty="0">
                <a:solidFill>
                  <a:schemeClr val="bg1"/>
                </a:solidFill>
              </a:rPr>
              <a:t>Flask Server:</a:t>
            </a:r>
            <a:r>
              <a:rPr lang="en-IN" sz="2800" dirty="0">
                <a:solidFill>
                  <a:schemeClr val="bg1"/>
                </a:solidFill>
              </a:rPr>
              <a:t> RESTful API endpoints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b="1" dirty="0">
                <a:solidFill>
                  <a:schemeClr val="bg1"/>
                </a:solidFill>
              </a:rPr>
              <a:t>File Handling:</a:t>
            </a:r>
            <a:r>
              <a:rPr lang="en-IN" sz="2800" dirty="0">
                <a:solidFill>
                  <a:schemeClr val="bg1"/>
                </a:solidFill>
              </a:rPr>
              <a:t> Secure </a:t>
            </a:r>
            <a:r>
              <a:rPr lang="en-IN" sz="2800" dirty="0" err="1">
                <a:solidFill>
                  <a:schemeClr val="bg1"/>
                </a:solidFill>
              </a:rPr>
              <a:t>NIfTI</a:t>
            </a:r>
            <a:r>
              <a:rPr lang="en-IN" sz="2800" dirty="0">
                <a:solidFill>
                  <a:schemeClr val="bg1"/>
                </a:solidFill>
              </a:rPr>
              <a:t> upload &amp; validation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b="1" dirty="0">
                <a:solidFill>
                  <a:schemeClr val="bg1"/>
                </a:solidFill>
              </a:rPr>
              <a:t>MONAI Pipeline:</a:t>
            </a:r>
            <a:r>
              <a:rPr lang="en-IN" sz="2800" dirty="0">
                <a:solidFill>
                  <a:schemeClr val="bg1"/>
                </a:solidFill>
              </a:rPr>
              <a:t> Identical preprocessing to training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b="1" dirty="0" err="1">
                <a:solidFill>
                  <a:schemeClr val="bg1"/>
                </a:solidFill>
              </a:rPr>
              <a:t>PyTorch</a:t>
            </a:r>
            <a:r>
              <a:rPr lang="en-IN" sz="2800" b="1" dirty="0">
                <a:solidFill>
                  <a:schemeClr val="bg1"/>
                </a:solidFill>
              </a:rPr>
              <a:t> Inference:</a:t>
            </a:r>
            <a:r>
              <a:rPr lang="en-IN" sz="2800" dirty="0">
                <a:solidFill>
                  <a:schemeClr val="bg1"/>
                </a:solidFill>
              </a:rPr>
              <a:t> Trained Attention U-Net model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b="1" dirty="0">
                <a:solidFill>
                  <a:schemeClr val="bg1"/>
                </a:solidFill>
              </a:rPr>
              <a:t>Post-processing:</a:t>
            </a:r>
            <a:r>
              <a:rPr lang="en-IN" sz="2800" dirty="0">
                <a:solidFill>
                  <a:schemeClr val="bg1"/>
                </a:solidFill>
              </a:rPr>
              <a:t> Mask refinement and analysis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b="1" dirty="0">
                <a:solidFill>
                  <a:schemeClr val="bg1"/>
                </a:solidFill>
              </a:rPr>
              <a:t>Data Generation:</a:t>
            </a:r>
            <a:r>
              <a:rPr lang="en-IN" sz="2800" dirty="0">
                <a:solidFill>
                  <a:schemeClr val="bg1"/>
                </a:solidFill>
              </a:rPr>
              <a:t> 2D slices + 3D mesh creation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9CB6E59-AAC5-35C5-20D2-06CE1DC3FFCA}"/>
              </a:ext>
            </a:extLst>
          </p:cNvPr>
          <p:cNvSpPr txBox="1"/>
          <p:nvPr/>
        </p:nvSpPr>
        <p:spPr>
          <a:xfrm>
            <a:off x="9906000" y="3054988"/>
            <a:ext cx="8839200" cy="510383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8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Frontend Architecture (HTML + CSS + JavaScript)</a:t>
            </a:r>
          </a:p>
          <a:p>
            <a:pPr lvl="1">
              <a:lnSpc>
                <a:spcPct val="150000"/>
              </a:lnSpc>
            </a:pPr>
            <a:r>
              <a:rPr lang="en-IN" sz="2800" b="1" dirty="0">
                <a:solidFill>
                  <a:schemeClr val="bg1"/>
                </a:solidFill>
              </a:rPr>
              <a:t>Single-Page Application Features:</a:t>
            </a:r>
            <a:endParaRPr lang="en-IN" sz="2800" dirty="0">
              <a:solidFill>
                <a:schemeClr val="bg1"/>
              </a:solidFill>
            </a:endParaRP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b="1" dirty="0">
                <a:solidFill>
                  <a:schemeClr val="bg1"/>
                </a:solidFill>
              </a:rPr>
              <a:t>Intuitive Interface:</a:t>
            </a:r>
            <a:r>
              <a:rPr lang="en-IN" sz="2800" dirty="0">
                <a:solidFill>
                  <a:schemeClr val="bg1"/>
                </a:solidFill>
              </a:rPr>
              <a:t> Drag-and-drop file upload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b="1" dirty="0">
                <a:solidFill>
                  <a:schemeClr val="bg1"/>
                </a:solidFill>
              </a:rPr>
              <a:t>Real-time Feedback:</a:t>
            </a:r>
            <a:r>
              <a:rPr lang="en-IN" sz="2800" dirty="0">
                <a:solidFill>
                  <a:schemeClr val="bg1"/>
                </a:solidFill>
              </a:rPr>
              <a:t> Progress indicators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b="1" dirty="0">
                <a:solidFill>
                  <a:schemeClr val="bg1"/>
                </a:solidFill>
              </a:rPr>
              <a:t>Interactive Visualization:</a:t>
            </a:r>
            <a:endParaRPr lang="en-IN" sz="2800" dirty="0">
              <a:solidFill>
                <a:schemeClr val="bg1"/>
              </a:solidFill>
            </a:endParaRPr>
          </a:p>
          <a:p>
            <a:pPr marL="1371600" lvl="2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bg1"/>
                </a:solidFill>
              </a:rPr>
              <a:t>2D Slice Viewer with navigation</a:t>
            </a:r>
          </a:p>
          <a:p>
            <a:pPr marL="1371600" lvl="2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bg1"/>
                </a:solidFill>
              </a:rPr>
              <a:t>3D Volume Renderer (Three.js)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b="1" dirty="0">
                <a:solidFill>
                  <a:schemeClr val="bg1"/>
                </a:solidFill>
              </a:rPr>
              <a:t>Responsive Design:</a:t>
            </a:r>
            <a:r>
              <a:rPr lang="en-IN" sz="2800" dirty="0">
                <a:solidFill>
                  <a:schemeClr val="bg1"/>
                </a:solidFill>
              </a:rPr>
              <a:t> Works on desktop and tablet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34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66A346F-E7D6-FCD9-6C7A-0FB39AD256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F5458A43-BBC3-FBAE-DEF5-33D5A551829C}"/>
              </a:ext>
            </a:extLst>
          </p:cNvPr>
          <p:cNvSpPr/>
          <p:nvPr/>
        </p:nvSpPr>
        <p:spPr>
          <a:xfrm flipV="1">
            <a:off x="-25400" y="1943100"/>
            <a:ext cx="18288000" cy="1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E42FA62D-5FEC-8ECC-C461-F7F0A41471F9}"/>
              </a:ext>
            </a:extLst>
          </p:cNvPr>
          <p:cNvSpPr/>
          <p:nvPr/>
        </p:nvSpPr>
        <p:spPr>
          <a:xfrm flipV="1">
            <a:off x="0" y="9486902"/>
            <a:ext cx="18288000" cy="133348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C3C2241B-99CD-8038-509C-76BC4A7F1CA4}"/>
              </a:ext>
            </a:extLst>
          </p:cNvPr>
          <p:cNvSpPr txBox="1"/>
          <p:nvPr/>
        </p:nvSpPr>
        <p:spPr>
          <a:xfrm>
            <a:off x="863600" y="575180"/>
            <a:ext cx="17449800" cy="13542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IN" sz="8800" b="1" dirty="0">
                <a:solidFill>
                  <a:schemeClr val="accent1"/>
                </a:solidFill>
              </a:rPr>
              <a:t>Deployment &amp; Accessibility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C6E3A896-0810-9ACD-047A-D8D149B3B920}"/>
              </a:ext>
            </a:extLst>
          </p:cNvPr>
          <p:cNvSpPr txBox="1"/>
          <p:nvPr/>
        </p:nvSpPr>
        <p:spPr>
          <a:xfrm>
            <a:off x="838200" y="1910347"/>
            <a:ext cx="9448800" cy="739311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IN" sz="3600" b="1" dirty="0">
                <a:solidFill>
                  <a:schemeClr val="accent6">
                    <a:lumMod val="75000"/>
                  </a:schemeClr>
                </a:solidFill>
              </a:rPr>
              <a:t>Production Deployment</a:t>
            </a:r>
          </a:p>
          <a:p>
            <a:pPr>
              <a:lnSpc>
                <a:spcPct val="150000"/>
              </a:lnSpc>
            </a:pPr>
            <a:r>
              <a:rPr lang="en-IN" sz="36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Containerization</a:t>
            </a:r>
            <a:endParaRPr lang="en-IN" sz="36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1028700" lvl="1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600" b="1" dirty="0">
                <a:solidFill>
                  <a:schemeClr val="bg1"/>
                </a:solidFill>
              </a:rPr>
              <a:t>Docker:</a:t>
            </a:r>
            <a:r>
              <a:rPr lang="en-IN" sz="3600" dirty="0">
                <a:solidFill>
                  <a:schemeClr val="bg1"/>
                </a:solidFill>
              </a:rPr>
              <a:t> Complete environment packaging</a:t>
            </a:r>
          </a:p>
          <a:p>
            <a:pPr marL="1028700" lvl="1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600" b="1" dirty="0" err="1">
                <a:solidFill>
                  <a:schemeClr val="bg1"/>
                </a:solidFill>
              </a:rPr>
              <a:t>Dockerfile</a:t>
            </a:r>
            <a:r>
              <a:rPr lang="en-IN" sz="3600" b="1" dirty="0">
                <a:solidFill>
                  <a:schemeClr val="bg1"/>
                </a:solidFill>
              </a:rPr>
              <a:t>:</a:t>
            </a:r>
            <a:r>
              <a:rPr lang="en-IN" sz="3600" dirty="0">
                <a:solidFill>
                  <a:schemeClr val="bg1"/>
                </a:solidFill>
              </a:rPr>
              <a:t> Reproducible build process</a:t>
            </a:r>
          </a:p>
          <a:p>
            <a:pPr marL="1028700" lvl="1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600" b="1" dirty="0">
                <a:solidFill>
                  <a:schemeClr val="bg1"/>
                </a:solidFill>
              </a:rPr>
              <a:t>Portability:</a:t>
            </a:r>
            <a:r>
              <a:rPr lang="en-IN" sz="3600" dirty="0">
                <a:solidFill>
                  <a:schemeClr val="bg1"/>
                </a:solidFill>
              </a:rPr>
              <a:t> Run anywhere with Docker</a:t>
            </a:r>
          </a:p>
          <a:p>
            <a:pPr>
              <a:lnSpc>
                <a:spcPct val="150000"/>
              </a:lnSpc>
            </a:pPr>
            <a:r>
              <a:rPr lang="en-IN" sz="36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Cloud Deployment</a:t>
            </a:r>
            <a:endParaRPr lang="en-IN" sz="36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1028700" lvl="1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600" b="1" dirty="0">
                <a:solidFill>
                  <a:schemeClr val="bg1"/>
                </a:solidFill>
              </a:rPr>
              <a:t>Platform:</a:t>
            </a:r>
            <a:r>
              <a:rPr lang="en-IN" sz="3600" dirty="0">
                <a:solidFill>
                  <a:schemeClr val="bg1"/>
                </a:solidFill>
              </a:rPr>
              <a:t> Hugging Face Spaces</a:t>
            </a:r>
          </a:p>
          <a:p>
            <a:pPr marL="1028700" lvl="1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600" b="1" dirty="0">
                <a:solidFill>
                  <a:schemeClr val="bg1"/>
                </a:solidFill>
              </a:rPr>
              <a:t>Access:</a:t>
            </a:r>
            <a:r>
              <a:rPr lang="en-IN" sz="3600" dirty="0">
                <a:solidFill>
                  <a:schemeClr val="bg1"/>
                </a:solidFill>
              </a:rPr>
              <a:t> Publicly available at [HF Spaces Link]</a:t>
            </a:r>
          </a:p>
          <a:p>
            <a:pPr marL="1028700" lvl="1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600" b="1" dirty="0">
                <a:solidFill>
                  <a:schemeClr val="bg1"/>
                </a:solidFill>
              </a:rPr>
              <a:t>Scalability:</a:t>
            </a:r>
            <a:r>
              <a:rPr lang="en-IN" sz="3600" dirty="0">
                <a:solidFill>
                  <a:schemeClr val="bg1"/>
                </a:solidFill>
              </a:rPr>
              <a:t> Automatic resource management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66882DE-3C3D-8EB6-AC23-ED8515F3EB45}"/>
              </a:ext>
            </a:extLst>
          </p:cNvPr>
          <p:cNvSpPr txBox="1"/>
          <p:nvPr/>
        </p:nvSpPr>
        <p:spPr>
          <a:xfrm>
            <a:off x="11112500" y="1937754"/>
            <a:ext cx="7023100" cy="72019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IN" sz="3600" b="1" dirty="0">
                <a:solidFill>
                  <a:schemeClr val="accent6">
                    <a:lumMod val="75000"/>
                  </a:schemeClr>
                </a:solidFill>
              </a:rPr>
              <a:t>Local Deployment</a:t>
            </a:r>
            <a:endParaRPr lang="en-IN" sz="3600" i="1" dirty="0">
              <a:solidFill>
                <a:schemeClr val="accent6">
                  <a:lumMod val="75000"/>
                </a:schemeClr>
              </a:solidFill>
            </a:endParaRPr>
          </a:p>
          <a:p>
            <a:pPr lvl="1" latinLnBrk="1">
              <a:lnSpc>
                <a:spcPct val="150000"/>
              </a:lnSpc>
            </a:pPr>
            <a:r>
              <a:rPr lang="en-IN" sz="3600" i="1" dirty="0">
                <a:solidFill>
                  <a:schemeClr val="bg1"/>
                </a:solidFill>
              </a:rPr>
              <a:t># One-command setup</a:t>
            </a:r>
            <a:endParaRPr lang="en-IN" sz="3600" dirty="0">
              <a:solidFill>
                <a:schemeClr val="bg1"/>
              </a:solidFill>
            </a:endParaRPr>
          </a:p>
          <a:p>
            <a:pPr lvl="1" latinLnBrk="1">
              <a:lnSpc>
                <a:spcPct val="150000"/>
              </a:lnSpc>
            </a:pPr>
            <a:r>
              <a:rPr lang="en-IN" sz="3600" dirty="0">
                <a:solidFill>
                  <a:schemeClr val="bg1"/>
                </a:solidFill>
              </a:rPr>
              <a:t>docker-compose up</a:t>
            </a:r>
          </a:p>
          <a:p>
            <a:pPr lvl="1" latinLnBrk="1">
              <a:lnSpc>
                <a:spcPct val="150000"/>
              </a:lnSpc>
            </a:pPr>
            <a:r>
              <a:rPr lang="en-IN" sz="3600" i="1" dirty="0">
                <a:solidFill>
                  <a:schemeClr val="bg1"/>
                </a:solidFill>
              </a:rPr>
              <a:t># OR</a:t>
            </a:r>
            <a:endParaRPr lang="en-IN" sz="3600" dirty="0">
              <a:solidFill>
                <a:schemeClr val="bg1"/>
              </a:solidFill>
            </a:endParaRPr>
          </a:p>
          <a:p>
            <a:pPr lvl="1" latinLnBrk="1">
              <a:lnSpc>
                <a:spcPct val="150000"/>
              </a:lnSpc>
            </a:pPr>
            <a:r>
              <a:rPr lang="en-IN" sz="3600" dirty="0">
                <a:solidFill>
                  <a:schemeClr val="bg1"/>
                </a:solidFill>
              </a:rPr>
              <a:t>python app.py</a:t>
            </a:r>
          </a:p>
          <a:p>
            <a:pPr>
              <a:lnSpc>
                <a:spcPct val="150000"/>
              </a:lnSpc>
            </a:pPr>
            <a:r>
              <a:rPr lang="en-IN" sz="36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Key Features</a:t>
            </a:r>
            <a:endParaRPr lang="en-IN" sz="36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1028700" lvl="1" indent="-571500">
              <a:buFont typeface="Arial" panose="020B0604020202020204" pitchFamily="34" charset="0"/>
              <a:buChar char="•"/>
            </a:pPr>
            <a:r>
              <a:rPr lang="en-IN" sz="3600" dirty="0">
                <a:solidFill>
                  <a:schemeClr val="bg1"/>
                </a:solidFill>
              </a:rPr>
              <a:t>No GPU required for inference</a:t>
            </a:r>
          </a:p>
          <a:p>
            <a:pPr marL="1028700" lvl="1" indent="-571500">
              <a:buFont typeface="Arial" panose="020B0604020202020204" pitchFamily="34" charset="0"/>
              <a:buChar char="•"/>
            </a:pPr>
            <a:r>
              <a:rPr lang="en-IN" sz="3600" dirty="0">
                <a:solidFill>
                  <a:schemeClr val="bg1"/>
                </a:solidFill>
              </a:rPr>
              <a:t>Browser-based accessibility</a:t>
            </a:r>
          </a:p>
          <a:p>
            <a:pPr marL="1028700" lvl="1" indent="-571500">
              <a:buFont typeface="Arial" panose="020B0604020202020204" pitchFamily="34" charset="0"/>
              <a:buChar char="•"/>
            </a:pPr>
            <a:r>
              <a:rPr lang="en-IN" sz="3600" dirty="0">
                <a:solidFill>
                  <a:schemeClr val="bg1"/>
                </a:solidFill>
              </a:rPr>
              <a:t>Enterprise-ready architecture</a:t>
            </a:r>
          </a:p>
          <a:p>
            <a:pPr marL="1028700" lvl="1" indent="-571500">
              <a:buFont typeface="Arial" panose="020B0604020202020204" pitchFamily="34" charset="0"/>
              <a:buChar char="•"/>
            </a:pPr>
            <a:r>
              <a:rPr lang="en-IN" sz="3600" dirty="0">
                <a:solidFill>
                  <a:schemeClr val="bg1"/>
                </a:solidFill>
              </a:rPr>
              <a:t>Open-source codebase</a:t>
            </a:r>
          </a:p>
        </p:txBody>
      </p:sp>
    </p:spTree>
    <p:extLst>
      <p:ext uri="{BB962C8B-B14F-4D97-AF65-F5344CB8AC3E}">
        <p14:creationId xmlns:p14="http://schemas.microsoft.com/office/powerpoint/2010/main" val="108112478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34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CF9DE50-0ADC-3EB8-CED7-9B370417AE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52E2B732-C442-2992-FD37-7B3D75DF0D81}"/>
              </a:ext>
            </a:extLst>
          </p:cNvPr>
          <p:cNvSpPr/>
          <p:nvPr/>
        </p:nvSpPr>
        <p:spPr>
          <a:xfrm flipV="1">
            <a:off x="-25400" y="1943100"/>
            <a:ext cx="18288000" cy="1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9FABB4DE-88D0-B76E-284E-5A562E1BB991}"/>
              </a:ext>
            </a:extLst>
          </p:cNvPr>
          <p:cNvSpPr/>
          <p:nvPr/>
        </p:nvSpPr>
        <p:spPr>
          <a:xfrm flipV="1">
            <a:off x="0" y="9486902"/>
            <a:ext cx="18288000" cy="133348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81166613-E71E-E2C2-C940-25790B66D7F8}"/>
              </a:ext>
            </a:extLst>
          </p:cNvPr>
          <p:cNvSpPr txBox="1"/>
          <p:nvPr/>
        </p:nvSpPr>
        <p:spPr>
          <a:xfrm>
            <a:off x="838200" y="648335"/>
            <a:ext cx="15925800" cy="12820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9600"/>
              </a:lnSpc>
            </a:pPr>
            <a:r>
              <a:rPr lang="en-US" sz="9600" spc="-192" dirty="0">
                <a:solidFill>
                  <a:schemeClr val="accent1"/>
                </a:solidFill>
                <a:latin typeface="Noto Serif Display ExtraCondensed Light"/>
                <a:ea typeface="Noto Serif Display ExtraCondensed Light"/>
                <a:cs typeface="Noto Serif Display ExtraCondensed Light"/>
                <a:sym typeface="Noto Serif Display ExtraCondensed Light"/>
              </a:rPr>
              <a:t>Future Work &amp; Next Steps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972FE57A-8980-6201-AFFB-A9E0CB691796}"/>
              </a:ext>
            </a:extLst>
          </p:cNvPr>
          <p:cNvSpPr txBox="1"/>
          <p:nvPr/>
        </p:nvSpPr>
        <p:spPr>
          <a:xfrm>
            <a:off x="2667000" y="3314700"/>
            <a:ext cx="11203296" cy="35393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71500" lvl="0" indent="-5715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4000" u="none" strike="noStrike" dirty="0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Try Swin-UNETR, </a:t>
            </a:r>
            <a:r>
              <a:rPr lang="en-US" sz="4000" u="none" strike="noStrike" dirty="0" err="1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ResU</a:t>
            </a:r>
            <a:r>
              <a:rPr lang="en-US" sz="4000" u="none" strike="noStrike" dirty="0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-Net.</a:t>
            </a:r>
          </a:p>
          <a:p>
            <a:pPr marL="571500" lvl="0" indent="-5715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4000" u="none" strike="noStrike" dirty="0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Post-processing to remove small false positives.</a:t>
            </a:r>
          </a:p>
          <a:p>
            <a:pPr marL="571500" lvl="0" indent="-5715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4000" u="none" strike="noStrike" dirty="0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Ensemble models.</a:t>
            </a:r>
          </a:p>
        </p:txBody>
      </p:sp>
    </p:spTree>
    <p:extLst>
      <p:ext uri="{BB962C8B-B14F-4D97-AF65-F5344CB8AC3E}">
        <p14:creationId xmlns:p14="http://schemas.microsoft.com/office/powerpoint/2010/main" val="217951517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09600" y="1181100"/>
            <a:ext cx="6886575" cy="13207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999"/>
              </a:lnSpc>
            </a:pPr>
            <a:r>
              <a:rPr lang="en-US" sz="9999" b="1" spc="-199" dirty="0">
                <a:solidFill>
                  <a:schemeClr val="accent1"/>
                </a:solidFill>
                <a:latin typeface="Noto Serif Display ExtraCondensed Bold"/>
                <a:ea typeface="Noto Serif Display ExtraCondensed Bold"/>
                <a:cs typeface="Noto Serif Display ExtraCondensed Bold"/>
                <a:sym typeface="Noto Serif Display ExtraCondensed Bold"/>
              </a:rPr>
              <a:t>Conclusion</a:t>
            </a:r>
          </a:p>
        </p:txBody>
      </p:sp>
      <p:sp>
        <p:nvSpPr>
          <p:cNvPr id="3" name="AutoShape 3"/>
          <p:cNvSpPr/>
          <p:nvPr/>
        </p:nvSpPr>
        <p:spPr>
          <a:xfrm>
            <a:off x="0" y="676275"/>
            <a:ext cx="18288000" cy="0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AutoShape 4"/>
          <p:cNvSpPr/>
          <p:nvPr/>
        </p:nvSpPr>
        <p:spPr>
          <a:xfrm>
            <a:off x="0" y="9620250"/>
            <a:ext cx="18288000" cy="0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TextBox 5"/>
          <p:cNvSpPr txBox="1"/>
          <p:nvPr/>
        </p:nvSpPr>
        <p:spPr>
          <a:xfrm>
            <a:off x="2139808" y="2277236"/>
            <a:ext cx="14008383" cy="68286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85800" lvl="0" indent="-6858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5000" dirty="0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3D </a:t>
            </a:r>
            <a:r>
              <a:rPr lang="en-US" sz="5000" u="none" strike="noStrike" dirty="0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Attention U-Net works well for brain tumor segmentation.</a:t>
            </a:r>
          </a:p>
          <a:p>
            <a:pPr marL="685800" lvl="0" indent="-6858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5000" u="none" strike="noStrike" dirty="0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Dice score shows strong overlap; model generalizes well.</a:t>
            </a:r>
          </a:p>
          <a:p>
            <a:pPr marL="685800" lvl="0" indent="-6858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5000" u="none" strike="noStrike" dirty="0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Patch-based method offers faster, balanced training alternative.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66750" y="1743920"/>
            <a:ext cx="5448300" cy="12820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600"/>
              </a:lnSpc>
            </a:pPr>
            <a:r>
              <a:rPr lang="en-US" sz="9600" spc="-192" dirty="0">
                <a:solidFill>
                  <a:schemeClr val="accent1"/>
                </a:solidFill>
                <a:latin typeface="Noto Serif Display ExtraCondensed Light"/>
                <a:ea typeface="Noto Serif Display ExtraCondensed Light"/>
                <a:cs typeface="Noto Serif Display ExtraCondensed Light"/>
                <a:sym typeface="Noto Serif Display ExtraCondensed Light"/>
              </a:rPr>
              <a:t>References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7858125" y="2457450"/>
            <a:ext cx="4010025" cy="1257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</a:pPr>
            <a:r>
              <a:rPr lang="en-US" sz="2799" b="1">
                <a:solidFill>
                  <a:srgbClr val="FFFFFF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Br</a:t>
            </a:r>
            <a:r>
              <a:rPr lang="en-US" sz="2799" b="1" u="none" strike="noStrike">
                <a:solidFill>
                  <a:srgbClr val="FFFFFF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aTS 2023 Challenge: https://www.med.upenn.edu/cbica/brats2023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3611225" y="2457450"/>
            <a:ext cx="4010025" cy="838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</a:pPr>
            <a:r>
              <a:rPr lang="en-US" sz="2799" b="1">
                <a:solidFill>
                  <a:srgbClr val="FFFFFF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MONAI Framew</a:t>
            </a:r>
            <a:r>
              <a:rPr lang="en-US" sz="2799" b="1" u="none" strike="noStrike">
                <a:solidFill>
                  <a:srgbClr val="FFFFFF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ork: https://monai.io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3611225" y="5076825"/>
            <a:ext cx="4010025" cy="1257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</a:pPr>
            <a:r>
              <a:rPr lang="en-US" sz="2799" b="1">
                <a:solidFill>
                  <a:srgbClr val="FFFFFF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Data</a:t>
            </a:r>
            <a:r>
              <a:rPr lang="en-US" sz="2799" b="1" u="none" strike="noStrike">
                <a:solidFill>
                  <a:srgbClr val="FFFFFF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set Citations: Menze et al., IEEE TMI 2015 – BRATS Benchmark.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858125" y="5143500"/>
            <a:ext cx="4010025" cy="1257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</a:pPr>
            <a:r>
              <a:rPr lang="en-US" sz="2799" b="1">
                <a:solidFill>
                  <a:srgbClr val="FFFFFF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Papers: U-Net (2015), Attention U-Ne</a:t>
            </a:r>
            <a:r>
              <a:rPr lang="en-US" sz="2799" b="1" u="none" strike="noStrike">
                <a:solidFill>
                  <a:srgbClr val="FFFFFF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t</a:t>
            </a:r>
            <a:r>
              <a:rPr lang="en-US" sz="2799" b="1" strike="noStrike">
                <a:solidFill>
                  <a:srgbClr val="FFFFFF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 (2018), V-N</a:t>
            </a:r>
            <a:r>
              <a:rPr lang="en-US" sz="2799" b="1" u="none" strike="noStrike">
                <a:solidFill>
                  <a:srgbClr val="FFFFFF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e</a:t>
            </a:r>
            <a:r>
              <a:rPr lang="en-US" sz="2799" b="1" strike="noStrike">
                <a:solidFill>
                  <a:srgbClr val="FFFFFF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t (2016).</a:t>
            </a:r>
          </a:p>
        </p:txBody>
      </p:sp>
      <p:sp>
        <p:nvSpPr>
          <p:cNvPr id="7" name="AutoShape 7"/>
          <p:cNvSpPr/>
          <p:nvPr/>
        </p:nvSpPr>
        <p:spPr>
          <a:xfrm>
            <a:off x="0" y="666750"/>
            <a:ext cx="18288000" cy="0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8" name="AutoShape 8"/>
          <p:cNvSpPr/>
          <p:nvPr/>
        </p:nvSpPr>
        <p:spPr>
          <a:xfrm>
            <a:off x="0" y="9620250"/>
            <a:ext cx="18288000" cy="0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9" name="TextBox 9"/>
          <p:cNvSpPr txBox="1"/>
          <p:nvPr/>
        </p:nvSpPr>
        <p:spPr>
          <a:xfrm>
            <a:off x="7858125" y="7377112"/>
            <a:ext cx="4010025" cy="1676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</a:pPr>
            <a:r>
              <a:rPr lang="en-US" sz="2799" b="1">
                <a:solidFill>
                  <a:srgbClr val="FFFFFF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Kaggle Implementation: https://www.kaggle.com/code/siddhantbapna/attention-b</a:t>
            </a:r>
            <a:r>
              <a:rPr lang="en-US" sz="2799" b="1" strike="noStrike">
                <a:solidFill>
                  <a:srgbClr val="FFFFFF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tsb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3611225" y="7377112"/>
            <a:ext cx="4010025" cy="1257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</a:pPr>
            <a:r>
              <a:rPr lang="en-US" sz="2799" b="1">
                <a:solidFill>
                  <a:srgbClr val="FFFFFF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Tools Used: PyTorch 1.13, NumPy, Matplotlib</a:t>
            </a:r>
            <a:r>
              <a:rPr lang="en-US" sz="2799" b="1" strike="noStrike">
                <a:solidFill>
                  <a:srgbClr val="FFFFFF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, MONAI Transforms.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351</TotalTime>
  <Words>1995</Words>
  <Application>Microsoft Office PowerPoint</Application>
  <PresentationFormat>Custom</PresentationFormat>
  <Paragraphs>326</Paragraphs>
  <Slides>31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40" baseType="lpstr">
      <vt:lpstr>HK Grotesk</vt:lpstr>
      <vt:lpstr>Calibri</vt:lpstr>
      <vt:lpstr>HK Grotesk Semi-Bold</vt:lpstr>
      <vt:lpstr>Arial</vt:lpstr>
      <vt:lpstr>Noto Serif Display ExtraCondensed Light</vt:lpstr>
      <vt:lpstr>HK Grotesk Bold</vt:lpstr>
      <vt:lpstr>Noto Serif Display ExtraCondensed Bold</vt:lpstr>
      <vt:lpstr>quote-cjk-patch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- Brain Tumor Segmentation</dc:title>
  <dc:description>Presentation - Brain Tumor Segmentation</dc:description>
  <cp:lastModifiedBy>gaurav yadav</cp:lastModifiedBy>
  <cp:revision>4</cp:revision>
  <dcterms:created xsi:type="dcterms:W3CDTF">2006-08-16T00:00:00Z</dcterms:created>
  <dcterms:modified xsi:type="dcterms:W3CDTF">2025-11-19T19:59:06Z</dcterms:modified>
  <dc:identifier>DAG3k7TSbmc</dc:identifier>
</cp:coreProperties>
</file>