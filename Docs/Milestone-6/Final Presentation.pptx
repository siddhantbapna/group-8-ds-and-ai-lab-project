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HK Grotesk Semi-Bold" charset="1" panose="00000700000000000000"/>
      <p:regular r:id="rId22"/>
    </p:embeddedFont>
    <p:embeddedFont>
      <p:font typeface="HK Grotesk Bold" charset="1" panose="00000800000000000000"/>
      <p:regular r:id="rId23"/>
    </p:embeddedFont>
    <p:embeddedFont>
      <p:font typeface="Noto Serif Display ExtraCondensed Light" charset="1" panose="02020406080505020204"/>
      <p:regular r:id="rId24"/>
    </p:embeddedFont>
    <p:embeddedFont>
      <p:font typeface="HK Grotesk" charset="1" panose="00000500000000000000"/>
      <p:regular r:id="rId25"/>
    </p:embeddedFont>
    <p:embeddedFont>
      <p:font typeface="Noto Serif Display ExtraCondensed Bold" charset="1" panose="02020806080505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638300"/>
            <a:ext cx="6886575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b="true" sz="3899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ORCA: Automated Brain Tumor Segmentation Using Deep Learning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36430" y="2070735"/>
            <a:ext cx="688657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Group-8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DSAI Lab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5749290"/>
            <a:ext cx="6886575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</a:pPr>
            <a:r>
              <a:rPr lang="en-US" sz="6000" spc="-12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3D Attent</a:t>
            </a:r>
            <a:r>
              <a:rPr lang="en-US" sz="6000" spc="-120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ion U-Net with MRI-based Semantic Segmentation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296400" y="3733011"/>
            <a:ext cx="8178712" cy="245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38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Siddhant Bapna               23F2004494</a:t>
            </a:r>
          </a:p>
          <a:p>
            <a:pPr algn="l">
              <a:lnSpc>
                <a:spcPts val="3899"/>
              </a:lnSpc>
            </a:pPr>
            <a:r>
              <a:rPr lang="en-US" sz="38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Saurabh Yadav                23F1003171</a:t>
            </a:r>
          </a:p>
          <a:p>
            <a:pPr algn="l">
              <a:lnSpc>
                <a:spcPts val="3899"/>
              </a:lnSpc>
            </a:pPr>
            <a:r>
              <a:rPr lang="en-US" sz="38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Hardik                              23F1002590</a:t>
            </a:r>
          </a:p>
          <a:p>
            <a:pPr algn="l">
              <a:lnSpc>
                <a:spcPts val="3899"/>
              </a:lnSpc>
            </a:pPr>
            <a:r>
              <a:rPr lang="en-US" sz="38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Ravineel Singhi                21F1003185</a:t>
            </a:r>
          </a:p>
          <a:p>
            <a:pPr algn="l" marL="0" indent="0" lvl="0">
              <a:lnSpc>
                <a:spcPts val="3899"/>
              </a:lnSpc>
            </a:pPr>
            <a:r>
              <a:rPr lang="en-US" sz="38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Ajsal                                 21F3002985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2419982"/>
            <a:chOff x="0" y="0"/>
            <a:chExt cx="9182100" cy="322664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00025"/>
              <a:ext cx="9182100" cy="1827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199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A</a:t>
              </a:r>
              <a:r>
                <a:rPr lang="en-US" sz="9999" spc="-199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bstract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667843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061821" y="3800475"/>
            <a:ext cx="13121154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6000"/>
              </a:lnSpc>
              <a:buFont typeface="Arial"/>
              <a:buChar char="•"/>
            </a:pPr>
            <a:r>
              <a:rPr lang="en-US" sz="5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ut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om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ati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tumor s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ment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ation from m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-m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al 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MRI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l" marL="1079501" indent="-539750" lvl="1">
              <a:lnSpc>
                <a:spcPts val="6000"/>
              </a:lnSpc>
              <a:buFont typeface="Arial"/>
              <a:buChar char="•"/>
            </a:pP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Uses 3D Attention U-Net (and patch-based variant).</a:t>
            </a:r>
          </a:p>
          <a:p>
            <a:pPr algn="l" marL="1079501" indent="-539750" lvl="1">
              <a:lnSpc>
                <a:spcPts val="6000"/>
              </a:lnSpc>
              <a:buFont typeface="Arial"/>
              <a:buChar char="•"/>
            </a:pP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Outputs tumor masks + volumes; aims for deployable model.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16592550" cy="2419982"/>
            <a:chOff x="0" y="0"/>
            <a:chExt cx="22123400" cy="322664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00025"/>
              <a:ext cx="22123400" cy="1827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199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In</a:t>
              </a:r>
              <a:r>
                <a:rPr lang="en-US" sz="9999" spc="-199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troduction / Problem Statement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667843"/>
              <a:ext cx="221234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061821" y="3800475"/>
            <a:ext cx="13121154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6000"/>
              </a:lnSpc>
              <a:buFont typeface="Arial"/>
              <a:buChar char="•"/>
            </a:pPr>
            <a:r>
              <a:rPr lang="en-US" sz="5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Man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ual MRI s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ment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ation is slow &amp; su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bjec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tive.</a:t>
            </a:r>
          </a:p>
          <a:p>
            <a:pPr algn="l" marL="1079501" indent="-539750" lvl="1">
              <a:lnSpc>
                <a:spcPts val="6000"/>
              </a:lnSpc>
              <a:buFont typeface="Arial"/>
              <a:buChar char="•"/>
            </a:pP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Deep learning offers fast, reliable alternatives.</a:t>
            </a:r>
          </a:p>
          <a:p>
            <a:pPr algn="l" marL="1079501" indent="-539750" lvl="1">
              <a:lnSpc>
                <a:spcPts val="6000"/>
              </a:lnSpc>
              <a:buFont typeface="Arial"/>
              <a:buChar char="•"/>
            </a:pP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Goal: automate segmentation of brain tumor subregions (WT, TC, ET).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62125"/>
            <a:ext cx="15516225" cy="132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199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Lit</a:t>
            </a:r>
            <a:r>
              <a:rPr lang="en-US" sz="9999" spc="-199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erature Review &amp; Existing Work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054696" y="3800475"/>
            <a:ext cx="14128279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5" indent="-539753" lvl="1">
              <a:lnSpc>
                <a:spcPts val="6000"/>
              </a:lnSpc>
              <a:buFont typeface="Arial"/>
              <a:buChar char="•"/>
            </a:pPr>
            <a:r>
              <a:rPr lang="en-US" sz="5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odel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s: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U-Net,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3D 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U-N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et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-Net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ention 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et.</a:t>
            </a:r>
          </a:p>
          <a:p>
            <a:pPr algn="l" marL="1079505" indent="-539753" lvl="1">
              <a:lnSpc>
                <a:spcPts val="6000"/>
              </a:lnSpc>
              <a:buFont typeface="Arial"/>
              <a:buChar char="•"/>
            </a:pP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Dataset: BraTS – benchmark dataset for tumor segmentation.</a:t>
            </a:r>
          </a:p>
          <a:p>
            <a:pPr algn="l" marL="1079505" indent="-539753" lvl="1">
              <a:lnSpc>
                <a:spcPts val="6000"/>
              </a:lnSpc>
              <a:buFont typeface="Arial"/>
              <a:buChar char="•"/>
            </a:pP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Gaps: low generalization, lack of automation in reporting.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2876550"/>
            <a:chOff x="0" y="0"/>
            <a:chExt cx="5346700" cy="3835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Multi-modal MRI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44600"/>
              <a:ext cx="5346700" cy="2590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92"/>
                </a:lnSpc>
                <a:spcBef>
                  <a:spcPct val="0"/>
                </a:spcBef>
              </a:pPr>
              <a:r>
                <a:rPr lang="en-US" sz="216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BraTS 2023 dataset includes diverse MRI modalities such as T1, T1ce, T2, and FLAIR, providing comprehensive imaging for effective tumor segmentation and analysis.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228975"/>
            <a:chOff x="0" y="0"/>
            <a:chExt cx="5346700" cy="43053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Consistent Dimensions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82700"/>
              <a:ext cx="5346700" cy="302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92"/>
                </a:lnSpc>
                <a:spcBef>
                  <a:spcPct val="0"/>
                </a:spcBef>
              </a:pPr>
              <a:r>
                <a:rPr lang="en-US" sz="216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All images in the dataset are standardized to consistent dimensions, ensuring uniformity during preprocessing and modeling, which is essential for achieving accurate segmentation results.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200400"/>
            <a:chOff x="0" y="0"/>
            <a:chExt cx="5346700" cy="42672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De-identified Data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44600"/>
              <a:ext cx="5346700" cy="302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92"/>
                </a:lnSpc>
                <a:spcBef>
                  <a:spcPct val="0"/>
                </a:spcBef>
              </a:pPr>
              <a:r>
                <a:rPr lang="en-US" sz="216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dataset comprises de-identified MRI scans, safeguarding patient privacy while allowing researchers to utilize this essential resource for developing and testing automated segmentation methods.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Dataset — BraTS 2023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Features of BraTS 2023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177879" cy="3676650"/>
            <a:chOff x="0" y="0"/>
            <a:chExt cx="5570505" cy="4902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570505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Normaliz</a:t>
              </a: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 in</a:t>
              </a: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</a:t>
              </a: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ens</a:t>
              </a: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</a:t>
              </a: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ty (0–1)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35075"/>
              <a:ext cx="5570505" cy="366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72"/>
                </a:lnSpc>
                <a:spcBef>
                  <a:spcPct val="0"/>
                </a:spcBef>
              </a:pPr>
              <a:r>
                <a:rPr lang="en-US" sz="231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Normalization ensures consistent data representation by adjusting pixel values to a standard range, facilitating better model performance and speeding up convergence during training. Resample to isotropic spacing (1 mm).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362325"/>
            <a:chOff x="0" y="0"/>
            <a:chExt cx="5346700" cy="44831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Crop</a:t>
              </a: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foregrou</a:t>
              </a: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</a:t>
              </a: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73175"/>
              <a:ext cx="5346700" cy="320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72"/>
                </a:lnSpc>
                <a:spcBef>
                  <a:spcPct val="0"/>
                </a:spcBef>
              </a:pPr>
              <a:r>
                <a:rPr lang="en-US" sz="231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Cropping focuses on relevant regions of interest within the MRI scans, removing extraneous data and improving computational efficiency, aiding the model in learning critical features better.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752850"/>
            <a:chOff x="0" y="0"/>
            <a:chExt cx="5346700" cy="5003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</a:t>
              </a: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esiz</a:t>
              </a: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 to 128³, co</a:t>
              </a: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</a:t>
              </a: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vert to .npz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793875"/>
              <a:ext cx="5346700" cy="320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72"/>
                </a:lnSpc>
                <a:spcBef>
                  <a:spcPct val="0"/>
                </a:spcBef>
              </a:pPr>
              <a:r>
                <a:rPr lang="en-US" sz="231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Resizing standardizes all images to a uniform dimension, ensuring compatibility across the dataset and maintaining the integrity of the anatomical structures crucial for accurate segmentation.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1209675"/>
            <a:ext cx="1695450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Preprocessing Pipeline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352800"/>
            <a:ext cx="16954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Output: (4,128,128,128) image + (3,128,128,128) mask.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870133"/>
            <a:ext cx="417787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  <a:r>
              <a:rPr lang="en-US" sz="231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Ext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racted 3D patches of size 64 × 64 × 64 centered around tumor regio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91787" y="4870133"/>
            <a:ext cx="401002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  <a:r>
              <a:rPr lang="en-US" sz="231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Only patches with ≥ 1 % tumor voxels kept → r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educes class imbalance.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491" y="4870133"/>
            <a:ext cx="401002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  <a:r>
              <a:rPr lang="en-US" sz="231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erified patches usi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ng 3D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visualizations and statistical analysis.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1743075"/>
            <a:ext cx="1695450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Tumo</a:t>
            </a: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r-Focused 3D Patch Extraction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3430981" y="7240429"/>
            <a:ext cx="401002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  <a:r>
              <a:rPr lang="en-US" sz="231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Compared full volume vs patches → pat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ches focus on important tumor zones.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83270" y="7240429"/>
            <a:ext cx="401002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  <a:r>
              <a:rPr lang="en-US" sz="231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Output dataset used for training lighter 3D U-Net and V-N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et models.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2819400"/>
            <a:chOff x="0" y="0"/>
            <a:chExt cx="5346700" cy="3759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Encoder-Decoder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35075"/>
              <a:ext cx="5346700" cy="2524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2109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3D Attention U-Net utilizes an </a:t>
              </a:r>
              <a:r>
                <a:rPr lang="en-US" b="true" sz="2109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encoder-decoder</a:t>
              </a:r>
              <a:r>
                <a:rPr lang="en-US" sz="2109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architecture that efficiently captures features at various scales, enhancing the model's ability to segment brain tumors accurately.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2847975"/>
            <a:chOff x="0" y="0"/>
            <a:chExt cx="5346700" cy="37973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Attention Gates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73175"/>
              <a:ext cx="5346700" cy="2524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2109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Attention gates are incorporated to </a:t>
              </a:r>
              <a:r>
                <a:rPr lang="en-US" b="true" sz="2109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emphasize</a:t>
              </a:r>
              <a:r>
                <a:rPr lang="en-US" sz="2109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relevant features while suppressing noise, allowing the model to focus on critical areas of the MRI scans for better segmentation results.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448050"/>
            <a:chOff x="0" y="0"/>
            <a:chExt cx="5346700" cy="4597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Input/Output Channels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35075"/>
              <a:ext cx="5346700" cy="336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2109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architecture comprises multiple input and output channels, facilitating the integration of various MRI modalities, which enhances the model's performance in identifying different tumor characteristics.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1209675"/>
            <a:ext cx="1695450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Model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041071"/>
            <a:ext cx="16954500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Overview of 3D Attention U-Net:</a:t>
            </a:r>
          </a:p>
          <a:p>
            <a:pPr algn="l">
              <a:lnSpc>
                <a:spcPts val="3359"/>
              </a:lnSpc>
            </a:pP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- 4 input channels → 3 output masks.</a:t>
            </a:r>
          </a:p>
          <a:p>
            <a:pPr algn="l" marL="0" indent="0" lvl="0">
              <a:lnSpc>
                <a:spcPts val="3359"/>
              </a:lnSpc>
            </a:pP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- Channels: (16,32,64,128,256).</a:t>
            </a:r>
          </a:p>
          <a:p>
            <a:pPr algn="l" marL="0" indent="0" lvl="0">
              <a:lnSpc>
                <a:spcPts val="3359"/>
              </a:lnSpc>
            </a:pP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- Skip connections + Attention Gates.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41728" y="3112605"/>
            <a:ext cx="4177879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Patch-level 3D Attention U-Net — lighter version for 128³ patches.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8062" y="4703280"/>
            <a:ext cx="7350230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729" indent="-249365" lvl="1">
              <a:lnSpc>
                <a:spcPts val="2772"/>
              </a:lnSpc>
              <a:spcBef>
                <a:spcPct val="0"/>
              </a:spcBef>
              <a:buFont typeface="Arial"/>
              <a:buChar char="•"/>
            </a:pPr>
            <a:r>
              <a:rPr lang="en-US" sz="231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 compact version of t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he main 3D Attention U-Net trained on 128 × 128 × 128 tumor-focused patches.</a:t>
            </a:r>
          </a:p>
          <a:p>
            <a:pPr algn="l" marL="498729" indent="-249365" lvl="1">
              <a:lnSpc>
                <a:spcPts val="2772"/>
              </a:lnSpc>
              <a:spcBef>
                <a:spcPct val="0"/>
              </a:spcBef>
              <a:buFont typeface="Arial"/>
              <a:buChar char="•"/>
            </a:pP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Retains encoder–decoder design and attention gates to highlight tumor voxels inside each patch.</a:t>
            </a:r>
          </a:p>
          <a:p>
            <a:pPr algn="l" marL="498729" indent="-249365" lvl="1">
              <a:lnSpc>
                <a:spcPts val="2772"/>
              </a:lnSpc>
              <a:spcBef>
                <a:spcPct val="0"/>
              </a:spcBef>
              <a:buFont typeface="Arial"/>
              <a:buChar char="•"/>
            </a:pP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Smaller channel set → lower GPU memory n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eed,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f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aster c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nve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gence,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better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focus on loc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 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umor r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egions.</a:t>
            </a:r>
          </a:p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728973" y="3322155"/>
            <a:ext cx="401002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3D V-Net (Residual Variant)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93265" y="4703280"/>
            <a:ext cx="7151294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729" indent="-249365" lvl="1">
              <a:lnSpc>
                <a:spcPts val="2772"/>
              </a:lnSpc>
              <a:spcBef>
                <a:spcPct val="0"/>
              </a:spcBef>
              <a:buFont typeface="Arial"/>
              <a:buChar char="•"/>
            </a:pPr>
            <a:r>
              <a:rPr lang="en-US" sz="231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Employs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residual blocks for stable gradient flow and smooth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er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tumor boundarie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l" marL="498729" indent="-249365" lvl="1">
              <a:lnSpc>
                <a:spcPts val="2772"/>
              </a:lnSpc>
              <a:spcBef>
                <a:spcPct val="0"/>
              </a:spcBef>
              <a:buFont typeface="Arial"/>
              <a:buChar char="•"/>
            </a:pP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Exc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ls at learnin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3D context and volu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tric co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nt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inuity within limited p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atch size.</a:t>
            </a:r>
          </a:p>
          <a:p>
            <a:pPr algn="l" marL="498729" indent="-249365" lvl="1">
              <a:lnSpc>
                <a:spcPts val="2772"/>
              </a:lnSpc>
              <a:spcBef>
                <a:spcPct val="0"/>
              </a:spcBef>
              <a:buFont typeface="Arial"/>
              <a:buChar char="•"/>
            </a:pP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Works well for capturing intensity variations and fine details near edges.</a:t>
            </a:r>
          </a:p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616401" y="7905750"/>
            <a:ext cx="14225143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729" indent="-249365" lvl="1">
              <a:lnSpc>
                <a:spcPts val="2772"/>
              </a:lnSpc>
              <a:spcBef>
                <a:spcPct val="0"/>
              </a:spcBef>
              <a:buFont typeface="Arial"/>
              <a:buChar char="•"/>
            </a:pPr>
            <a:r>
              <a:rPr lang="en-US" sz="231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Computationally Efficient: Trainabl</a:t>
            </a: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 on mid-range GPUs while preserving 3D context.</a:t>
            </a:r>
          </a:p>
          <a:p>
            <a:pPr algn="l" marL="498729" indent="-249365" lvl="1">
              <a:lnSpc>
                <a:spcPts val="2772"/>
              </a:lnSpc>
              <a:spcBef>
                <a:spcPct val="0"/>
              </a:spcBef>
              <a:buFont typeface="Arial"/>
              <a:buChar char="•"/>
            </a:pP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Balanced Learning: Patches rich in tumor voxels → less class imbalance.</a:t>
            </a:r>
          </a:p>
          <a:p>
            <a:pPr algn="l" marL="498729" indent="-249365" lvl="1">
              <a:lnSpc>
                <a:spcPts val="2772"/>
              </a:lnSpc>
              <a:spcBef>
                <a:spcPct val="0"/>
              </a:spcBef>
              <a:buFont typeface="Arial"/>
              <a:buChar char="•"/>
            </a:pP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Enhanced Localization: Zooms in on tumor cores → more accurate boundaries.</a:t>
            </a:r>
          </a:p>
          <a:p>
            <a:pPr algn="l" marL="498729" indent="-249365" lvl="1">
              <a:lnSpc>
                <a:spcPts val="2772"/>
              </a:lnSpc>
              <a:spcBef>
                <a:spcPct val="0"/>
              </a:spcBef>
              <a:buFont typeface="Arial"/>
              <a:buChar char="•"/>
            </a:pPr>
            <a:r>
              <a:rPr lang="en-US" sz="231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Modular Pipeline: Same preprocessing and augmentation can feed either model easily.</a:t>
            </a:r>
          </a:p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1209675"/>
            <a:ext cx="1695450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Ou</a:t>
            </a: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r Proposed Models (Patch-based)</a:t>
            </a:r>
          </a:p>
        </p:txBody>
      </p:sp>
      <p:sp>
        <p:nvSpPr>
          <p:cNvPr name="AutoShape 8" id="8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935017" y="1611132"/>
            <a:ext cx="10963031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Model </a:t>
            </a: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Training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94752" y="4908936"/>
            <a:ext cx="11203296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Loss: Dice + BCE (0.5 each).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Optimi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zer: A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da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mW,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l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r=1e-4.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hed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er: Polynomial decay.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Batch size = 2, early stopping (patience=7).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GPU: Tesla P100.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814885" y="1707048"/>
            <a:ext cx="10963031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Training &amp; Validation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14885" y="6194916"/>
            <a:ext cx="11203296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Traini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ng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loss ↓ over epochs.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Validat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on lo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ss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fluctuat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es slightly.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Mean Dice ≈ 0.66–0.78 (validation).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304979"/>
            <a:ext cx="6902638" cy="5067496"/>
          </a:xfrm>
          <a:custGeom>
            <a:avLst/>
            <a:gdLst/>
            <a:ahLst/>
            <a:cxnLst/>
            <a:rect r="r" b="b" t="t" l="l"/>
            <a:pathLst>
              <a:path h="5067496" w="6902638">
                <a:moveTo>
                  <a:pt x="0" y="0"/>
                </a:moveTo>
                <a:lnTo>
                  <a:pt x="6902638" y="0"/>
                </a:lnTo>
                <a:lnTo>
                  <a:pt x="6902638" y="5067496"/>
                </a:lnTo>
                <a:lnTo>
                  <a:pt x="0" y="506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70804" y="3304979"/>
            <a:ext cx="6825606" cy="5067496"/>
          </a:xfrm>
          <a:custGeom>
            <a:avLst/>
            <a:gdLst/>
            <a:ahLst/>
            <a:cxnLst/>
            <a:rect r="r" b="b" t="t" l="l"/>
            <a:pathLst>
              <a:path h="5067496" w="6825606">
                <a:moveTo>
                  <a:pt x="0" y="0"/>
                </a:moveTo>
                <a:lnTo>
                  <a:pt x="6825607" y="0"/>
                </a:lnTo>
                <a:lnTo>
                  <a:pt x="6825607" y="5067496"/>
                </a:lnTo>
                <a:lnTo>
                  <a:pt x="0" y="5067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66750" y="1562100"/>
            <a:ext cx="16592550" cy="2419982"/>
            <a:chOff x="0" y="0"/>
            <a:chExt cx="22123400" cy="322664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00025"/>
              <a:ext cx="22123400" cy="1827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199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Model P</a:t>
              </a:r>
              <a:r>
                <a:rPr lang="en-US" sz="9999" spc="-199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redictions — Visual Results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667843"/>
              <a:ext cx="221234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6750" y="8715375"/>
            <a:ext cx="165925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Model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correctly segments WT; ET/TC regions slightly under-segmented.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814885" y="1707048"/>
            <a:ext cx="10963031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Observations &amp; 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14885" y="5661516"/>
            <a:ext cx="11203296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Str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detection for large tumo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rs.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Miss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small regions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(ET)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Background voxels affect Dice.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K-Fo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ld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tried; no-fold version more sta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814885" y="1870166"/>
            <a:ext cx="10963031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Future Work &amp; </a:t>
            </a: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Next Steps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94752" y="5133975"/>
            <a:ext cx="11203296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Try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Swin-UNETR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sU-N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et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Post-process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 re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move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mal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ls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po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sitiv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nsemble models.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y on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Hugg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ing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ace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/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35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mlit.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62125"/>
            <a:ext cx="6886575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b="true" sz="9999" spc="-199">
                <a:solidFill>
                  <a:srgbClr val="FFFFFF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Co</a:t>
            </a:r>
            <a:r>
              <a:rPr lang="en-US" b="true" sz="9999" spc="-199">
                <a:solidFill>
                  <a:srgbClr val="FFFFFF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nclusion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174592" y="3800475"/>
            <a:ext cx="14008383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</a:pPr>
            <a:r>
              <a:rPr lang="en-US" sz="5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- 3D 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Attention 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U-N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et 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rks well for brain tumor segmentation.</a:t>
            </a:r>
          </a:p>
          <a:p>
            <a:pPr algn="l" marL="0" indent="0" lvl="0">
              <a:lnSpc>
                <a:spcPts val="6000"/>
              </a:lnSpc>
            </a:pP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Dice score shows strong overlap; model generalizes well.</a:t>
            </a:r>
          </a:p>
          <a:p>
            <a:pPr algn="l" marL="0" indent="0" lvl="0">
              <a:lnSpc>
                <a:spcPts val="6000"/>
              </a:lnSpc>
            </a:pPr>
            <a:r>
              <a:rPr lang="en-US" sz="5000" strike="noStrike" u="non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 Patch-based method offers faster, balanced training alternative.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544830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Refe</a:t>
            </a:r>
            <a:r>
              <a:rPr lang="en-US" sz="9600" spc="-192">
                <a:solidFill>
                  <a:srgbClr val="FFFFFF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58125" y="2457450"/>
            <a:ext cx="401002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799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Br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aTS 2023 Challenge: https://www.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med.upenn.edu/cbica/brats2023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11225" y="2457450"/>
            <a:ext cx="401002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799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MONAI Framew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ork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: https://monai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.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1225" y="5076825"/>
            <a:ext cx="401002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799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Data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set 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Ci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tions: 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Menze 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et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al.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, 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IEEE TMI 2015 – BRATS B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nchmark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58125" y="5143500"/>
            <a:ext cx="401002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799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Papers: U-Net (2015), Attention U-Ne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</a:t>
            </a:r>
            <a:r>
              <a:rPr lang="en-US" b="true" sz="2799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(2018), V-N</a:t>
            </a:r>
            <a:r>
              <a:rPr lang="en-US" b="true" sz="2799" strike="noStrike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b="true" sz="2799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 (2016).</a:t>
            </a:r>
          </a:p>
        </p:txBody>
      </p:sp>
      <p:sp>
        <p:nvSpPr>
          <p:cNvPr name="AutoShape 7" id="7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858125" y="7377112"/>
            <a:ext cx="4010025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799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Kaggle Implementation: https://www.kaggle.com/code/siddhantbapna/attention-b</a:t>
            </a:r>
            <a:r>
              <a:rPr lang="en-US" b="true" sz="2799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</a:t>
            </a:r>
            <a:r>
              <a:rPr lang="en-US" b="true" sz="2799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11225" y="7377112"/>
            <a:ext cx="401002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799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Tools Used: PyTorch 1.13, NumPy, Matplotlib</a:t>
            </a:r>
            <a:r>
              <a:rPr lang="en-US" b="true" sz="2799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, </a:t>
            </a:r>
            <a:r>
              <a:rPr lang="en-US" b="true" sz="2799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MO</a:t>
            </a:r>
            <a:r>
              <a:rPr lang="en-US" b="true" sz="2799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</a:t>
            </a:r>
            <a:r>
              <a:rPr lang="en-US" b="true" sz="2799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AI</a:t>
            </a:r>
            <a:r>
              <a:rPr lang="en-US" b="true" sz="2799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</a:t>
            </a:r>
            <a:r>
              <a:rPr lang="en-US" b="true" sz="2799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Transforms</a:t>
            </a:r>
            <a:r>
              <a:rPr lang="en-US" b="true" sz="2799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Brain Tumor Segmentation</dc:description>
  <dc:identifier>DAG3k7TSbmc</dc:identifier>
  <dcterms:modified xsi:type="dcterms:W3CDTF">2011-08-01T06:04:30Z</dcterms:modified>
  <cp:revision>1</cp:revision>
  <dc:title>Presentation - Brain Tumor Segmentation</dc:title>
</cp:coreProperties>
</file>